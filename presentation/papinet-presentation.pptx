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800" spc="-1" strike="noStrike">
                <a:solidFill>
                  <a:srgbClr val="000000"/>
                </a:solidFill>
                <a:latin typeface="Calibri"/>
              </a:rPr>
              <a:t>Click to move the slide</a:t>
            </a:r>
            <a:endParaRPr b="0" lang="en-US" sz="1800" spc="-1" strike="noStrike">
              <a:solidFill>
                <a:srgbClr val="000000"/>
              </a:solidFill>
              <a:latin typeface="Calibri"/>
            </a:endParaRPr>
          </a:p>
        </p:txBody>
      </p:sp>
      <p:sp>
        <p:nvSpPr>
          <p:cNvPr id="42"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3"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4" name="PlaceHolder 4"/>
          <p:cNvSpPr>
            <a:spLocks noGrp="1"/>
          </p:cNvSpPr>
          <p:nvPr>
            <p:ph type="dt" idx="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 name="PlaceHolder 5"/>
          <p:cNvSpPr>
            <a:spLocks noGrp="1"/>
          </p:cNvSpPr>
          <p:nvPr>
            <p:ph type="ftr" idx="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6" name="PlaceHolder 6"/>
          <p:cNvSpPr>
            <a:spLocks noGrp="1"/>
          </p:cNvSpPr>
          <p:nvPr>
            <p:ph type="sldNum" idx="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9EEC6518-902E-4E22-93D1-92362396F1A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type="sldImg"/>
          </p:nvPr>
        </p:nvSpPr>
        <p:spPr>
          <a:xfrm>
            <a:off x="1143000" y="685800"/>
            <a:ext cx="4571640" cy="3428640"/>
          </a:xfrm>
          <a:prstGeom prst="rect">
            <a:avLst/>
          </a:prstGeom>
          <a:ln w="0">
            <a:noFill/>
          </a:ln>
        </p:spPr>
      </p:sp>
      <p:sp>
        <p:nvSpPr>
          <p:cNvPr id="136"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Καλημέρα σας. Είμαι η Ελένη Διαμάντη, με αριθμό μητρώου 19389308. Σήμερα θα παρουσιάσω την απαλλακτική εργασία μου για το μάθημα Τεχνολογία Διαδικτύου, η οποία περιλαμβάνει μια διαδικτυακή εφαρμογή σε PHP/MariaDB και μια δικτυακή τοπολογία 5 παραρτημάτων υλοποιημένη στο Cisco Packet Tracer. Η παρουσίαση θα διαρκέσει περίπου 12 λεπτά, αφήνοντας χρόνο για ερωτήσεις.</a:t>
            </a:r>
            <a:endParaRPr b="0" lang="en-US" sz="1400" spc="-1" strike="noStrike">
              <a:solidFill>
                <a:srgbClr val="000000"/>
              </a:solidFill>
              <a:latin typeface="Arial"/>
            </a:endParaRPr>
          </a:p>
        </p:txBody>
      </p:sp>
      <p:sp>
        <p:nvSpPr>
          <p:cNvPr id="137" name="PlaceHolder 3"/>
          <p:cNvSpPr>
            <a:spLocks noGrp="1"/>
          </p:cNvSpPr>
          <p:nvPr>
            <p:ph type="sldNum" idx="7"/>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8A96F53-EA39-4598-8714-DF49252259F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sldImg"/>
          </p:nvPr>
        </p:nvSpPr>
        <p:spPr>
          <a:xfrm>
            <a:off x="1143000" y="685800"/>
            <a:ext cx="4571640" cy="3428640"/>
          </a:xfrm>
          <a:prstGeom prst="rect">
            <a:avLst/>
          </a:prstGeom>
          <a:ln w="0">
            <a:noFill/>
          </a:ln>
        </p:spPr>
      </p:sp>
      <p:sp>
        <p:nvSpPr>
          <p:cNvPr id="139"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Η εργασία μου αποτελείται από τρία αλληλένδετα παραδοτέα. Πρώτον, μια ολοκληρωμένη διαδικτυακή εφαρμογή σε PHP με MariaDB πάνω σε XAMPP, η οποία υλοποιεί CRUD λειτουργίες σε επτά δυναμικές σελίδες και τέσσερις πίνακες. Δεύτερον, μια δικτυακή τοπολογία για επιχείρηση με πέντε παραρτήματα, με δυναμική δρομολόγηση OSPF, VLANs και ACLs. Τρίτον, η σημερινή παρουσίαση. Στόχος μου είναι να δείξω πώς συνδέονται οι τρεις πτυχές σε ένα ενιαίο τεχνολογικό σύνολο.</a:t>
            </a:r>
            <a:endParaRPr b="0" lang="en-US" sz="1400" spc="-1" strike="noStrike">
              <a:solidFill>
                <a:srgbClr val="000000"/>
              </a:solidFill>
              <a:latin typeface="Arial"/>
            </a:endParaRPr>
          </a:p>
        </p:txBody>
      </p:sp>
      <p:sp>
        <p:nvSpPr>
          <p:cNvPr id="140" name="PlaceHolder 3"/>
          <p:cNvSpPr>
            <a:spLocks noGrp="1"/>
          </p:cNvSpPr>
          <p:nvPr>
            <p:ph type="sldNum" idx="8"/>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7859EB8-DC82-4045-B411-AA433746D39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sldImg"/>
          </p:nvPr>
        </p:nvSpPr>
        <p:spPr>
          <a:xfrm>
            <a:off x="1143000" y="685800"/>
            <a:ext cx="4571640" cy="3428640"/>
          </a:xfrm>
          <a:prstGeom prst="rect">
            <a:avLst/>
          </a:prstGeom>
          <a:ln w="0">
            <a:noFill/>
          </a:ln>
        </p:spPr>
      </p:sp>
      <p:sp>
        <p:nvSpPr>
          <p:cNvPr id="142"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Επέλεξα ως σενάριο τη διαχείριση παραγγελιών μιας μικρής επιχείρησης ηλεκτρονικών ειδών. Η ροή είναι κλασική: ο υπάλληλος καταχωρεί πελάτες, διαθέσιμα προϊόντα, και παραγγελίες με τις αντίστοιχες γραμμές. Μια σημαντική σχεδιαστική επιλογή είναι ότι κρατάμε snapshot της τιμής του προϊόντος μέσα στη γραμμή της παραγγελίας — έτσι, αν αλλάξει η τιμή του προϊόντος αργότερα, η παλιά παραγγελία διατηρεί την ιστορική της αξία.</a:t>
            </a:r>
            <a:endParaRPr b="0" lang="en-US" sz="1400" spc="-1" strike="noStrike">
              <a:solidFill>
                <a:srgbClr val="000000"/>
              </a:solidFill>
              <a:latin typeface="Arial"/>
            </a:endParaRPr>
          </a:p>
        </p:txBody>
      </p:sp>
      <p:sp>
        <p:nvSpPr>
          <p:cNvPr id="143" name="PlaceHolder 3"/>
          <p:cNvSpPr>
            <a:spLocks noGrp="1"/>
          </p:cNvSpPr>
          <p:nvPr>
            <p:ph type="sldNum" idx="9"/>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8A65514-1956-4688-AE43-94E8FF14223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sldImg"/>
          </p:nvPr>
        </p:nvSpPr>
        <p:spPr>
          <a:xfrm>
            <a:off x="1143000" y="685800"/>
            <a:ext cx="4571640" cy="3428640"/>
          </a:xfrm>
          <a:prstGeom prst="rect">
            <a:avLst/>
          </a:prstGeom>
          <a:ln w="0">
            <a:noFill/>
          </a:ln>
        </p:spPr>
      </p:sp>
      <p:sp>
        <p:nvSpPr>
          <p:cNvPr id="145"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Η αρχιτεκτονική είναι κλασική τριών επιπέδων, client–server. Στο πρώτο επίπεδο είναι ο browser του χρήστη. Στο μεσαίο επίπεδο τρέχει ο Apache web server μέσα από το XAMPP, ο οποίος εκτελεί τον PHP κώδικα. Στο τρίτο επίπεδο βρίσκεται η βάση MariaDB. Όλη η επικοινωνία PHP–DB γίνεται μέσω PDO με prepared statements, που μας προστατεύει από SQL injection.</a:t>
            </a:r>
            <a:endParaRPr b="0" lang="en-US" sz="1400" spc="-1" strike="noStrike">
              <a:solidFill>
                <a:srgbClr val="000000"/>
              </a:solidFill>
              <a:latin typeface="Arial"/>
            </a:endParaRPr>
          </a:p>
        </p:txBody>
      </p:sp>
      <p:sp>
        <p:nvSpPr>
          <p:cNvPr id="146" name="PlaceHolder 3"/>
          <p:cNvSpPr>
            <a:spLocks noGrp="1"/>
          </p:cNvSpPr>
          <p:nvPr>
            <p:ph type="sldNum" idx="10"/>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A9209D8-4015-4103-A982-712EF74A64D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PlaceHolder 1"/>
          <p:cNvSpPr>
            <a:spLocks noGrp="1"/>
          </p:cNvSpPr>
          <p:nvPr>
            <p:ph type="sldImg"/>
          </p:nvPr>
        </p:nvSpPr>
        <p:spPr>
          <a:xfrm>
            <a:off x="1143000" y="685800"/>
            <a:ext cx="4571640" cy="3428640"/>
          </a:xfrm>
          <a:prstGeom prst="rect">
            <a:avLst/>
          </a:prstGeom>
          <a:ln w="0">
            <a:noFill/>
          </a:ln>
        </p:spPr>
      </p:sp>
      <p:sp>
        <p:nvSpPr>
          <p:cNvPr id="148"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Η βάση αποτελείται από τέσσερις πίνακες: clients, products, orders, και order_items. Οι σχέσεις είναι 1-προς-Ν με ξένα κλειδιά και κανόνες αναφορικής ακεραιότητας: CASCADE στο clients→orders ώστε αν διαγραφεί πελάτης να φεύγουν και οι παραγγελίες του, και RESTRICT στα products ώστε να μην επιτρέπεται διαγραφή προϊόντος που υπάρχει σε παραγγελία. Όπως ανέφερα, η γραμμή παραγγελίας κρατά snapshot της τιμής για να διατηρείται η ιστορική αξία.</a:t>
            </a:r>
            <a:endParaRPr b="0" lang="en-US" sz="1400" spc="-1" strike="noStrike">
              <a:solidFill>
                <a:srgbClr val="000000"/>
              </a:solidFill>
              <a:latin typeface="Arial"/>
            </a:endParaRPr>
          </a:p>
        </p:txBody>
      </p:sp>
      <p:sp>
        <p:nvSpPr>
          <p:cNvPr id="149" name="PlaceHolder 3"/>
          <p:cNvSpPr>
            <a:spLocks noGrp="1"/>
          </p:cNvSpPr>
          <p:nvPr>
            <p:ph type="sldNum" idx="11"/>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688BB4C-C60C-49ED-94F6-E2D3ADB9952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sldImg"/>
          </p:nvPr>
        </p:nvSpPr>
        <p:spPr>
          <a:xfrm>
            <a:off x="1143000" y="685800"/>
            <a:ext cx="4571640" cy="3428640"/>
          </a:xfrm>
          <a:prstGeom prst="rect">
            <a:avLst/>
          </a:prstGeom>
          <a:ln w="0">
            <a:noFill/>
          </a:ln>
        </p:spPr>
      </p:sp>
      <p:sp>
        <p:nvSpPr>
          <p:cNvPr id="151"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Υλοποίησα συνολικά επτά δυναμικές σελίδες — η εκφώνηση ζητούσε τουλάχιστον τέσσερις. Έχουμε λίστες για πελάτες, προϊόντα και παραγγελίες, αντίστοιχες σελίδες δημιουργίας/επεξεργασίας, σελίδα λεπτομερειών παραγγελίας, και κεντρικό dashboard στο index.php. Όλες οι αλληλεπιδράσεις με τη βάση γίνονται μέσω PDO prepared statements.</a:t>
            </a:r>
            <a:endParaRPr b="0" lang="en-US" sz="1400" spc="-1" strike="noStrike">
              <a:solidFill>
                <a:srgbClr val="000000"/>
              </a:solidFill>
              <a:latin typeface="Arial"/>
            </a:endParaRPr>
          </a:p>
        </p:txBody>
      </p:sp>
      <p:sp>
        <p:nvSpPr>
          <p:cNvPr id="152" name="PlaceHolder 3"/>
          <p:cNvSpPr>
            <a:spLocks noGrp="1"/>
          </p:cNvSpPr>
          <p:nvPr>
            <p:ph type="sldNum" idx="12"/>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D2C98CE-BF8C-4097-8582-9ACF125E456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PlaceHolder 1"/>
          <p:cNvSpPr>
            <a:spLocks noGrp="1"/>
          </p:cNvSpPr>
          <p:nvPr>
            <p:ph type="sldImg"/>
          </p:nvPr>
        </p:nvSpPr>
        <p:spPr>
          <a:xfrm>
            <a:off x="1143000" y="685800"/>
            <a:ext cx="4571640" cy="3428640"/>
          </a:xfrm>
          <a:prstGeom prst="rect">
            <a:avLst/>
          </a:prstGeom>
          <a:ln w="0">
            <a:noFill/>
          </a:ln>
        </p:spPr>
      </p:sp>
      <p:sp>
        <p:nvSpPr>
          <p:cNvPr id="154"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Η επιχείρηση έχει πέντε παραρτήματα: Θεσσαλονίκη, Ιωάννινα, Πάτρα, Αθήνα και Χανιά. Συνδέονται με πέντε WAN serial links σε διάταξη που σχηματίζει δακτύλιο με μια χορδή — εξασφαλίζεται έτσι εναλλακτική διαδρομή σε περίπτωση βλάβης σε ένα link. Κάθε παράρτημα έχει το δικό του LAN /24 και η δρομολόγηση μεταξύ τους γίνεται με OSPF area 0.</a:t>
            </a:r>
            <a:endParaRPr b="0" lang="en-US" sz="1400" spc="-1" strike="noStrike">
              <a:solidFill>
                <a:srgbClr val="000000"/>
              </a:solidFill>
              <a:latin typeface="Arial"/>
            </a:endParaRPr>
          </a:p>
        </p:txBody>
      </p:sp>
      <p:sp>
        <p:nvSpPr>
          <p:cNvPr id="155" name="PlaceHolder 3"/>
          <p:cNvSpPr>
            <a:spLocks noGrp="1"/>
          </p:cNvSpPr>
          <p:nvPr>
            <p:ph type="sldNum" idx="13"/>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D311AA2-E4BD-4151-9CD7-7235094F0E1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sldImg"/>
          </p:nvPr>
        </p:nvSpPr>
        <p:spPr>
          <a:xfrm>
            <a:off x="1143000" y="685800"/>
            <a:ext cx="4571640" cy="3428640"/>
          </a:xfrm>
          <a:prstGeom prst="rect">
            <a:avLst/>
          </a:prstGeom>
          <a:ln w="0">
            <a:noFill/>
          </a:ln>
        </p:spPr>
      </p:sp>
      <p:sp>
        <p:nvSpPr>
          <p:cNvPr id="157"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Το σχέδιο διευθυνσιοδότησης χρησιμοποιεί τον χώρο 200.1.0.0/16. Κάθε παράρτημα παίρνει ένα /24 — πλάκα στους hosts, 254 διαθέσιμες διευθύνσεις. Κάθε WAN serial link χρησιμοποιεί μάσκα /30, δηλαδή μόνο δύο χρησιμοποιήσιμες διευθύνσεις, ακριβώς όσες χρειάζονται για τις δύο πλευρές του link. Έτσι αξιοποιούμε αποδοτικά τον χώρο διευθύνσεων.</a:t>
            </a:r>
            <a:endParaRPr b="0" lang="en-US" sz="1400" spc="-1" strike="noStrike">
              <a:solidFill>
                <a:srgbClr val="000000"/>
              </a:solidFill>
              <a:latin typeface="Arial"/>
            </a:endParaRPr>
          </a:p>
        </p:txBody>
      </p:sp>
      <p:sp>
        <p:nvSpPr>
          <p:cNvPr id="158" name="PlaceHolder 3"/>
          <p:cNvSpPr>
            <a:spLocks noGrp="1"/>
          </p:cNvSpPr>
          <p:nvPr>
            <p:ph type="sldNum" idx="14"/>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9247F8E-E072-40E9-8424-48CB38EE4AB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sldImg"/>
          </p:nvPr>
        </p:nvSpPr>
        <p:spPr>
          <a:xfrm>
            <a:off x="1143000" y="685800"/>
            <a:ext cx="4571640" cy="3428640"/>
          </a:xfrm>
          <a:prstGeom prst="rect">
            <a:avLst/>
          </a:prstGeom>
          <a:ln w="0">
            <a:noFill/>
          </a:ln>
        </p:spPr>
      </p:sp>
      <p:sp>
        <p:nvSpPr>
          <p:cNvPr id="160"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Σε κάθε παράρτημα σπάμε το /24 σε τρία VLAN /26: το VLAN 10 για το Λογιστήριο, το VLAN 20 για τη Διεύθυνση, και το VLAN 30 για τους Software Developers. Κάθε /26 χωράει έως 62 hosts, που είναι αρκετό για ένα τμήμα. Το VLAN segmentation μας δίνει διαχωρισμό broadcast domains και τη δυνατότητα να εφαρμόσουμε διαφορετικές πολιτικές πρόσβασης ανά τμήμα.</a:t>
            </a:r>
            <a:endParaRPr b="0" lang="en-US" sz="1400" spc="-1" strike="noStrike">
              <a:solidFill>
                <a:srgbClr val="000000"/>
              </a:solidFill>
              <a:latin typeface="Arial"/>
            </a:endParaRPr>
          </a:p>
        </p:txBody>
      </p:sp>
      <p:sp>
        <p:nvSpPr>
          <p:cNvPr id="161" name="PlaceHolder 3"/>
          <p:cNvSpPr>
            <a:spLocks noGrp="1"/>
          </p:cNvSpPr>
          <p:nvPr>
            <p:ph type="sldNum" idx="15"/>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1057E90-E177-4332-ADC1-B18C33CEAF8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sldImg"/>
          </p:nvPr>
        </p:nvSpPr>
        <p:spPr>
          <a:xfrm>
            <a:off x="1143000" y="685800"/>
            <a:ext cx="4571640" cy="3428640"/>
          </a:xfrm>
          <a:prstGeom prst="rect">
            <a:avLst/>
          </a:prstGeom>
          <a:ln w="0">
            <a:noFill/>
          </a:ln>
        </p:spPr>
      </p:sp>
      <p:sp>
        <p:nvSpPr>
          <p:cNvPr id="163"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Για τη δυναμική δρομολόγηση επέλεξα OSPF γιατί είναι ανοιχτό πρότυπο, όχι δεσμευμένο σε έναν κατασκευαστή. Είναι link-state, που σημαίνει ότι κάθε router χτίζει πλήρη χάρτη της τοπολογίας και τρέχει αλγόριθμο Dijkstra για βέλτιστα μονοπάτια. Απέρριψα το RIP λόγω του ορίου των 15 hops και της αργής σύγκλισης. Απέρριψα το EIGRP γιατί είναι Cisco-only. Με OSPF area 0, η σύγκλιση μετά από αλλαγή link γίνεται σε δευτερόλεπτα.</a:t>
            </a:r>
            <a:endParaRPr b="0" lang="en-US" sz="1400" spc="-1" strike="noStrike">
              <a:solidFill>
                <a:srgbClr val="000000"/>
              </a:solidFill>
              <a:latin typeface="Arial"/>
            </a:endParaRPr>
          </a:p>
        </p:txBody>
      </p:sp>
      <p:sp>
        <p:nvSpPr>
          <p:cNvPr id="164" name="PlaceHolder 3"/>
          <p:cNvSpPr>
            <a:spLocks noGrp="1"/>
          </p:cNvSpPr>
          <p:nvPr>
            <p:ph type="sldNum" idx="16"/>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CBF4FFC-0AD8-4B9C-918C-7C1113C4B6F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sldImg"/>
          </p:nvPr>
        </p:nvSpPr>
        <p:spPr>
          <a:xfrm>
            <a:off x="1143000" y="685800"/>
            <a:ext cx="4571640" cy="3428640"/>
          </a:xfrm>
          <a:prstGeom prst="rect">
            <a:avLst/>
          </a:prstGeom>
          <a:ln w="0">
            <a:noFill/>
          </a:ln>
        </p:spPr>
      </p:sp>
      <p:sp>
        <p:nvSpPr>
          <p:cNvPr id="166"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Για τη δρομολόγηση μεταξύ των VLAN χρησιμοποίησα την τεχνική router-on-a-stick. Δηλαδή μία φυσική θύρα στον router διαιρείται σε τρία subinterfaces, ένα ανά VLAN, με 802.1Q tagging για να ξεχωρίζουν τα frames. Πάνω από αυτό, εφάρμοσα μια εκτεταμένη ACL στον router της Αθήνας για να μπλοκάρω την κίνηση από τους Software Developers (VLAN 30) προς το Λογιστήριο (VLAN 10). Έτσι, ένα ping από PC του VLAN 30 προς PC του VLAN 10 αποτυγχάνει, ενώ προς άλλα τμήματα περνά κανονικά.</a:t>
            </a:r>
            <a:endParaRPr b="0" lang="en-US" sz="1400" spc="-1" strike="noStrike">
              <a:solidFill>
                <a:srgbClr val="000000"/>
              </a:solidFill>
              <a:latin typeface="Arial"/>
            </a:endParaRPr>
          </a:p>
        </p:txBody>
      </p:sp>
      <p:sp>
        <p:nvSpPr>
          <p:cNvPr id="167" name="PlaceHolder 3"/>
          <p:cNvSpPr>
            <a:spLocks noGrp="1"/>
          </p:cNvSpPr>
          <p:nvPr>
            <p:ph type="sldNum" idx="17"/>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307B470-E277-4AEE-97FF-E25BD34779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sldImg"/>
          </p:nvPr>
        </p:nvSpPr>
        <p:spPr>
          <a:xfrm>
            <a:off x="1143000" y="685800"/>
            <a:ext cx="4571640" cy="3428640"/>
          </a:xfrm>
          <a:prstGeom prst="rect">
            <a:avLst/>
          </a:prstGeom>
          <a:ln w="0">
            <a:noFill/>
          </a:ln>
        </p:spPr>
      </p:sp>
      <p:sp>
        <p:nvSpPr>
          <p:cNvPr id="169"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Τέλος, οι τρεις θεωρητικές ερωτήσεις της εκφώνησης. Στο (α), πριν τα VLAN έχουμε 10 υποδίκτυα — 5 LAN και 5 WAN· μετά την εφαρμογή VLAN ανεβαίνουμε σε 20, καθώς κάθε /24 σπάει σε τρία /26 και προστίθεται το WAN. Στο (β), ένα /24 χωρά 254 hosts, ενώ τρία /26 δίνουν 62 hosts το καθένα — σύνολο 186 ωφέλιμοι ανά παράρτημα, λίγο λιγότεροι αλλά με segmentation. Στο (γ), για το /24 του παραρτήματος Θεσσαλονίκης η διεύθυνση δικτύου είναι η 200.1.80.0 και το broadcast η 200.1.80.255.</a:t>
            </a:r>
            <a:endParaRPr b="0" lang="en-US" sz="1400" spc="-1" strike="noStrike">
              <a:solidFill>
                <a:srgbClr val="000000"/>
              </a:solidFill>
              <a:latin typeface="Arial"/>
            </a:endParaRPr>
          </a:p>
        </p:txBody>
      </p:sp>
      <p:sp>
        <p:nvSpPr>
          <p:cNvPr id="170" name="PlaceHolder 3"/>
          <p:cNvSpPr>
            <a:spLocks noGrp="1"/>
          </p:cNvSpPr>
          <p:nvPr>
            <p:ph type="sldNum" idx="18"/>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61F4FD1-A4FF-451A-AB17-CFC19904379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sldImg"/>
          </p:nvPr>
        </p:nvSpPr>
        <p:spPr>
          <a:xfrm>
            <a:off x="1143000" y="685800"/>
            <a:ext cx="4571640" cy="3428640"/>
          </a:xfrm>
          <a:prstGeom prst="rect">
            <a:avLst/>
          </a:prstGeom>
          <a:ln w="0">
            <a:noFill/>
          </a:ln>
        </p:spPr>
      </p:sp>
      <p:sp>
        <p:nvSpPr>
          <p:cNvPr id="172"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0">
              <a:lnSpc>
                <a:spcPct val="100000"/>
              </a:lnSpc>
              <a:buNone/>
            </a:pPr>
            <a:r>
              <a:rPr b="0" lang="en-US" sz="1400" spc="-1" strike="noStrike">
                <a:solidFill>
                  <a:srgbClr val="000000"/>
                </a:solidFill>
                <a:latin typeface="Calibri"/>
              </a:rPr>
              <a:t>Συνοψίζοντας: παρέδωσα μια ολοκληρωμένη διαδικτυακή εφαρμογή σε PHP/MariaDB με επτά CRUD σελίδες, μια δικτυακή τοπολογία πέντε παραρτημάτων με OSPF και τρία VLAN ανά site υλοποιημένη σε Packet Tracer, και πολιτικές ασφαλείας με extended ACL. Ο κώδικας είναι διαθέσιμος στο αποθετήριο. Σας ευχαριστώ για την προσοχή σας — είμαι έτοιμη για ερωτήσεις.</a:t>
            </a:r>
            <a:endParaRPr b="0" lang="en-US" sz="1400" spc="-1" strike="noStrike">
              <a:solidFill>
                <a:srgbClr val="000000"/>
              </a:solidFill>
              <a:latin typeface="Arial"/>
            </a:endParaRPr>
          </a:p>
        </p:txBody>
      </p:sp>
      <p:sp>
        <p:nvSpPr>
          <p:cNvPr id="173" name="PlaceHolder 3"/>
          <p:cNvSpPr>
            <a:spLocks noGrp="1"/>
          </p:cNvSpPr>
          <p:nvPr>
            <p:ph type="sldNum" idx="19"/>
          </p:nvPr>
        </p:nvSpPr>
        <p:spPr>
          <a:xfrm>
            <a:off x="3884760" y="8685360"/>
            <a:ext cx="2971440" cy="45684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332481E-EC2A-4B19-B4AD-5147435F035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FC1BA021-9179-4FA7-8EE0-AAB152C61CC1}" type="slidenum">
              <a:t>&lt;#&gt;</a:t>
            </a:fld>
          </a:p>
        </p:txBody>
      </p:sp>
      <p:sp>
        <p:nvSpPr>
          <p:cNvPr id="4" name="PlaceHolder 3"/>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6"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90ABE893-28E7-4912-A3D4-5E3824EDED7C}"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8"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CEF15D95-04F6-4E55-BC6D-B4A839E57ADA}"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070AE653-F7ED-4BCB-A4E5-D59AA6757658}"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0938DFBD-79AA-47E6-A1CC-DA8F0F19D4D6}"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08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FD04B1BF-EE4F-4C90-8C57-7B17FDB5BDE5}"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F0B20167-1286-4A74-B99D-3AC2E606C1E5}"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43103B2A-E8FD-4DD2-BBCB-7466293727A4}"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5"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56130CD5-A056-4360-9D51-CD9F0E1C3440}"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27"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28"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4871A41D-03E8-4A29-A020-A5AB736AEA2E}"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52C47535-C165-4746-9B49-1993E02163CF}" type="slidenum">
              <a:t>&lt;#&gt;</a:t>
            </a:fld>
          </a:p>
        </p:txBody>
      </p:sp>
      <p:sp>
        <p:nvSpPr>
          <p:cNvPr id="9" name="PlaceHolder 8"/>
          <p:cNvSpPr>
            <a:spLocks noGrp="1"/>
          </p:cNvSpPr>
          <p:nvPr>
            <p:ph type="dt" idx="1"/>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rgbClr val="000000"/>
              </a:solidFill>
              <a:latin typeface="Calibri"/>
            </a:endParaRPr>
          </a:p>
        </p:txBody>
      </p:sp>
      <p:sp>
        <p:nvSpPr>
          <p:cNvPr id="35"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6"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7"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8"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39"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40"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Calibri"/>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4791B3DB-28A3-46D3-91DE-F888E860A513}" type="slidenum">
              <a:t>&lt;#&gt;</a:t>
            </a:fld>
          </a:p>
        </p:txBody>
      </p:sp>
      <p:sp>
        <p:nvSpPr>
          <p:cNvPr id="11" name="PlaceHolder 10"/>
          <p:cNvSpPr>
            <a:spLocks noGrp="1"/>
          </p:cNvSpPr>
          <p:nvPr>
            <p:ph type="dt" idx="1"/>
          </p:nvPr>
        </p:nvSpPr>
        <p:spPr/>
        <p:txBody>
          <a:bodyPr/>
          <a:p>
            <a:r>
              <a:rPr lang="en-US"/>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3360" cy="364680"/>
          </a:xfrm>
          <a:prstGeom prst="rect">
            <a:avLst/>
          </a:prstGeom>
          <a:noFill/>
          <a:ln w="0">
            <a:noFill/>
          </a:ln>
        </p:spPr>
        <p:txBody>
          <a:bodyPr anchor="ctr">
            <a:noAutofit/>
          </a:bodyPr>
          <a:lstStyle>
            <a:lvl1pPr indent="0">
              <a:lnSpc>
                <a:spcPct val="100000"/>
              </a:lnSpc>
              <a:buNone/>
              <a:defRPr b="0" lang="en-US" sz="1200" spc="-1" strike="noStrike">
                <a:solidFill>
                  <a:srgbClr val="8b8b8b"/>
                </a:solidFill>
                <a:latin typeface="Calibri"/>
              </a:defRPr>
            </a:lvl1pPr>
          </a:lstStyle>
          <a:p>
            <a:pPr indent="0">
              <a:lnSpc>
                <a:spcPct val="100000"/>
              </a:lnSpc>
              <a:buNone/>
            </a:pPr>
            <a:r>
              <a:rPr b="0" lang="en-US" sz="1200" spc="-1" strike="noStrike">
                <a:solidFill>
                  <a:srgbClr val="8b8b8b"/>
                </a:solidFill>
                <a:latin typeface="Calibri"/>
              </a:rPr>
              <a:t>&lt;date/time&gt;</a:t>
            </a:r>
            <a:endParaRPr b="0" lang="en-US" sz="1200" spc="-1" strike="noStrike">
              <a:solidFill>
                <a:srgbClr val="000000"/>
              </a:solidFill>
              <a:latin typeface="Times New Roman"/>
            </a:endParaRPr>
          </a:p>
        </p:txBody>
      </p:sp>
      <p:sp>
        <p:nvSpPr>
          <p:cNvPr id="1" name="PlaceHolder 2"/>
          <p:cNvSpPr>
            <a:spLocks noGrp="1"/>
          </p:cNvSpPr>
          <p:nvPr>
            <p:ph type="ftr" idx="2"/>
          </p:nvPr>
        </p:nvSpPr>
        <p:spPr>
          <a:xfrm>
            <a:off x="3124080" y="6356520"/>
            <a:ext cx="2895120" cy="364680"/>
          </a:xfrm>
          <a:prstGeom prst="rect">
            <a:avLst/>
          </a:prstGeom>
          <a:noFill/>
          <a:ln w="0">
            <a:noFill/>
          </a:ln>
        </p:spPr>
        <p:txBody>
          <a:bodyPr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3"/>
          </p:nvPr>
        </p:nvSpPr>
        <p:spPr>
          <a:xfrm>
            <a:off x="6553080" y="6356520"/>
            <a:ext cx="2133360" cy="364680"/>
          </a:xfrm>
          <a:prstGeom prst="rect">
            <a:avLst/>
          </a:prstGeom>
          <a:noFill/>
          <a:ln w="0">
            <a:noFill/>
          </a:ln>
        </p:spPr>
        <p:txBody>
          <a:bodyPr anchor="ctr">
            <a:noAutofit/>
          </a:bodyPr>
          <a:lstStyle>
            <a:lvl1pPr indent="0" algn="r">
              <a:lnSpc>
                <a:spcPct val="100000"/>
              </a:lnSpc>
              <a:buNone/>
              <a:defRPr b="0" lang="en-US" sz="1200" spc="-1" strike="noStrike">
                <a:solidFill>
                  <a:srgbClr val="8b8b8b"/>
                </a:solidFill>
                <a:latin typeface="Calibri"/>
              </a:defRPr>
            </a:lvl1pPr>
          </a:lstStyle>
          <a:p>
            <a:pPr indent="0" algn="r">
              <a:lnSpc>
                <a:spcPct val="100000"/>
              </a:lnSpc>
              <a:buNone/>
            </a:pPr>
            <a:fld id="{AEF5C6EF-B610-408C-BB65-5BDCEE143DC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Calibri"/>
              </a:rPr>
              <a:t>Click to edit the title text format</a:t>
            </a:r>
            <a:endParaRPr b="0" lang="en-US" sz="1800" spc="-1" strike="noStrike">
              <a:solidFill>
                <a:srgbClr val="000000"/>
              </a:solidFill>
              <a:latin typeface="Calibri"/>
            </a:endParaRPr>
          </a:p>
        </p:txBody>
      </p:sp>
      <p:sp>
        <p:nvSpPr>
          <p:cNvPr id="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6.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Rectangle 1"/>
          <p:cNvSpPr/>
          <p:nvPr/>
        </p:nvSpPr>
        <p:spPr>
          <a:xfrm>
            <a:off x="0" y="0"/>
            <a:ext cx="12191400" cy="3654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ndParaRPr>
          </a:p>
        </p:txBody>
      </p:sp>
      <p:sp>
        <p:nvSpPr>
          <p:cNvPr id="48" name="TextBox 2"/>
          <p:cNvSpPr/>
          <p:nvPr/>
        </p:nvSpPr>
        <p:spPr>
          <a:xfrm>
            <a:off x="548640" y="2011680"/>
            <a:ext cx="11063880" cy="1430280"/>
          </a:xfrm>
          <a:prstGeom prst="rect">
            <a:avLst/>
          </a:prstGeom>
          <a:noFill/>
          <a:ln w="0">
            <a:noFill/>
          </a:ln>
        </p:spPr>
        <p:style>
          <a:lnRef idx="0"/>
          <a:fillRef idx="0"/>
          <a:effectRef idx="0"/>
          <a:fontRef idx="minor"/>
        </p:style>
        <p:txBody>
          <a:bodyPr lIns="0" rIns="90000" tIns="45000" bIns="45000" anchor="t">
            <a:spAutoFit/>
          </a:bodyPr>
          <a:p>
            <a:r>
              <a:rPr b="1" lang="en-US" sz="4400" spc="-1" strike="noStrike">
                <a:solidFill>
                  <a:srgbClr val="1a4f8a"/>
                </a:solidFill>
                <a:latin typeface="Calibri"/>
              </a:rPr>
              <a:t>Σύστημα Διαχείρισης Παραγγελιών</a:t>
            </a:r>
            <a:endParaRPr b="0" lang="en-US" sz="4400" spc="-1" strike="noStrike">
              <a:solidFill>
                <a:srgbClr val="000000"/>
              </a:solidFill>
              <a:latin typeface="Arial"/>
            </a:endParaRPr>
          </a:p>
          <a:p>
            <a:pPr algn="ctr">
              <a:lnSpc>
                <a:spcPct val="100000"/>
              </a:lnSpc>
            </a:pPr>
            <a:r>
              <a:rPr b="1" lang="en-US" sz="4400" spc="-1" strike="noStrike">
                <a:solidFill>
                  <a:srgbClr val="1a4f8a"/>
                </a:solidFill>
                <a:latin typeface="Calibri"/>
              </a:rPr>
              <a:t>+ Δίκτυο 5 παραρτημάτων</a:t>
            </a:r>
            <a:endParaRPr b="0" lang="en-US" sz="4400" spc="-1" strike="noStrike">
              <a:solidFill>
                <a:srgbClr val="000000"/>
              </a:solidFill>
              <a:latin typeface="Arial"/>
            </a:endParaRPr>
          </a:p>
        </p:txBody>
      </p:sp>
      <p:sp>
        <p:nvSpPr>
          <p:cNvPr id="49" name="TextBox 3"/>
          <p:cNvSpPr/>
          <p:nvPr/>
        </p:nvSpPr>
        <p:spPr>
          <a:xfrm>
            <a:off x="548640" y="3931920"/>
            <a:ext cx="11063880" cy="45540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0" lang="en-US" sz="2400" spc="-1" strike="noStrike">
                <a:solidFill>
                  <a:srgbClr val="22272e"/>
                </a:solidFill>
                <a:latin typeface="Calibri"/>
              </a:rPr>
              <a:t>Απαλλακτική Εργασία — Τεχνολογία Διαδικτύου στην Ψηφιακή Βιομηχανία</a:t>
            </a:r>
            <a:endParaRPr b="0" lang="en-US" sz="2400" spc="-1" strike="noStrike">
              <a:solidFill>
                <a:srgbClr val="000000"/>
              </a:solidFill>
              <a:latin typeface="Arial"/>
            </a:endParaRPr>
          </a:p>
        </p:txBody>
      </p:sp>
      <p:sp>
        <p:nvSpPr>
          <p:cNvPr id="50" name="TextBox 4"/>
          <p:cNvSpPr/>
          <p:nvPr/>
        </p:nvSpPr>
        <p:spPr>
          <a:xfrm>
            <a:off x="548640" y="4846320"/>
            <a:ext cx="11063880" cy="36396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0" lang="en-US" sz="1800" spc="-1" strike="noStrike">
                <a:solidFill>
                  <a:srgbClr val="22272e"/>
                </a:solidFill>
                <a:latin typeface="Calibri"/>
              </a:rPr>
              <a:t>Ελένη Βασιλική Διαμάντη — Α.Μ. 19389308</a:t>
            </a:r>
            <a:endParaRPr b="0" lang="en-US" sz="1800" spc="-1" strike="noStrike">
              <a:solidFill>
                <a:srgbClr val="000000"/>
              </a:solidFill>
              <a:latin typeface="Arial"/>
            </a:endParaRPr>
          </a:p>
        </p:txBody>
      </p:sp>
      <p:sp>
        <p:nvSpPr>
          <p:cNvPr id="51" name="TextBox 5"/>
          <p:cNvSpPr/>
          <p:nvPr/>
        </p:nvSpPr>
        <p:spPr>
          <a:xfrm>
            <a:off x="548640" y="5349240"/>
            <a:ext cx="11063880" cy="33300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0" lang="en-US" sz="1600" spc="-1" strike="noStrike">
                <a:solidFill>
                  <a:srgbClr val="6a737d"/>
                </a:solidFill>
                <a:latin typeface="Calibri"/>
              </a:rPr>
              <a:t>Διδάσκων: Δρ. Μιχάλης Ξευγένης · 4 Ιουνίου 2026</a:t>
            </a:r>
            <a:endParaRPr b="0" lang="en-US" sz="1600" spc="-1" strike="noStrike">
              <a:solidFill>
                <a:srgbClr val="000000"/>
              </a:solidFill>
              <a:latin typeface="Arial"/>
            </a:endParaRPr>
          </a:p>
        </p:txBody>
      </p:sp>
      <p:sp>
        <p:nvSpPr>
          <p:cNvPr id="52" name="Rectangle 6"/>
          <p:cNvSpPr/>
          <p:nvPr/>
        </p:nvSpPr>
        <p:spPr>
          <a:xfrm>
            <a:off x="0" y="6492240"/>
            <a:ext cx="12191400" cy="3654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1a4f8a"/>
                </a:solidFill>
                <a:latin typeface="Calibri"/>
              </a:rPr>
              <a:t>Στόχος εργασίας</a:t>
            </a:r>
            <a:endParaRPr b="0" lang="en-US" sz="3600" spc="-1" strike="noStrike">
              <a:solidFill>
                <a:srgbClr val="000000"/>
              </a:solidFill>
              <a:latin typeface="Arial"/>
            </a:endParaRPr>
          </a:p>
        </p:txBody>
      </p:sp>
      <p:sp>
        <p:nvSpPr>
          <p:cNvPr id="54" name="Rectangle 2"/>
          <p:cNvSpPr/>
          <p:nvPr/>
        </p:nvSpPr>
        <p:spPr>
          <a:xfrm>
            <a:off x="457200" y="1005840"/>
            <a:ext cx="11246760" cy="198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55" name="TextBox 3"/>
          <p:cNvSpPr/>
          <p:nvPr/>
        </p:nvSpPr>
        <p:spPr>
          <a:xfrm>
            <a:off x="731520" y="1554480"/>
            <a:ext cx="10698120" cy="1968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200" spc="-1" strike="noStrike">
                <a:solidFill>
                  <a:srgbClr val="22272e"/>
                </a:solidFill>
                <a:latin typeface="Calibri"/>
              </a:rPr>
              <a:t>• </a:t>
            </a:r>
            <a:r>
              <a:rPr b="1" lang="en-US" sz="2200" spc="-1" strike="noStrike">
                <a:solidFill>
                  <a:srgbClr val="22272e"/>
                </a:solidFill>
                <a:latin typeface="Calibri"/>
              </a:rPr>
              <a:t>1. Διαδικτυακή εφαρμογή PHP/MariaDB</a:t>
            </a:r>
            <a:r>
              <a:rPr b="0" lang="en-US" sz="2200" spc="-1" strike="noStrike">
                <a:solidFill>
                  <a:srgbClr val="22272e"/>
                </a:solidFill>
                <a:latin typeface="Calibri"/>
              </a:rPr>
              <a:t> — XAMPP, CRUD, 7 σελίδες, 4 πίνακες</a:t>
            </a:r>
            <a:endParaRPr b="0" lang="en-US" sz="2200" spc="-1" strike="noStrike">
              <a:solidFill>
                <a:srgbClr val="000000"/>
              </a:solidFill>
              <a:latin typeface="Arial"/>
            </a:endParaRPr>
          </a:p>
          <a:p>
            <a:pPr>
              <a:lnSpc>
                <a:spcPct val="100000"/>
              </a:lnSpc>
              <a:spcAft>
                <a:spcPts val="799"/>
              </a:spcAft>
            </a:pPr>
            <a:r>
              <a:rPr b="0" lang="en-US" sz="2200" spc="-1" strike="noStrike">
                <a:solidFill>
                  <a:srgbClr val="22272e"/>
                </a:solidFill>
                <a:latin typeface="Calibri"/>
              </a:rPr>
              <a:t>• </a:t>
            </a:r>
            <a:r>
              <a:rPr b="1" lang="en-US" sz="2200" spc="-1" strike="noStrike">
                <a:solidFill>
                  <a:srgbClr val="22272e"/>
                </a:solidFill>
                <a:latin typeface="Calibri"/>
              </a:rPr>
              <a:t>2. Δικτυακή τοπολογία 5 παραρτημάτων</a:t>
            </a:r>
            <a:r>
              <a:rPr b="0" lang="en-US" sz="2200" spc="-1" strike="noStrike">
                <a:solidFill>
                  <a:srgbClr val="22272e"/>
                </a:solidFill>
                <a:latin typeface="Calibri"/>
              </a:rPr>
              <a:t> — Cisco Packet Tracer, OSPF, VLANs, ACLs</a:t>
            </a:r>
            <a:endParaRPr b="0" lang="en-US" sz="2200" spc="-1" strike="noStrike">
              <a:solidFill>
                <a:srgbClr val="000000"/>
              </a:solidFill>
              <a:latin typeface="Arial"/>
            </a:endParaRPr>
          </a:p>
          <a:p>
            <a:pPr>
              <a:lnSpc>
                <a:spcPct val="100000"/>
              </a:lnSpc>
              <a:spcAft>
                <a:spcPts val="799"/>
              </a:spcAft>
            </a:pPr>
            <a:r>
              <a:rPr b="0" lang="en-US" sz="2200" spc="-1" strike="noStrike">
                <a:solidFill>
                  <a:srgbClr val="22272e"/>
                </a:solidFill>
                <a:latin typeface="Calibri"/>
              </a:rPr>
              <a:t>• </a:t>
            </a:r>
            <a:r>
              <a:rPr b="1" lang="en-US" sz="2200" spc="-1" strike="noStrike">
                <a:solidFill>
                  <a:srgbClr val="22272e"/>
                </a:solidFill>
                <a:latin typeface="Calibri"/>
              </a:rPr>
              <a:t>3. Παρουσίαση</a:t>
            </a:r>
            <a:r>
              <a:rPr b="0" lang="en-US" sz="2200" spc="-1" strike="noStrike">
                <a:solidFill>
                  <a:srgbClr val="22272e"/>
                </a:solidFill>
                <a:latin typeface="Calibri"/>
              </a:rPr>
              <a:t> — 15 λεπτά </a:t>
            </a:r>
            <a:endParaRPr b="0" lang="en-US" sz="2200" spc="-1" strike="noStrike">
              <a:solidFill>
                <a:srgbClr val="000000"/>
              </a:solidFill>
              <a:latin typeface="Arial"/>
            </a:endParaRPr>
          </a:p>
        </p:txBody>
      </p:sp>
      <p:sp>
        <p:nvSpPr>
          <p:cNvPr id="56" name="TextBox 4"/>
          <p:cNvSpPr/>
          <p:nvPr/>
        </p:nvSpPr>
        <p:spPr>
          <a:xfrm>
            <a:off x="731520" y="5120640"/>
            <a:ext cx="10698120" cy="333000"/>
          </a:xfrm>
          <a:prstGeom prst="rect">
            <a:avLst/>
          </a:prstGeom>
          <a:noFill/>
          <a:ln w="0">
            <a:noFill/>
          </a:ln>
        </p:spPr>
        <p:style>
          <a:lnRef idx="0"/>
          <a:fillRef idx="0"/>
          <a:effectRef idx="0"/>
          <a:fontRef idx="minor"/>
        </p:style>
        <p:txBody>
          <a:bodyPr lIns="0" rIns="90000" tIns="45000" bIns="45000" anchor="t">
            <a:spAutoFit/>
          </a:bodyPr>
          <a:p>
            <a:pPr>
              <a:lnSpc>
                <a:spcPct val="100000"/>
              </a:lnSpc>
            </a:pPr>
            <a:r>
              <a:rPr b="0" lang="en-US" sz="1600" spc="-1" strike="noStrike">
                <a:solidFill>
                  <a:srgbClr val="6a737d"/>
                </a:solidFill>
                <a:latin typeface="Calibri"/>
              </a:rPr>
              <a:t>Τρία αλληλένδετα παραδοτέα — μία ολοκληρωμένη τεχνολογική λύση.</a:t>
            </a:r>
            <a:endParaRPr b="0" lang="en-US" sz="1600" spc="-1" strike="noStrike">
              <a:solidFill>
                <a:srgbClr val="000000"/>
              </a:solidFill>
              <a:latin typeface="Arial"/>
            </a:endParaRPr>
          </a:p>
        </p:txBody>
      </p:sp>
      <p:sp>
        <p:nvSpPr>
          <p:cNvPr id="57" name="TextBox 5"/>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2 / 13</a:t>
            </a:r>
            <a:endParaRPr b="0" lang="en-US" sz="1100" spc="-1" strike="noStrike">
              <a:solidFill>
                <a:srgbClr val="000000"/>
              </a:solidFill>
              <a:latin typeface="Arial"/>
            </a:endParaRPr>
          </a:p>
        </p:txBody>
      </p:sp>
      <p:sp>
        <p:nvSpPr>
          <p:cNvPr id="58"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2a7a32"/>
                </a:solidFill>
                <a:latin typeface="Calibri"/>
              </a:rPr>
              <a:t>Σενάριο εφαρμογής</a:t>
            </a:r>
            <a:endParaRPr b="0" lang="en-US" sz="3600" spc="-1" strike="noStrike">
              <a:solidFill>
                <a:srgbClr val="000000"/>
              </a:solidFill>
              <a:latin typeface="Arial"/>
            </a:endParaRPr>
          </a:p>
        </p:txBody>
      </p:sp>
      <p:sp>
        <p:nvSpPr>
          <p:cNvPr id="60" name="Rectangle 2"/>
          <p:cNvSpPr/>
          <p:nvPr/>
        </p:nvSpPr>
        <p:spPr>
          <a:xfrm>
            <a:off x="457200" y="1005840"/>
            <a:ext cx="11246760" cy="19800"/>
          </a:xfrm>
          <a:prstGeom prst="rect">
            <a:avLst/>
          </a:prstGeom>
          <a:solidFill>
            <a:srgbClr val="2a7a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61" name="TextBox 3"/>
          <p:cNvSpPr/>
          <p:nvPr/>
        </p:nvSpPr>
        <p:spPr>
          <a:xfrm>
            <a:off x="731520" y="1554480"/>
            <a:ext cx="6857640" cy="22237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22272e"/>
                </a:solidFill>
                <a:latin typeface="Calibri"/>
              </a:rPr>
              <a:t>• </a:t>
            </a:r>
            <a:r>
              <a:rPr b="0" lang="en-US" sz="2000" spc="-1" strike="noStrike">
                <a:solidFill>
                  <a:srgbClr val="22272e"/>
                </a:solidFill>
                <a:latin typeface="Calibri"/>
              </a:rPr>
              <a:t>Μικρή επιχείρηση ηλεκτρονικών ειδών</a:t>
            </a:r>
            <a:endParaRPr b="0" lang="en-US" sz="2000" spc="-1" strike="noStrike">
              <a:solidFill>
                <a:srgbClr val="000000"/>
              </a:solidFill>
              <a:latin typeface="Arial"/>
            </a:endParaRPr>
          </a:p>
          <a:p>
            <a:pPr>
              <a:lnSpc>
                <a:spcPct val="100000"/>
              </a:lnSpc>
              <a:spcAft>
                <a:spcPts val="799"/>
              </a:spcAft>
            </a:pPr>
            <a:r>
              <a:rPr b="0" lang="en-US" sz="2000" spc="-1" strike="noStrike">
                <a:solidFill>
                  <a:srgbClr val="22272e"/>
                </a:solidFill>
                <a:latin typeface="Calibri"/>
              </a:rPr>
              <a:t>• </a:t>
            </a:r>
            <a:r>
              <a:rPr b="0" lang="en-US" sz="2000" spc="-1" strike="noStrike">
                <a:solidFill>
                  <a:srgbClr val="22272e"/>
                </a:solidFill>
                <a:latin typeface="Calibri"/>
              </a:rPr>
              <a:t>Διαχείριση παραγγελιών: πελάτες → προϊόντα → παραγγελίες → γραμμές</a:t>
            </a:r>
            <a:endParaRPr b="0" lang="en-US" sz="2000" spc="-1" strike="noStrike">
              <a:solidFill>
                <a:srgbClr val="000000"/>
              </a:solidFill>
              <a:latin typeface="Arial"/>
            </a:endParaRPr>
          </a:p>
          <a:p>
            <a:pPr>
              <a:lnSpc>
                <a:spcPct val="100000"/>
              </a:lnSpc>
              <a:spcAft>
                <a:spcPts val="799"/>
              </a:spcAft>
            </a:pPr>
            <a:r>
              <a:rPr b="0" lang="en-US" sz="2000" spc="-1" strike="noStrike">
                <a:solidFill>
                  <a:srgbClr val="22272e"/>
                </a:solidFill>
                <a:latin typeface="Calibri"/>
              </a:rPr>
              <a:t>• </a:t>
            </a:r>
            <a:r>
              <a:rPr b="0" lang="en-US" sz="2000" spc="-1" strike="noStrike">
                <a:solidFill>
                  <a:srgbClr val="22272e"/>
                </a:solidFill>
                <a:latin typeface="Calibri"/>
              </a:rPr>
              <a:t>Snapshot τιμής στη γραμμή παραγγελίας (διατήρηση ιστορικού)</a:t>
            </a:r>
            <a:endParaRPr b="0" lang="en-US" sz="2000" spc="-1" strike="noStrike">
              <a:solidFill>
                <a:srgbClr val="000000"/>
              </a:solidFill>
              <a:latin typeface="Arial"/>
            </a:endParaRPr>
          </a:p>
          <a:p>
            <a:pPr>
              <a:lnSpc>
                <a:spcPct val="100000"/>
              </a:lnSpc>
              <a:spcAft>
                <a:spcPts val="799"/>
              </a:spcAft>
            </a:pPr>
            <a:r>
              <a:rPr b="0" lang="en-US" sz="2000" spc="-1" strike="noStrike">
                <a:solidFill>
                  <a:srgbClr val="22272e"/>
                </a:solidFill>
                <a:latin typeface="Calibri"/>
              </a:rPr>
              <a:t>• </a:t>
            </a:r>
            <a:r>
              <a:rPr b="0" lang="en-US" sz="2000" spc="-1" strike="noStrike">
                <a:solidFill>
                  <a:srgbClr val="22272e"/>
                </a:solidFill>
                <a:latin typeface="Calibri"/>
              </a:rPr>
              <a:t>Χρήστης: υπάλληλος γραφείου (back-office)</a:t>
            </a:r>
            <a:endParaRPr b="0" lang="en-US" sz="2000" spc="-1" strike="noStrike">
              <a:solidFill>
                <a:srgbClr val="000000"/>
              </a:solidFill>
              <a:latin typeface="Arial"/>
            </a:endParaRPr>
          </a:p>
        </p:txBody>
      </p:sp>
      <p:sp>
        <p:nvSpPr>
          <p:cNvPr id="63" name="TextBox 5"/>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3 / 13</a:t>
            </a:r>
            <a:endParaRPr b="0" lang="en-US" sz="1100" spc="-1" strike="noStrike">
              <a:solidFill>
                <a:srgbClr val="000000"/>
              </a:solidFill>
              <a:latin typeface="Arial"/>
            </a:endParaRPr>
          </a:p>
        </p:txBody>
      </p:sp>
      <p:sp>
        <p:nvSpPr>
          <p:cNvPr id="64"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pic>
        <p:nvPicPr>
          <p:cNvPr id="65" name="Picture 64" descr="screenshot-dashboard.png"/>
          <p:cNvPicPr>
            <a:picLocks noChangeAspect="1"/>
          </p:cNvPicPr>
          <p:nvPr/>
        </p:nvPicPr>
        <p:blipFill>
          <a:blip r:embed="rId4"/>
          <a:stretch>
            <a:fillRect/>
          </a:stretch>
        </p:blipFill>
        <p:spPr>
          <a:xfrm>
            <a:off x="7589520" y="1371600"/>
            <a:ext cx="4389120" cy="2273619"/>
          </a:xfrm>
          <a:prstGeom prst="rect">
            <a:avLst/>
          </a:prstGeom>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1a4f8a"/>
                </a:solidFill>
                <a:latin typeface="Calibri"/>
              </a:rPr>
              <a:t>Αρχιτεκτονική 3-tier (client–server)</a:t>
            </a:r>
            <a:endParaRPr b="0" lang="en-US" sz="3600" spc="-1" strike="noStrike">
              <a:solidFill>
                <a:srgbClr val="000000"/>
              </a:solidFill>
              <a:latin typeface="Arial"/>
            </a:endParaRPr>
          </a:p>
        </p:txBody>
      </p:sp>
      <p:sp>
        <p:nvSpPr>
          <p:cNvPr id="66" name="Rectangle 2"/>
          <p:cNvSpPr/>
          <p:nvPr/>
        </p:nvSpPr>
        <p:spPr>
          <a:xfrm>
            <a:off x="457200" y="1005840"/>
            <a:ext cx="11246760" cy="198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68" name="TextBox 4"/>
          <p:cNvSpPr/>
          <p:nvPr/>
        </p:nvSpPr>
        <p:spPr>
          <a:xfrm>
            <a:off x="731520" y="5715000"/>
            <a:ext cx="10698120" cy="36396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1" lang="en-US" sz="1800" spc="-1" strike="noStrike">
                <a:solidFill>
                  <a:srgbClr val="22272e"/>
                </a:solidFill>
                <a:latin typeface="Calibri"/>
              </a:rPr>
              <a:t>Browser → Apache → PHP (PDO) → MariaDB · prepared statements παντού</a:t>
            </a:r>
            <a:endParaRPr b="0" lang="en-US" sz="1800" spc="-1" strike="noStrike">
              <a:solidFill>
                <a:srgbClr val="000000"/>
              </a:solidFill>
              <a:latin typeface="Arial"/>
            </a:endParaRPr>
          </a:p>
        </p:txBody>
      </p:sp>
      <p:sp>
        <p:nvSpPr>
          <p:cNvPr id="69" name="TextBox 5"/>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4 / 13</a:t>
            </a:r>
            <a:endParaRPr b="0" lang="en-US" sz="1100" spc="-1" strike="noStrike">
              <a:solidFill>
                <a:srgbClr val="000000"/>
              </a:solidFill>
              <a:latin typeface="Arial"/>
            </a:endParaRPr>
          </a:p>
        </p:txBody>
      </p:sp>
      <p:sp>
        <p:nvSpPr>
          <p:cNvPr id="70"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
        <p:nvSpPr>
          <p:cNvPr id="71" name="Rounded Rectangle 70"/>
          <p:cNvSpPr/>
          <p:nvPr/>
        </p:nvSpPr>
        <p:spPr>
          <a:xfrm>
            <a:off x="499262" y="2331720"/>
            <a:ext cx="2423160" cy="2606040"/>
          </a:xfrm>
          <a:prstGeom prst="roundRect">
            <a:avLst>
              <a:gd name="adj" fmla="val 10000"/>
            </a:avLst>
          </a:prstGeom>
          <a:solidFill>
            <a:srgbClr val="CFE7D1"/>
          </a:solidFill>
          <a:ln w="31750">
            <a:solidFill>
              <a:srgbClr val="2A7A32"/>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2200" b="1">
                <a:solidFill>
                  <a:srgbClr val="2A7A32"/>
                </a:solidFill>
              </a:rPr>
              <a:t>Browser</a:t>
            </a:r>
          </a:p>
          <a:p>
            <a:pPr algn="ctr"/>
            <a:r>
              <a:rPr sz="1400" b="0">
                <a:solidFill>
                  <a:srgbClr val="333333"/>
                </a:solidFill>
              </a:rPr>
              <a:t>Chrome / Firefox</a:t>
            </a:r>
          </a:p>
          <a:p>
            <a:pPr algn="ctr"/>
            <a:r>
              <a:rPr sz="1400" b="0">
                <a:solidFill>
                  <a:srgbClr val="333333"/>
                </a:solidFill>
              </a:rPr>
              <a:t>HTML5 + CSS</a:t>
            </a:r>
          </a:p>
        </p:txBody>
      </p:sp>
      <p:sp>
        <p:nvSpPr>
          <p:cNvPr id="72" name="Rounded Rectangle 71"/>
          <p:cNvSpPr/>
          <p:nvPr/>
        </p:nvSpPr>
        <p:spPr>
          <a:xfrm>
            <a:off x="3421684" y="2331720"/>
            <a:ext cx="2423160" cy="2606040"/>
          </a:xfrm>
          <a:prstGeom prst="roundRect">
            <a:avLst>
              <a:gd name="adj" fmla="val 10000"/>
            </a:avLst>
          </a:prstGeom>
          <a:solidFill>
            <a:srgbClr val="CFE0F0"/>
          </a:solidFill>
          <a:ln w="31750">
            <a:solidFill>
              <a:srgbClr val="1A4F8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2200" b="1">
                <a:solidFill>
                  <a:srgbClr val="1A4F8A"/>
                </a:solidFill>
              </a:rPr>
              <a:t>Apache</a:t>
            </a:r>
          </a:p>
          <a:p>
            <a:pPr algn="ctr"/>
            <a:r>
              <a:rPr sz="1400" b="0">
                <a:solidFill>
                  <a:srgbClr val="333333"/>
                </a:solidFill>
              </a:rPr>
              <a:t>XAMPP web server</a:t>
            </a:r>
          </a:p>
          <a:p>
            <a:pPr algn="ctr"/>
            <a:r>
              <a:rPr sz="1400" b="0">
                <a:solidFill>
                  <a:srgbClr val="333333"/>
                </a:solidFill>
              </a:rPr>
              <a:t>routing + στατικά</a:t>
            </a:r>
          </a:p>
        </p:txBody>
      </p:sp>
      <p:sp>
        <p:nvSpPr>
          <p:cNvPr id="73" name="Rounded Rectangle 72"/>
          <p:cNvSpPr/>
          <p:nvPr/>
        </p:nvSpPr>
        <p:spPr>
          <a:xfrm>
            <a:off x="6344107" y="2331720"/>
            <a:ext cx="2423160" cy="2606040"/>
          </a:xfrm>
          <a:prstGeom prst="roundRect">
            <a:avLst>
              <a:gd name="adj" fmla="val 10000"/>
            </a:avLst>
          </a:prstGeom>
          <a:solidFill>
            <a:srgbClr val="F9E0A8"/>
          </a:solidFill>
          <a:ln w="31750">
            <a:solidFill>
              <a:srgbClr val="A36A0D"/>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2200" b="1">
                <a:solidFill>
                  <a:srgbClr val="A36A0D"/>
                </a:solidFill>
              </a:rPr>
              <a:t>PHP 8</a:t>
            </a:r>
          </a:p>
          <a:p>
            <a:pPr algn="ctr"/>
            <a:r>
              <a:rPr sz="1400" b="0">
                <a:solidFill>
                  <a:srgbClr val="333333"/>
                </a:solidFill>
              </a:rPr>
              <a:t>Επιχειρ. λογική</a:t>
            </a:r>
          </a:p>
          <a:p>
            <a:pPr algn="ctr"/>
            <a:r>
              <a:rPr sz="1400" b="0">
                <a:solidFill>
                  <a:srgbClr val="333333"/>
                </a:solidFill>
              </a:rPr>
              <a:t>PDO / CRUD</a:t>
            </a:r>
          </a:p>
        </p:txBody>
      </p:sp>
      <p:sp>
        <p:nvSpPr>
          <p:cNvPr id="74" name="Rounded Rectangle 73"/>
          <p:cNvSpPr/>
          <p:nvPr/>
        </p:nvSpPr>
        <p:spPr>
          <a:xfrm>
            <a:off x="9266529" y="2331720"/>
            <a:ext cx="2423160" cy="2606040"/>
          </a:xfrm>
          <a:prstGeom prst="roundRect">
            <a:avLst>
              <a:gd name="adj" fmla="val 10000"/>
            </a:avLst>
          </a:prstGeom>
          <a:solidFill>
            <a:srgbClr val="D8C9EE"/>
          </a:solidFill>
          <a:ln w="31750">
            <a:solidFill>
              <a:srgbClr val="5A2DB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2200" b="1">
                <a:solidFill>
                  <a:srgbClr val="5A2DB0"/>
                </a:solidFill>
              </a:rPr>
              <a:t>MariaDB</a:t>
            </a:r>
          </a:p>
          <a:p>
            <a:pPr algn="ctr"/>
            <a:r>
              <a:rPr sz="1400" b="0">
                <a:solidFill>
                  <a:srgbClr val="333333"/>
                </a:solidFill>
              </a:rPr>
              <a:t>Βάση papinet</a:t>
            </a:r>
          </a:p>
          <a:p>
            <a:pPr algn="ctr"/>
            <a:r>
              <a:rPr sz="1400" b="0">
                <a:solidFill>
                  <a:srgbClr val="333333"/>
                </a:solidFill>
              </a:rPr>
              <a:t>4 πίνακες InnoDB</a:t>
            </a:r>
          </a:p>
        </p:txBody>
      </p:sp>
      <p:cxnSp>
        <p:nvCxnSpPr>
          <p:cNvPr id="75" name="Connector 74"/>
          <p:cNvCxnSpPr/>
          <p:nvPr/>
        </p:nvCxnSpPr>
        <p:spPr>
          <a:xfrm>
            <a:off x="2968142" y="3268979"/>
            <a:ext cx="407822" cy="0"/>
          </a:xfrm>
          <a:prstGeom prst="line">
            <a:avLst/>
          </a:prstGeom>
          <a:ln w="25400">
            <a:solidFill>
              <a:srgbClr val="1A4F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2257653" y="2766059"/>
            <a:ext cx="1828800" cy="320040"/>
          </a:xfrm>
          <a:prstGeom prst="rect">
            <a:avLst/>
          </a:prstGeom>
          <a:noFill/>
        </p:spPr>
        <p:txBody>
          <a:bodyPr wrap="square" lIns="18288" rIns="18288" tIns="18288" bIns="18288">
            <a:spAutoFit/>
          </a:bodyPr>
          <a:lstStyle/>
          <a:p>
            <a:pPr algn="ctr"/>
            <a:r>
              <a:rPr sz="1200" b="0">
                <a:solidFill>
                  <a:srgbClr val="1A4F8A"/>
                </a:solidFill>
              </a:rPr>
              <a:t>HTTP request</a:t>
            </a:r>
          </a:p>
        </p:txBody>
      </p:sp>
      <p:cxnSp>
        <p:nvCxnSpPr>
          <p:cNvPr id="77" name="Connector 76"/>
          <p:cNvCxnSpPr/>
          <p:nvPr/>
        </p:nvCxnSpPr>
        <p:spPr>
          <a:xfrm flipH="1">
            <a:off x="2968142" y="4000500"/>
            <a:ext cx="407822" cy="0"/>
          </a:xfrm>
          <a:prstGeom prst="line">
            <a:avLst/>
          </a:prstGeom>
          <a:ln w="25400">
            <a:solidFill>
              <a:srgbClr val="A36A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2257653" y="4046220"/>
            <a:ext cx="1828800" cy="320040"/>
          </a:xfrm>
          <a:prstGeom prst="rect">
            <a:avLst/>
          </a:prstGeom>
          <a:noFill/>
        </p:spPr>
        <p:txBody>
          <a:bodyPr wrap="square" lIns="18288" rIns="18288" tIns="18288" bIns="18288">
            <a:spAutoFit/>
          </a:bodyPr>
          <a:lstStyle/>
          <a:p>
            <a:pPr algn="ctr"/>
            <a:r>
              <a:rPr sz="1200" b="0">
                <a:solidFill>
                  <a:srgbClr val="A36A0D"/>
                </a:solidFill>
              </a:rPr>
              <a:t>HTML response</a:t>
            </a:r>
          </a:p>
        </p:txBody>
      </p:sp>
      <p:cxnSp>
        <p:nvCxnSpPr>
          <p:cNvPr id="79" name="Connector 78"/>
          <p:cNvCxnSpPr/>
          <p:nvPr/>
        </p:nvCxnSpPr>
        <p:spPr>
          <a:xfrm>
            <a:off x="5890564" y="3268979"/>
            <a:ext cx="407823" cy="0"/>
          </a:xfrm>
          <a:prstGeom prst="line">
            <a:avLst/>
          </a:prstGeom>
          <a:ln w="25400">
            <a:solidFill>
              <a:srgbClr val="1A4F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180075" y="2766059"/>
            <a:ext cx="1828800" cy="320040"/>
          </a:xfrm>
          <a:prstGeom prst="rect">
            <a:avLst/>
          </a:prstGeom>
          <a:noFill/>
        </p:spPr>
        <p:txBody>
          <a:bodyPr wrap="square" lIns="18288" rIns="18288" tIns="18288" bIns="18288">
            <a:spAutoFit/>
          </a:bodyPr>
          <a:lstStyle/>
          <a:p>
            <a:pPr algn="ctr"/>
            <a:r>
              <a:rPr sz="1200" b="0">
                <a:solidFill>
                  <a:srgbClr val="1A4F8A"/>
                </a:solidFill>
              </a:rPr>
              <a:t>mod_php</a:t>
            </a:r>
          </a:p>
        </p:txBody>
      </p:sp>
      <p:cxnSp>
        <p:nvCxnSpPr>
          <p:cNvPr id="81" name="Connector 80"/>
          <p:cNvCxnSpPr/>
          <p:nvPr/>
        </p:nvCxnSpPr>
        <p:spPr>
          <a:xfrm flipH="1">
            <a:off x="5890564" y="4000500"/>
            <a:ext cx="407823" cy="0"/>
          </a:xfrm>
          <a:prstGeom prst="line">
            <a:avLst/>
          </a:prstGeom>
          <a:ln w="25400">
            <a:solidFill>
              <a:srgbClr val="A36A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180075" y="4046220"/>
            <a:ext cx="1828800" cy="320040"/>
          </a:xfrm>
          <a:prstGeom prst="rect">
            <a:avLst/>
          </a:prstGeom>
          <a:noFill/>
        </p:spPr>
        <p:txBody>
          <a:bodyPr wrap="square" lIns="18288" rIns="18288" tIns="18288" bIns="18288">
            <a:spAutoFit/>
          </a:bodyPr>
          <a:lstStyle/>
          <a:p>
            <a:pPr algn="ctr"/>
            <a:r>
              <a:rPr sz="1200" b="0">
                <a:solidFill>
                  <a:srgbClr val="A36A0D"/>
                </a:solidFill>
              </a:rPr>
              <a:t>exec result</a:t>
            </a:r>
          </a:p>
        </p:txBody>
      </p:sp>
      <p:cxnSp>
        <p:nvCxnSpPr>
          <p:cNvPr id="83" name="Connector 82"/>
          <p:cNvCxnSpPr/>
          <p:nvPr/>
        </p:nvCxnSpPr>
        <p:spPr>
          <a:xfrm>
            <a:off x="8812987" y="3268979"/>
            <a:ext cx="407822" cy="0"/>
          </a:xfrm>
          <a:prstGeom prst="line">
            <a:avLst/>
          </a:prstGeom>
          <a:ln w="25400">
            <a:solidFill>
              <a:srgbClr val="1A4F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8102498" y="2766059"/>
            <a:ext cx="1828800" cy="320040"/>
          </a:xfrm>
          <a:prstGeom prst="rect">
            <a:avLst/>
          </a:prstGeom>
          <a:noFill/>
        </p:spPr>
        <p:txBody>
          <a:bodyPr wrap="square" lIns="18288" rIns="18288" tIns="18288" bIns="18288">
            <a:spAutoFit/>
          </a:bodyPr>
          <a:lstStyle/>
          <a:p>
            <a:pPr algn="ctr"/>
            <a:r>
              <a:rPr sz="1200" b="0">
                <a:solidFill>
                  <a:srgbClr val="1A4F8A"/>
                </a:solidFill>
              </a:rPr>
              <a:t>SQL (prepared)</a:t>
            </a:r>
          </a:p>
        </p:txBody>
      </p:sp>
      <p:cxnSp>
        <p:nvCxnSpPr>
          <p:cNvPr id="85" name="Connector 84"/>
          <p:cNvCxnSpPr/>
          <p:nvPr/>
        </p:nvCxnSpPr>
        <p:spPr>
          <a:xfrm flipH="1">
            <a:off x="8812987" y="4000500"/>
            <a:ext cx="407822" cy="0"/>
          </a:xfrm>
          <a:prstGeom prst="line">
            <a:avLst/>
          </a:prstGeom>
          <a:ln w="25400">
            <a:solidFill>
              <a:srgbClr val="A36A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8102498" y="4046220"/>
            <a:ext cx="1828800" cy="320040"/>
          </a:xfrm>
          <a:prstGeom prst="rect">
            <a:avLst/>
          </a:prstGeom>
          <a:noFill/>
        </p:spPr>
        <p:txBody>
          <a:bodyPr wrap="square" lIns="18288" rIns="18288" tIns="18288" bIns="18288">
            <a:spAutoFit/>
          </a:bodyPr>
          <a:lstStyle/>
          <a:p>
            <a:pPr algn="ctr"/>
            <a:r>
              <a:rPr sz="1200" b="0">
                <a:solidFill>
                  <a:srgbClr val="A36A0D"/>
                </a:solidFill>
              </a:rPr>
              <a:t>result set</a:t>
            </a: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5a2db0"/>
                </a:solidFill>
                <a:latin typeface="Calibri"/>
              </a:rPr>
              <a:t>Βάση δεδομένων (ER)</a:t>
            </a:r>
            <a:endParaRPr b="0" lang="en-US" sz="3600" spc="-1" strike="noStrike">
              <a:solidFill>
                <a:srgbClr val="000000"/>
              </a:solidFill>
              <a:latin typeface="Arial"/>
            </a:endParaRPr>
          </a:p>
        </p:txBody>
      </p:sp>
      <p:sp>
        <p:nvSpPr>
          <p:cNvPr id="72" name="Rectangle 2"/>
          <p:cNvSpPr/>
          <p:nvPr/>
        </p:nvSpPr>
        <p:spPr>
          <a:xfrm>
            <a:off x="457200" y="1005840"/>
            <a:ext cx="11246760" cy="19800"/>
          </a:xfrm>
          <a:prstGeom prst="rect">
            <a:avLst/>
          </a:prstGeom>
          <a:solidFill>
            <a:srgbClr val="5a2db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74" name="TextBox 4"/>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5 / 13</a:t>
            </a:r>
            <a:endParaRPr b="0" lang="en-US" sz="1100" spc="-1" strike="noStrike">
              <a:solidFill>
                <a:srgbClr val="000000"/>
              </a:solidFill>
              <a:latin typeface="Arial"/>
            </a:endParaRPr>
          </a:p>
        </p:txBody>
      </p:sp>
      <p:sp>
        <p:nvSpPr>
          <p:cNvPr id="75" name="TextBox 5"/>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
        <p:nvSpPr>
          <p:cNvPr id="76" name="Rectangle 75"/>
          <p:cNvSpPr/>
          <p:nvPr/>
        </p:nvSpPr>
        <p:spPr>
          <a:xfrm>
            <a:off x="365760" y="1280160"/>
            <a:ext cx="2834640" cy="411480"/>
          </a:xfrm>
          <a:prstGeom prst="rect">
            <a:avLst/>
          </a:prstGeom>
          <a:solidFill>
            <a:srgbClr val="1A4F8A"/>
          </a:solidFill>
          <a:ln w="6350">
            <a:solidFill>
              <a:srgbClr val="1A4F8A"/>
            </a:solid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600" b="1">
                <a:solidFill>
                  <a:srgbClr val="FFFFFF"/>
                </a:solidFill>
                <a:latin typeface="Courier New"/>
              </a:rPr>
              <a:t>clients</a:t>
            </a:r>
          </a:p>
        </p:txBody>
      </p:sp>
      <p:sp>
        <p:nvSpPr>
          <p:cNvPr id="77" name="Rectangle 76"/>
          <p:cNvSpPr/>
          <p:nvPr/>
        </p:nvSpPr>
        <p:spPr>
          <a:xfrm>
            <a:off x="365760" y="1691639"/>
            <a:ext cx="2834640" cy="2514600"/>
          </a:xfrm>
          <a:prstGeom prst="rect">
            <a:avLst/>
          </a:prstGeom>
          <a:solidFill>
            <a:srgbClr val="E8F0F8"/>
          </a:solidFill>
          <a:ln w="19050">
            <a:solidFill>
              <a:srgbClr val="1A4F8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11480" y="1764029"/>
            <a:ext cx="502920" cy="274320"/>
          </a:xfrm>
          <a:prstGeom prst="rect">
            <a:avLst/>
          </a:prstGeom>
          <a:noFill/>
        </p:spPr>
        <p:txBody>
          <a:bodyPr wrap="square" lIns="18288" rIns="18288" tIns="18288" bIns="18288">
            <a:spAutoFit/>
          </a:bodyPr>
          <a:lstStyle/>
          <a:p>
            <a:pPr algn="l"/>
            <a:r>
              <a:rPr sz="1000" b="1">
                <a:solidFill>
                  <a:srgbClr val="A31515"/>
                </a:solidFill>
                <a:latin typeface="Courier New"/>
              </a:rPr>
              <a:t>PK</a:t>
            </a:r>
          </a:p>
        </p:txBody>
      </p:sp>
      <p:sp>
        <p:nvSpPr>
          <p:cNvPr id="79" name="TextBox 78"/>
          <p:cNvSpPr txBox="1"/>
          <p:nvPr/>
        </p:nvSpPr>
        <p:spPr>
          <a:xfrm>
            <a:off x="914400" y="1764029"/>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id</a:t>
            </a:r>
          </a:p>
        </p:txBody>
      </p:sp>
      <p:sp>
        <p:nvSpPr>
          <p:cNvPr id="80" name="TextBox 79"/>
          <p:cNvSpPr txBox="1"/>
          <p:nvPr/>
        </p:nvSpPr>
        <p:spPr>
          <a:xfrm>
            <a:off x="2103120" y="1764029"/>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PK</a:t>
            </a:r>
          </a:p>
        </p:txBody>
      </p:sp>
      <p:sp>
        <p:nvSpPr>
          <p:cNvPr id="81" name="TextBox 80"/>
          <p:cNvSpPr txBox="1"/>
          <p:nvPr/>
        </p:nvSpPr>
        <p:spPr>
          <a:xfrm>
            <a:off x="914400" y="2183129"/>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fullname</a:t>
            </a:r>
          </a:p>
        </p:txBody>
      </p:sp>
      <p:sp>
        <p:nvSpPr>
          <p:cNvPr id="82" name="TextBox 81"/>
          <p:cNvSpPr txBox="1"/>
          <p:nvPr/>
        </p:nvSpPr>
        <p:spPr>
          <a:xfrm>
            <a:off x="2103120" y="2183129"/>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VARCHAR(120)</a:t>
            </a:r>
          </a:p>
        </p:txBody>
      </p:sp>
      <p:sp>
        <p:nvSpPr>
          <p:cNvPr id="83" name="TextBox 82"/>
          <p:cNvSpPr txBox="1"/>
          <p:nvPr/>
        </p:nvSpPr>
        <p:spPr>
          <a:xfrm>
            <a:off x="914400" y="2602230"/>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email</a:t>
            </a:r>
          </a:p>
        </p:txBody>
      </p:sp>
      <p:sp>
        <p:nvSpPr>
          <p:cNvPr id="84" name="TextBox 83"/>
          <p:cNvSpPr txBox="1"/>
          <p:nvPr/>
        </p:nvSpPr>
        <p:spPr>
          <a:xfrm>
            <a:off x="2103120" y="2602230"/>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VARCHAR(120)</a:t>
            </a:r>
          </a:p>
        </p:txBody>
      </p:sp>
      <p:sp>
        <p:nvSpPr>
          <p:cNvPr id="85" name="TextBox 84"/>
          <p:cNvSpPr txBox="1"/>
          <p:nvPr/>
        </p:nvSpPr>
        <p:spPr>
          <a:xfrm>
            <a:off x="914400" y="3021329"/>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phone</a:t>
            </a:r>
          </a:p>
        </p:txBody>
      </p:sp>
      <p:sp>
        <p:nvSpPr>
          <p:cNvPr id="86" name="TextBox 85"/>
          <p:cNvSpPr txBox="1"/>
          <p:nvPr/>
        </p:nvSpPr>
        <p:spPr>
          <a:xfrm>
            <a:off x="2103120" y="3021329"/>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VARCHAR(30)</a:t>
            </a:r>
          </a:p>
        </p:txBody>
      </p:sp>
      <p:sp>
        <p:nvSpPr>
          <p:cNvPr id="87" name="TextBox 86"/>
          <p:cNvSpPr txBox="1"/>
          <p:nvPr/>
        </p:nvSpPr>
        <p:spPr>
          <a:xfrm>
            <a:off x="914400" y="3440429"/>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city</a:t>
            </a:r>
          </a:p>
        </p:txBody>
      </p:sp>
      <p:sp>
        <p:nvSpPr>
          <p:cNvPr id="88" name="TextBox 87"/>
          <p:cNvSpPr txBox="1"/>
          <p:nvPr/>
        </p:nvSpPr>
        <p:spPr>
          <a:xfrm>
            <a:off x="2103120" y="3440429"/>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VARCHAR(60)</a:t>
            </a:r>
          </a:p>
        </p:txBody>
      </p:sp>
      <p:sp>
        <p:nvSpPr>
          <p:cNvPr id="89" name="TextBox 88"/>
          <p:cNvSpPr txBox="1"/>
          <p:nvPr/>
        </p:nvSpPr>
        <p:spPr>
          <a:xfrm>
            <a:off x="914400" y="3859530"/>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created_at</a:t>
            </a:r>
          </a:p>
        </p:txBody>
      </p:sp>
      <p:sp>
        <p:nvSpPr>
          <p:cNvPr id="90" name="TextBox 89"/>
          <p:cNvSpPr txBox="1"/>
          <p:nvPr/>
        </p:nvSpPr>
        <p:spPr>
          <a:xfrm>
            <a:off x="2103120" y="3859530"/>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TIMESTAMP</a:t>
            </a:r>
          </a:p>
        </p:txBody>
      </p:sp>
      <p:sp>
        <p:nvSpPr>
          <p:cNvPr id="91" name="Rectangle 90"/>
          <p:cNvSpPr/>
          <p:nvPr/>
        </p:nvSpPr>
        <p:spPr>
          <a:xfrm>
            <a:off x="4663440" y="1280160"/>
            <a:ext cx="2834640" cy="411480"/>
          </a:xfrm>
          <a:prstGeom prst="rect">
            <a:avLst/>
          </a:prstGeom>
          <a:solidFill>
            <a:srgbClr val="2A7A32"/>
          </a:solidFill>
          <a:ln w="6350">
            <a:solidFill>
              <a:srgbClr val="2A7A32"/>
            </a:solid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600" b="1">
                <a:solidFill>
                  <a:srgbClr val="FFFFFF"/>
                </a:solidFill>
                <a:latin typeface="Courier New"/>
              </a:rPr>
              <a:t>orders</a:t>
            </a:r>
          </a:p>
        </p:txBody>
      </p:sp>
      <p:sp>
        <p:nvSpPr>
          <p:cNvPr id="92" name="Rectangle 91"/>
          <p:cNvSpPr/>
          <p:nvPr/>
        </p:nvSpPr>
        <p:spPr>
          <a:xfrm>
            <a:off x="4663440" y="1691639"/>
            <a:ext cx="2834640" cy="1783080"/>
          </a:xfrm>
          <a:prstGeom prst="rect">
            <a:avLst/>
          </a:prstGeom>
          <a:solidFill>
            <a:srgbClr val="CFE7D1"/>
          </a:solidFill>
          <a:ln w="19050">
            <a:solidFill>
              <a:srgbClr val="2A7A3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4709159" y="1777364"/>
            <a:ext cx="502920" cy="274320"/>
          </a:xfrm>
          <a:prstGeom prst="rect">
            <a:avLst/>
          </a:prstGeom>
          <a:noFill/>
        </p:spPr>
        <p:txBody>
          <a:bodyPr wrap="square" lIns="18288" rIns="18288" tIns="18288" bIns="18288">
            <a:spAutoFit/>
          </a:bodyPr>
          <a:lstStyle/>
          <a:p>
            <a:pPr algn="l"/>
            <a:r>
              <a:rPr sz="1000" b="1">
                <a:solidFill>
                  <a:srgbClr val="A31515"/>
                </a:solidFill>
                <a:latin typeface="Courier New"/>
              </a:rPr>
              <a:t>PK</a:t>
            </a:r>
          </a:p>
        </p:txBody>
      </p:sp>
      <p:sp>
        <p:nvSpPr>
          <p:cNvPr id="94" name="TextBox 93"/>
          <p:cNvSpPr txBox="1"/>
          <p:nvPr/>
        </p:nvSpPr>
        <p:spPr>
          <a:xfrm>
            <a:off x="5212079" y="1777364"/>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id</a:t>
            </a:r>
          </a:p>
        </p:txBody>
      </p:sp>
      <p:sp>
        <p:nvSpPr>
          <p:cNvPr id="95" name="TextBox 94"/>
          <p:cNvSpPr txBox="1"/>
          <p:nvPr/>
        </p:nvSpPr>
        <p:spPr>
          <a:xfrm>
            <a:off x="6400799" y="1777364"/>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PK</a:t>
            </a:r>
          </a:p>
        </p:txBody>
      </p:sp>
      <p:sp>
        <p:nvSpPr>
          <p:cNvPr id="96" name="TextBox 95"/>
          <p:cNvSpPr txBox="1"/>
          <p:nvPr/>
        </p:nvSpPr>
        <p:spPr>
          <a:xfrm>
            <a:off x="4709159" y="2223135"/>
            <a:ext cx="502920" cy="274320"/>
          </a:xfrm>
          <a:prstGeom prst="rect">
            <a:avLst/>
          </a:prstGeom>
          <a:noFill/>
        </p:spPr>
        <p:txBody>
          <a:bodyPr wrap="square" lIns="18288" rIns="18288" tIns="18288" bIns="18288">
            <a:spAutoFit/>
          </a:bodyPr>
          <a:lstStyle/>
          <a:p>
            <a:pPr algn="l"/>
            <a:r>
              <a:rPr sz="1000" b="1">
                <a:solidFill>
                  <a:srgbClr val="1A4F8A"/>
                </a:solidFill>
                <a:latin typeface="Courier New"/>
              </a:rPr>
              <a:t>FK</a:t>
            </a:r>
          </a:p>
        </p:txBody>
      </p:sp>
      <p:sp>
        <p:nvSpPr>
          <p:cNvPr id="97" name="TextBox 96"/>
          <p:cNvSpPr txBox="1"/>
          <p:nvPr/>
        </p:nvSpPr>
        <p:spPr>
          <a:xfrm>
            <a:off x="5212079" y="2223135"/>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client_id</a:t>
            </a:r>
          </a:p>
        </p:txBody>
      </p:sp>
      <p:sp>
        <p:nvSpPr>
          <p:cNvPr id="98" name="TextBox 97"/>
          <p:cNvSpPr txBox="1"/>
          <p:nvPr/>
        </p:nvSpPr>
        <p:spPr>
          <a:xfrm>
            <a:off x="6400799" y="2223135"/>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FK</a:t>
            </a:r>
          </a:p>
        </p:txBody>
      </p:sp>
      <p:sp>
        <p:nvSpPr>
          <p:cNvPr id="99" name="TextBox 98"/>
          <p:cNvSpPr txBox="1"/>
          <p:nvPr/>
        </p:nvSpPr>
        <p:spPr>
          <a:xfrm>
            <a:off x="5212079" y="2668904"/>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order_date</a:t>
            </a:r>
          </a:p>
        </p:txBody>
      </p:sp>
      <p:sp>
        <p:nvSpPr>
          <p:cNvPr id="100" name="TextBox 99"/>
          <p:cNvSpPr txBox="1"/>
          <p:nvPr/>
        </p:nvSpPr>
        <p:spPr>
          <a:xfrm>
            <a:off x="6400799" y="2668904"/>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DATE</a:t>
            </a:r>
          </a:p>
        </p:txBody>
      </p:sp>
      <p:sp>
        <p:nvSpPr>
          <p:cNvPr id="101" name="TextBox 100"/>
          <p:cNvSpPr txBox="1"/>
          <p:nvPr/>
        </p:nvSpPr>
        <p:spPr>
          <a:xfrm>
            <a:off x="5212079" y="3114675"/>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status</a:t>
            </a:r>
          </a:p>
        </p:txBody>
      </p:sp>
      <p:sp>
        <p:nvSpPr>
          <p:cNvPr id="102" name="TextBox 101"/>
          <p:cNvSpPr txBox="1"/>
          <p:nvPr/>
        </p:nvSpPr>
        <p:spPr>
          <a:xfrm>
            <a:off x="6400799" y="3114675"/>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ENUM</a:t>
            </a:r>
          </a:p>
        </p:txBody>
      </p:sp>
      <p:sp>
        <p:nvSpPr>
          <p:cNvPr id="103" name="Rectangle 102"/>
          <p:cNvSpPr/>
          <p:nvPr/>
        </p:nvSpPr>
        <p:spPr>
          <a:xfrm>
            <a:off x="8961120" y="1280160"/>
            <a:ext cx="2834640" cy="411480"/>
          </a:xfrm>
          <a:prstGeom prst="rect">
            <a:avLst/>
          </a:prstGeom>
          <a:solidFill>
            <a:srgbClr val="A36A0D"/>
          </a:solidFill>
          <a:ln w="6350">
            <a:solidFill>
              <a:srgbClr val="A36A0D"/>
            </a:solid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600" b="1">
                <a:solidFill>
                  <a:srgbClr val="FFFFFF"/>
                </a:solidFill>
                <a:latin typeface="Courier New"/>
              </a:rPr>
              <a:t>products</a:t>
            </a:r>
          </a:p>
        </p:txBody>
      </p:sp>
      <p:sp>
        <p:nvSpPr>
          <p:cNvPr id="104" name="Rectangle 103"/>
          <p:cNvSpPr/>
          <p:nvPr/>
        </p:nvSpPr>
        <p:spPr>
          <a:xfrm>
            <a:off x="8961120" y="1691639"/>
            <a:ext cx="2834640" cy="2194560"/>
          </a:xfrm>
          <a:prstGeom prst="rect">
            <a:avLst/>
          </a:prstGeom>
          <a:solidFill>
            <a:srgbClr val="FFF3D6"/>
          </a:solidFill>
          <a:ln w="19050">
            <a:solidFill>
              <a:srgbClr val="A36A0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006840" y="1773936"/>
            <a:ext cx="502920" cy="274320"/>
          </a:xfrm>
          <a:prstGeom prst="rect">
            <a:avLst/>
          </a:prstGeom>
          <a:noFill/>
        </p:spPr>
        <p:txBody>
          <a:bodyPr wrap="square" lIns="18288" rIns="18288" tIns="18288" bIns="18288">
            <a:spAutoFit/>
          </a:bodyPr>
          <a:lstStyle/>
          <a:p>
            <a:pPr algn="l"/>
            <a:r>
              <a:rPr sz="1000" b="1">
                <a:solidFill>
                  <a:srgbClr val="A31515"/>
                </a:solidFill>
                <a:latin typeface="Courier New"/>
              </a:rPr>
              <a:t>PK</a:t>
            </a:r>
          </a:p>
        </p:txBody>
      </p:sp>
      <p:sp>
        <p:nvSpPr>
          <p:cNvPr id="106" name="TextBox 105"/>
          <p:cNvSpPr txBox="1"/>
          <p:nvPr/>
        </p:nvSpPr>
        <p:spPr>
          <a:xfrm>
            <a:off x="9509760" y="1773936"/>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id</a:t>
            </a:r>
          </a:p>
        </p:txBody>
      </p:sp>
      <p:sp>
        <p:nvSpPr>
          <p:cNvPr id="107" name="TextBox 106"/>
          <p:cNvSpPr txBox="1"/>
          <p:nvPr/>
        </p:nvSpPr>
        <p:spPr>
          <a:xfrm>
            <a:off x="10698480" y="1773936"/>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PK</a:t>
            </a:r>
          </a:p>
        </p:txBody>
      </p:sp>
      <p:sp>
        <p:nvSpPr>
          <p:cNvPr id="108" name="TextBox 107"/>
          <p:cNvSpPr txBox="1"/>
          <p:nvPr/>
        </p:nvSpPr>
        <p:spPr>
          <a:xfrm>
            <a:off x="9006840" y="2212848"/>
            <a:ext cx="502920" cy="274320"/>
          </a:xfrm>
          <a:prstGeom prst="rect">
            <a:avLst/>
          </a:prstGeom>
          <a:noFill/>
        </p:spPr>
        <p:txBody>
          <a:bodyPr wrap="square" lIns="18288" rIns="18288" tIns="18288" bIns="18288">
            <a:spAutoFit/>
          </a:bodyPr>
          <a:lstStyle/>
          <a:p>
            <a:pPr algn="l"/>
            <a:r>
              <a:rPr sz="1000" b="1">
                <a:solidFill>
                  <a:srgbClr val="A36A0D"/>
                </a:solidFill>
                <a:latin typeface="Courier New"/>
              </a:rPr>
              <a:t>U</a:t>
            </a:r>
          </a:p>
        </p:txBody>
      </p:sp>
      <p:sp>
        <p:nvSpPr>
          <p:cNvPr id="109" name="TextBox 108"/>
          <p:cNvSpPr txBox="1"/>
          <p:nvPr/>
        </p:nvSpPr>
        <p:spPr>
          <a:xfrm>
            <a:off x="9509760" y="2212848"/>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sku</a:t>
            </a:r>
          </a:p>
        </p:txBody>
      </p:sp>
      <p:sp>
        <p:nvSpPr>
          <p:cNvPr id="110" name="TextBox 109"/>
          <p:cNvSpPr txBox="1"/>
          <p:nvPr/>
        </p:nvSpPr>
        <p:spPr>
          <a:xfrm>
            <a:off x="10698480" y="2212848"/>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VARCHAR(40)</a:t>
            </a:r>
          </a:p>
        </p:txBody>
      </p:sp>
      <p:sp>
        <p:nvSpPr>
          <p:cNvPr id="111" name="TextBox 110"/>
          <p:cNvSpPr txBox="1"/>
          <p:nvPr/>
        </p:nvSpPr>
        <p:spPr>
          <a:xfrm>
            <a:off x="9509760" y="2651759"/>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name</a:t>
            </a:r>
          </a:p>
        </p:txBody>
      </p:sp>
      <p:sp>
        <p:nvSpPr>
          <p:cNvPr id="112" name="TextBox 111"/>
          <p:cNvSpPr txBox="1"/>
          <p:nvPr/>
        </p:nvSpPr>
        <p:spPr>
          <a:xfrm>
            <a:off x="10698480" y="2651759"/>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VARCHAR(150)</a:t>
            </a:r>
          </a:p>
        </p:txBody>
      </p:sp>
      <p:sp>
        <p:nvSpPr>
          <p:cNvPr id="113" name="TextBox 112"/>
          <p:cNvSpPr txBox="1"/>
          <p:nvPr/>
        </p:nvSpPr>
        <p:spPr>
          <a:xfrm>
            <a:off x="9509760" y="3090672"/>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price</a:t>
            </a:r>
          </a:p>
        </p:txBody>
      </p:sp>
      <p:sp>
        <p:nvSpPr>
          <p:cNvPr id="114" name="TextBox 113"/>
          <p:cNvSpPr txBox="1"/>
          <p:nvPr/>
        </p:nvSpPr>
        <p:spPr>
          <a:xfrm>
            <a:off x="10698480" y="3090672"/>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DECIMAL(10,2)</a:t>
            </a:r>
          </a:p>
        </p:txBody>
      </p:sp>
      <p:sp>
        <p:nvSpPr>
          <p:cNvPr id="115" name="TextBox 114"/>
          <p:cNvSpPr txBox="1"/>
          <p:nvPr/>
        </p:nvSpPr>
        <p:spPr>
          <a:xfrm>
            <a:off x="9509760" y="3529583"/>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stock</a:t>
            </a:r>
          </a:p>
        </p:txBody>
      </p:sp>
      <p:sp>
        <p:nvSpPr>
          <p:cNvPr id="116" name="TextBox 115"/>
          <p:cNvSpPr txBox="1"/>
          <p:nvPr/>
        </p:nvSpPr>
        <p:spPr>
          <a:xfrm>
            <a:off x="10698480" y="3529583"/>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a:t>
            </a:r>
          </a:p>
        </p:txBody>
      </p:sp>
      <p:sp>
        <p:nvSpPr>
          <p:cNvPr id="117" name="Rectangle 116"/>
          <p:cNvSpPr/>
          <p:nvPr/>
        </p:nvSpPr>
        <p:spPr>
          <a:xfrm>
            <a:off x="4663440" y="3931920"/>
            <a:ext cx="2834640" cy="411480"/>
          </a:xfrm>
          <a:prstGeom prst="rect">
            <a:avLst/>
          </a:prstGeom>
          <a:solidFill>
            <a:srgbClr val="5A2DB0"/>
          </a:solidFill>
          <a:ln w="6350">
            <a:solidFill>
              <a:srgbClr val="5A2DB0"/>
            </a:solid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600" b="1">
                <a:solidFill>
                  <a:srgbClr val="FFFFFF"/>
                </a:solidFill>
                <a:latin typeface="Courier New"/>
              </a:rPr>
              <a:t>order_items</a:t>
            </a:r>
          </a:p>
        </p:txBody>
      </p:sp>
      <p:sp>
        <p:nvSpPr>
          <p:cNvPr id="118" name="Rectangle 117"/>
          <p:cNvSpPr/>
          <p:nvPr/>
        </p:nvSpPr>
        <p:spPr>
          <a:xfrm>
            <a:off x="4663440" y="4343400"/>
            <a:ext cx="2834640" cy="1783080"/>
          </a:xfrm>
          <a:prstGeom prst="rect">
            <a:avLst/>
          </a:prstGeom>
          <a:solidFill>
            <a:srgbClr val="D8C9EE"/>
          </a:solidFill>
          <a:ln w="19050">
            <a:solidFill>
              <a:srgbClr val="5A2DB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4709159" y="4384548"/>
            <a:ext cx="502920" cy="274320"/>
          </a:xfrm>
          <a:prstGeom prst="rect">
            <a:avLst/>
          </a:prstGeom>
          <a:noFill/>
        </p:spPr>
        <p:txBody>
          <a:bodyPr wrap="square" lIns="18288" rIns="18288" tIns="18288" bIns="18288">
            <a:spAutoFit/>
          </a:bodyPr>
          <a:lstStyle/>
          <a:p>
            <a:pPr algn="l"/>
            <a:r>
              <a:rPr sz="1000" b="1">
                <a:solidFill>
                  <a:srgbClr val="A31515"/>
                </a:solidFill>
                <a:latin typeface="Courier New"/>
              </a:rPr>
              <a:t>PK</a:t>
            </a:r>
          </a:p>
        </p:txBody>
      </p:sp>
      <p:sp>
        <p:nvSpPr>
          <p:cNvPr id="120" name="TextBox 119"/>
          <p:cNvSpPr txBox="1"/>
          <p:nvPr/>
        </p:nvSpPr>
        <p:spPr>
          <a:xfrm>
            <a:off x="5212079" y="4384548"/>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id</a:t>
            </a:r>
          </a:p>
        </p:txBody>
      </p:sp>
      <p:sp>
        <p:nvSpPr>
          <p:cNvPr id="121" name="TextBox 120"/>
          <p:cNvSpPr txBox="1"/>
          <p:nvPr/>
        </p:nvSpPr>
        <p:spPr>
          <a:xfrm>
            <a:off x="6400799" y="4384548"/>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PK</a:t>
            </a:r>
          </a:p>
        </p:txBody>
      </p:sp>
      <p:sp>
        <p:nvSpPr>
          <p:cNvPr id="122" name="TextBox 121"/>
          <p:cNvSpPr txBox="1"/>
          <p:nvPr/>
        </p:nvSpPr>
        <p:spPr>
          <a:xfrm>
            <a:off x="4709159" y="4741164"/>
            <a:ext cx="502920" cy="274320"/>
          </a:xfrm>
          <a:prstGeom prst="rect">
            <a:avLst/>
          </a:prstGeom>
          <a:noFill/>
        </p:spPr>
        <p:txBody>
          <a:bodyPr wrap="square" lIns="18288" rIns="18288" tIns="18288" bIns="18288">
            <a:spAutoFit/>
          </a:bodyPr>
          <a:lstStyle/>
          <a:p>
            <a:pPr algn="l"/>
            <a:r>
              <a:rPr sz="1000" b="1">
                <a:solidFill>
                  <a:srgbClr val="1A4F8A"/>
                </a:solidFill>
                <a:latin typeface="Courier New"/>
              </a:rPr>
              <a:t>FK</a:t>
            </a:r>
          </a:p>
        </p:txBody>
      </p:sp>
      <p:sp>
        <p:nvSpPr>
          <p:cNvPr id="123" name="TextBox 122"/>
          <p:cNvSpPr txBox="1"/>
          <p:nvPr/>
        </p:nvSpPr>
        <p:spPr>
          <a:xfrm>
            <a:off x="5212079" y="4741164"/>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order_id</a:t>
            </a:r>
          </a:p>
        </p:txBody>
      </p:sp>
      <p:sp>
        <p:nvSpPr>
          <p:cNvPr id="124" name="TextBox 123"/>
          <p:cNvSpPr txBox="1"/>
          <p:nvPr/>
        </p:nvSpPr>
        <p:spPr>
          <a:xfrm>
            <a:off x="6400799" y="4741164"/>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FK</a:t>
            </a:r>
          </a:p>
        </p:txBody>
      </p:sp>
      <p:sp>
        <p:nvSpPr>
          <p:cNvPr id="125" name="TextBox 124"/>
          <p:cNvSpPr txBox="1"/>
          <p:nvPr/>
        </p:nvSpPr>
        <p:spPr>
          <a:xfrm>
            <a:off x="4709159" y="5097780"/>
            <a:ext cx="502920" cy="274320"/>
          </a:xfrm>
          <a:prstGeom prst="rect">
            <a:avLst/>
          </a:prstGeom>
          <a:noFill/>
        </p:spPr>
        <p:txBody>
          <a:bodyPr wrap="square" lIns="18288" rIns="18288" tIns="18288" bIns="18288">
            <a:spAutoFit/>
          </a:bodyPr>
          <a:lstStyle/>
          <a:p>
            <a:pPr algn="l"/>
            <a:r>
              <a:rPr sz="1000" b="1">
                <a:solidFill>
                  <a:srgbClr val="1A4F8A"/>
                </a:solidFill>
                <a:latin typeface="Courier New"/>
              </a:rPr>
              <a:t>FK</a:t>
            </a:r>
          </a:p>
        </p:txBody>
      </p:sp>
      <p:sp>
        <p:nvSpPr>
          <p:cNvPr id="126" name="TextBox 125"/>
          <p:cNvSpPr txBox="1"/>
          <p:nvPr/>
        </p:nvSpPr>
        <p:spPr>
          <a:xfrm>
            <a:off x="5212079" y="5097780"/>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product_id</a:t>
            </a:r>
          </a:p>
        </p:txBody>
      </p:sp>
      <p:sp>
        <p:nvSpPr>
          <p:cNvPr id="127" name="TextBox 126"/>
          <p:cNvSpPr txBox="1"/>
          <p:nvPr/>
        </p:nvSpPr>
        <p:spPr>
          <a:xfrm>
            <a:off x="6400799" y="5097780"/>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 FK</a:t>
            </a:r>
          </a:p>
        </p:txBody>
      </p:sp>
      <p:sp>
        <p:nvSpPr>
          <p:cNvPr id="128" name="TextBox 127"/>
          <p:cNvSpPr txBox="1"/>
          <p:nvPr/>
        </p:nvSpPr>
        <p:spPr>
          <a:xfrm>
            <a:off x="5212079" y="5454396"/>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qty</a:t>
            </a:r>
          </a:p>
        </p:txBody>
      </p:sp>
      <p:sp>
        <p:nvSpPr>
          <p:cNvPr id="129" name="TextBox 128"/>
          <p:cNvSpPr txBox="1"/>
          <p:nvPr/>
        </p:nvSpPr>
        <p:spPr>
          <a:xfrm>
            <a:off x="6400799" y="5454396"/>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INT</a:t>
            </a:r>
          </a:p>
        </p:txBody>
      </p:sp>
      <p:sp>
        <p:nvSpPr>
          <p:cNvPr id="130" name="TextBox 129"/>
          <p:cNvSpPr txBox="1"/>
          <p:nvPr/>
        </p:nvSpPr>
        <p:spPr>
          <a:xfrm>
            <a:off x="5212079" y="5811012"/>
            <a:ext cx="1371600" cy="274320"/>
          </a:xfrm>
          <a:prstGeom prst="rect">
            <a:avLst/>
          </a:prstGeom>
          <a:noFill/>
        </p:spPr>
        <p:txBody>
          <a:bodyPr wrap="square" lIns="18288" rIns="18288" tIns="18288" bIns="18288">
            <a:spAutoFit/>
          </a:bodyPr>
          <a:lstStyle/>
          <a:p>
            <a:pPr algn="l"/>
            <a:r>
              <a:rPr sz="1300" b="0">
                <a:solidFill>
                  <a:srgbClr val="222222"/>
                </a:solidFill>
                <a:latin typeface="Courier New"/>
              </a:rPr>
              <a:t>unit_price</a:t>
            </a:r>
          </a:p>
        </p:txBody>
      </p:sp>
      <p:sp>
        <p:nvSpPr>
          <p:cNvPr id="131" name="TextBox 130"/>
          <p:cNvSpPr txBox="1"/>
          <p:nvPr/>
        </p:nvSpPr>
        <p:spPr>
          <a:xfrm>
            <a:off x="6400799" y="5811012"/>
            <a:ext cx="960120" cy="274320"/>
          </a:xfrm>
          <a:prstGeom prst="rect">
            <a:avLst/>
          </a:prstGeom>
          <a:noFill/>
        </p:spPr>
        <p:txBody>
          <a:bodyPr wrap="square" lIns="18288" rIns="18288" tIns="18288" bIns="18288">
            <a:spAutoFit/>
          </a:bodyPr>
          <a:lstStyle/>
          <a:p>
            <a:pPr algn="r"/>
            <a:r>
              <a:rPr sz="1100" b="0">
                <a:solidFill>
                  <a:srgbClr val="666666"/>
                </a:solidFill>
                <a:latin typeface="Courier New"/>
              </a:rPr>
              <a:t>DECIMAL(10,2)</a:t>
            </a:r>
          </a:p>
        </p:txBody>
      </p:sp>
      <p:cxnSp>
        <p:nvCxnSpPr>
          <p:cNvPr id="132" name="Connector 131"/>
          <p:cNvCxnSpPr/>
          <p:nvPr/>
        </p:nvCxnSpPr>
        <p:spPr>
          <a:xfrm flipV="1">
            <a:off x="3200400" y="2377439"/>
            <a:ext cx="1463040" cy="365761"/>
          </a:xfrm>
          <a:prstGeom prst="line">
            <a:avLst/>
          </a:prstGeom>
          <a:ln w="31750">
            <a:solidFill>
              <a:srgbClr val="2A7A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3154679" y="2331720"/>
            <a:ext cx="1554480" cy="292608"/>
          </a:xfrm>
          <a:prstGeom prst="rect">
            <a:avLst/>
          </a:prstGeom>
          <a:noFill/>
        </p:spPr>
        <p:txBody>
          <a:bodyPr wrap="square" lIns="18288" rIns="18288" tIns="18288" bIns="18288">
            <a:spAutoFit/>
          </a:bodyPr>
          <a:lstStyle/>
          <a:p>
            <a:pPr algn="ctr"/>
            <a:r>
              <a:rPr sz="1100" b="1">
                <a:solidFill>
                  <a:srgbClr val="2A7A32"/>
                </a:solidFill>
              </a:rPr>
              <a:t>N — 1  CASCADE</a:t>
            </a:r>
          </a:p>
        </p:txBody>
      </p:sp>
      <p:cxnSp>
        <p:nvCxnSpPr>
          <p:cNvPr id="134" name="Connector 133"/>
          <p:cNvCxnSpPr/>
          <p:nvPr/>
        </p:nvCxnSpPr>
        <p:spPr>
          <a:xfrm>
            <a:off x="6080759" y="3474720"/>
            <a:ext cx="0" cy="457200"/>
          </a:xfrm>
          <a:prstGeom prst="line">
            <a:avLst/>
          </a:prstGeom>
          <a:ln w="31750">
            <a:solidFill>
              <a:srgbClr val="5A2D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6172199" y="3538727"/>
            <a:ext cx="1463040" cy="292608"/>
          </a:xfrm>
          <a:prstGeom prst="rect">
            <a:avLst/>
          </a:prstGeom>
          <a:noFill/>
        </p:spPr>
        <p:txBody>
          <a:bodyPr wrap="square" lIns="18288" rIns="18288" tIns="18288" bIns="18288">
            <a:spAutoFit/>
          </a:bodyPr>
          <a:lstStyle/>
          <a:p>
            <a:pPr algn="l"/>
            <a:r>
              <a:rPr sz="1100" b="1">
                <a:solidFill>
                  <a:srgbClr val="5A2DB0"/>
                </a:solidFill>
              </a:rPr>
              <a:t>1 — N  CASCADE</a:t>
            </a:r>
          </a:p>
        </p:txBody>
      </p:sp>
      <p:cxnSp>
        <p:nvCxnSpPr>
          <p:cNvPr id="136" name="Connector 135"/>
          <p:cNvCxnSpPr/>
          <p:nvPr/>
        </p:nvCxnSpPr>
        <p:spPr>
          <a:xfrm flipH="1">
            <a:off x="7498079" y="2766060"/>
            <a:ext cx="1463041" cy="2263140"/>
          </a:xfrm>
          <a:prstGeom prst="line">
            <a:avLst/>
          </a:prstGeom>
          <a:ln w="31750">
            <a:solidFill>
              <a:srgbClr val="A36A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7498079" y="3440429"/>
            <a:ext cx="1645920" cy="292608"/>
          </a:xfrm>
          <a:prstGeom prst="rect">
            <a:avLst/>
          </a:prstGeom>
          <a:noFill/>
        </p:spPr>
        <p:txBody>
          <a:bodyPr wrap="square" lIns="18288" rIns="18288" tIns="18288" bIns="18288">
            <a:spAutoFit/>
          </a:bodyPr>
          <a:lstStyle/>
          <a:p>
            <a:pPr algn="ctr"/>
            <a:r>
              <a:rPr sz="1100" b="1">
                <a:solidFill>
                  <a:srgbClr val="A36A0D"/>
                </a:solidFill>
              </a:rPr>
              <a:t>N — 1  RESTRICT</a:t>
            </a: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2a7a32"/>
                </a:solidFill>
                <a:latin typeface="Calibri"/>
              </a:rPr>
              <a:t>Δυναμικές σελίδες (CRUD)</a:t>
            </a:r>
            <a:endParaRPr b="0" lang="en-US" sz="3600" spc="-1" strike="noStrike">
              <a:solidFill>
                <a:srgbClr val="000000"/>
              </a:solidFill>
              <a:latin typeface="Arial"/>
            </a:endParaRPr>
          </a:p>
        </p:txBody>
      </p:sp>
      <p:sp>
        <p:nvSpPr>
          <p:cNvPr id="77" name="Rectangle 2"/>
          <p:cNvSpPr/>
          <p:nvPr/>
        </p:nvSpPr>
        <p:spPr>
          <a:xfrm>
            <a:off x="457200" y="1005840"/>
            <a:ext cx="11246760" cy="19800"/>
          </a:xfrm>
          <a:prstGeom prst="rect">
            <a:avLst/>
          </a:prstGeom>
          <a:solidFill>
            <a:srgbClr val="2a7a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78" name="Rounded Rectangle 3"/>
          <p:cNvSpPr/>
          <p:nvPr/>
        </p:nvSpPr>
        <p:spPr>
          <a:xfrm>
            <a:off x="548640" y="141732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clients.php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λίστα πελατών</a:t>
            </a:r>
            <a:endParaRPr b="0" lang="en-US" sz="1400" spc="-1" strike="noStrike">
              <a:solidFill>
                <a:srgbClr val="000000"/>
              </a:solidFill>
              <a:latin typeface="Arial"/>
            </a:endParaRPr>
          </a:p>
        </p:txBody>
      </p:sp>
      <p:sp>
        <p:nvSpPr>
          <p:cNvPr id="79" name="Rounded Rectangle 4"/>
          <p:cNvSpPr/>
          <p:nvPr/>
        </p:nvSpPr>
        <p:spPr>
          <a:xfrm>
            <a:off x="4389120" y="141732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clients_edit.php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δημιουργία / επεξεργασία</a:t>
            </a:r>
            <a:endParaRPr b="0" lang="en-US" sz="1400" spc="-1" strike="noStrike">
              <a:solidFill>
                <a:srgbClr val="000000"/>
              </a:solidFill>
              <a:latin typeface="Arial"/>
            </a:endParaRPr>
          </a:p>
        </p:txBody>
      </p:sp>
      <p:sp>
        <p:nvSpPr>
          <p:cNvPr id="80" name="Rounded Rectangle 5"/>
          <p:cNvSpPr/>
          <p:nvPr/>
        </p:nvSpPr>
        <p:spPr>
          <a:xfrm>
            <a:off x="8229600" y="141732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products.php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λίστα προϊόντων</a:t>
            </a:r>
            <a:endParaRPr b="0" lang="en-US" sz="1400" spc="-1" strike="noStrike">
              <a:solidFill>
                <a:srgbClr val="000000"/>
              </a:solidFill>
              <a:latin typeface="Arial"/>
            </a:endParaRPr>
          </a:p>
        </p:txBody>
      </p:sp>
      <p:sp>
        <p:nvSpPr>
          <p:cNvPr id="81" name="Rounded Rectangle 6"/>
          <p:cNvSpPr/>
          <p:nvPr/>
        </p:nvSpPr>
        <p:spPr>
          <a:xfrm>
            <a:off x="548640" y="310896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products_edit.php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δημιουργία / επεξεργασία</a:t>
            </a:r>
            <a:endParaRPr b="0" lang="en-US" sz="1400" spc="-1" strike="noStrike">
              <a:solidFill>
                <a:srgbClr val="000000"/>
              </a:solidFill>
              <a:latin typeface="Arial"/>
            </a:endParaRPr>
          </a:p>
        </p:txBody>
      </p:sp>
      <p:sp>
        <p:nvSpPr>
          <p:cNvPr id="82" name="Rounded Rectangle 7"/>
          <p:cNvSpPr/>
          <p:nvPr/>
        </p:nvSpPr>
        <p:spPr>
          <a:xfrm>
            <a:off x="4389120" y="310896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orders.php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λίστα παραγγελιών</a:t>
            </a:r>
            <a:endParaRPr b="0" lang="en-US" sz="1400" spc="-1" strike="noStrike">
              <a:solidFill>
                <a:srgbClr val="000000"/>
              </a:solidFill>
              <a:latin typeface="Arial"/>
            </a:endParaRPr>
          </a:p>
        </p:txBody>
      </p:sp>
      <p:sp>
        <p:nvSpPr>
          <p:cNvPr id="83" name="Rounded Rectangle 8"/>
          <p:cNvSpPr/>
          <p:nvPr/>
        </p:nvSpPr>
        <p:spPr>
          <a:xfrm>
            <a:off x="8229600" y="3108960"/>
            <a:ext cx="3565800" cy="1462680"/>
          </a:xfrm>
          <a:prstGeom prst="roundRect">
            <a:avLst>
              <a:gd name="adj" fmla="val 16667"/>
            </a:avLst>
          </a:prstGeom>
          <a:solidFill>
            <a:srgbClr val="e8f3ea"/>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137160" bIns="45000" anchor="ctr">
            <a:noAutofit/>
          </a:bodyPr>
          <a:p>
            <a:pPr>
              <a:lnSpc>
                <a:spcPct val="100000"/>
              </a:lnSpc>
            </a:pPr>
            <a:r>
              <a:rPr b="1" lang="en-US" sz="1800" spc="-1" strike="noStrike">
                <a:solidFill>
                  <a:srgbClr val="2a7a32"/>
                </a:solidFill>
                <a:latin typeface="Consolas"/>
              </a:rPr>
              <a:t>orders_view.php</a:t>
            </a:r>
            <a:endParaRPr b="0" lang="en-US" sz="1800" spc="-1" strike="noStrike">
              <a:solidFill>
                <a:srgbClr val="000000"/>
              </a:solidFill>
              <a:latin typeface="Arial"/>
            </a:endParaRPr>
          </a:p>
          <a:p>
            <a:pPr>
              <a:lnSpc>
                <a:spcPct val="100000"/>
              </a:lnSpc>
            </a:pPr>
            <a:r>
              <a:rPr b="0" lang="en-US" sz="1400" spc="-1" strike="noStrike">
                <a:solidFill>
                  <a:srgbClr val="22272e"/>
                </a:solidFill>
                <a:latin typeface="Calibri"/>
              </a:rPr>
              <a:t>λεπτομέρειες παραγγελίας</a:t>
            </a:r>
            <a:endParaRPr b="0" lang="en-US" sz="1400" spc="-1" strike="noStrike">
              <a:solidFill>
                <a:srgbClr val="000000"/>
              </a:solidFill>
              <a:latin typeface="Arial"/>
            </a:endParaRPr>
          </a:p>
        </p:txBody>
      </p:sp>
      <p:sp>
        <p:nvSpPr>
          <p:cNvPr id="84" name="TextBox 9"/>
          <p:cNvSpPr/>
          <p:nvPr/>
        </p:nvSpPr>
        <p:spPr>
          <a:xfrm>
            <a:off x="548640" y="5029200"/>
            <a:ext cx="11155320" cy="33300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1" lang="en-US" sz="1600" spc="-1" strike="noStrike">
                <a:solidFill>
                  <a:srgbClr val="22272e"/>
                </a:solidFill>
                <a:latin typeface="Calibri"/>
              </a:rPr>
              <a:t>+ index.php (dashboard) · 7 σελίδες σύνολο (≥4 απαίτηση εκφώνησης)</a:t>
            </a:r>
            <a:endParaRPr b="0" lang="en-US" sz="1600" spc="-1" strike="noStrike">
              <a:solidFill>
                <a:srgbClr val="000000"/>
              </a:solidFill>
              <a:latin typeface="Arial"/>
            </a:endParaRPr>
          </a:p>
        </p:txBody>
      </p:sp>
      <p:sp>
        <p:nvSpPr>
          <p:cNvPr id="85" name="TextBox 10"/>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6 / 13</a:t>
            </a:r>
            <a:endParaRPr b="0" lang="en-US" sz="1100" spc="-1" strike="noStrike">
              <a:solidFill>
                <a:srgbClr val="000000"/>
              </a:solidFill>
              <a:latin typeface="Arial"/>
            </a:endParaRPr>
          </a:p>
        </p:txBody>
      </p:sp>
      <p:sp>
        <p:nvSpPr>
          <p:cNvPr id="86" name="TextBox 11"/>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a36a0d"/>
                </a:solidFill>
                <a:latin typeface="Calibri"/>
              </a:rPr>
              <a:t>Δικτυακή τοπολογία</a:t>
            </a:r>
            <a:endParaRPr b="0" lang="en-US" sz="3600" spc="-1" strike="noStrike">
              <a:solidFill>
                <a:srgbClr val="000000"/>
              </a:solidFill>
              <a:latin typeface="Arial"/>
            </a:endParaRPr>
          </a:p>
        </p:txBody>
      </p:sp>
      <p:sp>
        <p:nvSpPr>
          <p:cNvPr id="88" name="Rectangle 2"/>
          <p:cNvSpPr/>
          <p:nvPr/>
        </p:nvSpPr>
        <p:spPr>
          <a:xfrm>
            <a:off x="457200" y="1005840"/>
            <a:ext cx="11246760" cy="1980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90" name="TextBox 4"/>
          <p:cNvSpPr/>
          <p:nvPr/>
        </p:nvSpPr>
        <p:spPr>
          <a:xfrm>
            <a:off x="731520" y="5760720"/>
            <a:ext cx="10698120" cy="36396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1" lang="en-US" sz="1800" spc="-1" strike="noStrike">
                <a:solidFill>
                  <a:srgbClr val="22272e"/>
                </a:solidFill>
                <a:latin typeface="Calibri"/>
              </a:rPr>
              <a:t>5 παραρτήματα · 5 WAN /30 links · 5 LAN /24 · OSPF area 0</a:t>
            </a:r>
            <a:endParaRPr b="0" lang="en-US" sz="1800" spc="-1" strike="noStrike">
              <a:solidFill>
                <a:srgbClr val="000000"/>
              </a:solidFill>
              <a:latin typeface="Arial"/>
            </a:endParaRPr>
          </a:p>
        </p:txBody>
      </p:sp>
      <p:sp>
        <p:nvSpPr>
          <p:cNvPr id="91" name="TextBox 5"/>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7 / 13</a:t>
            </a:r>
            <a:endParaRPr b="0" lang="en-US" sz="1100" spc="-1" strike="noStrike">
              <a:solidFill>
                <a:srgbClr val="000000"/>
              </a:solidFill>
              <a:latin typeface="Arial"/>
            </a:endParaRPr>
          </a:p>
        </p:txBody>
      </p:sp>
      <p:sp>
        <p:nvSpPr>
          <p:cNvPr id="92"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pic>
        <p:nvPicPr>
          <p:cNvPr id="93" name="Picture 92" descr="screenshot-pt-topology.png"/>
          <p:cNvPicPr>
            <a:picLocks noChangeAspect="1"/>
          </p:cNvPicPr>
          <p:nvPr/>
        </p:nvPicPr>
        <p:blipFill>
          <a:blip r:embed="rId5"/>
          <a:stretch>
            <a:fillRect/>
          </a:stretch>
        </p:blipFill>
        <p:spPr>
          <a:xfrm>
            <a:off x="838047" y="1097280"/>
            <a:ext cx="10515600" cy="6687593"/>
          </a:xfrm>
          <a:prstGeom prst="rect">
            <a:avLst/>
          </a:prstGeom>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a36a0d"/>
                </a:solidFill>
                <a:latin typeface="Calibri"/>
              </a:rPr>
              <a:t>Σχέδιο διευθυνσιοδότησης</a:t>
            </a:r>
            <a:endParaRPr b="0" lang="en-US" sz="3600" spc="-1" strike="noStrike">
              <a:solidFill>
                <a:srgbClr val="000000"/>
              </a:solidFill>
              <a:latin typeface="Arial"/>
            </a:endParaRPr>
          </a:p>
        </p:txBody>
      </p:sp>
      <p:sp>
        <p:nvSpPr>
          <p:cNvPr id="94" name="Rectangle 2"/>
          <p:cNvSpPr/>
          <p:nvPr/>
        </p:nvSpPr>
        <p:spPr>
          <a:xfrm>
            <a:off x="457200" y="1005840"/>
            <a:ext cx="11246760" cy="1980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95" name="Rectangle 3"/>
          <p:cNvSpPr/>
          <p:nvPr/>
        </p:nvSpPr>
        <p:spPr>
          <a:xfrm>
            <a:off x="548640" y="1371600"/>
            <a:ext cx="5486040" cy="54828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45000" bIns="45000" anchor="ctr">
            <a:noAutofit/>
          </a:bodyPr>
          <a:p>
            <a:pPr algn="ctr">
              <a:lnSpc>
                <a:spcPct val="100000"/>
              </a:lnSpc>
            </a:pPr>
            <a:r>
              <a:rPr b="1" lang="en-US" sz="1800" spc="-1" strike="noStrike">
                <a:solidFill>
                  <a:srgbClr val="ffffff"/>
                </a:solidFill>
                <a:latin typeface="Calibri"/>
              </a:rPr>
              <a:t>LAN /24 ανά παράρτημα</a:t>
            </a:r>
            <a:endParaRPr b="0" lang="en-US" sz="1800" spc="-1" strike="noStrike">
              <a:solidFill>
                <a:srgbClr val="000000"/>
              </a:solidFill>
              <a:latin typeface="Arial"/>
            </a:endParaRPr>
          </a:p>
        </p:txBody>
      </p:sp>
      <p:sp>
        <p:nvSpPr>
          <p:cNvPr id="96" name="TextBox 4"/>
          <p:cNvSpPr/>
          <p:nvPr/>
        </p:nvSpPr>
        <p:spPr>
          <a:xfrm>
            <a:off x="640080" y="2057400"/>
            <a:ext cx="5486040" cy="18673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Θεσσαλονίκη — 200.1.80.0 / 24</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Ιωάννινα — 200.1.60.0 / 24</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Πάτρα — 200.1.40.0 / 24</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Αθήνα — 200.1.100.0 / 24</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Χανιά — 200.1.10.0 / 24</a:t>
            </a:r>
            <a:endParaRPr b="0" lang="en-US" sz="1800" spc="-1" strike="noStrike">
              <a:solidFill>
                <a:srgbClr val="000000"/>
              </a:solidFill>
              <a:latin typeface="Arial"/>
            </a:endParaRPr>
          </a:p>
        </p:txBody>
      </p:sp>
      <p:sp>
        <p:nvSpPr>
          <p:cNvPr id="97" name="Rectangle 5"/>
          <p:cNvSpPr/>
          <p:nvPr/>
        </p:nvSpPr>
        <p:spPr>
          <a:xfrm>
            <a:off x="6263640" y="1371600"/>
            <a:ext cx="5486040" cy="54828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90000" tIns="45000" bIns="45000" anchor="ctr">
            <a:noAutofit/>
          </a:bodyPr>
          <a:p>
            <a:pPr algn="ctr">
              <a:lnSpc>
                <a:spcPct val="100000"/>
              </a:lnSpc>
            </a:pPr>
            <a:r>
              <a:rPr b="1" lang="en-US" sz="1800" spc="-1" strike="noStrike">
                <a:solidFill>
                  <a:srgbClr val="ffffff"/>
                </a:solidFill>
                <a:latin typeface="Calibri"/>
              </a:rPr>
              <a:t>WAN /30 ανά link</a:t>
            </a:r>
            <a:endParaRPr b="0" lang="en-US" sz="1800" spc="-1" strike="noStrike">
              <a:solidFill>
                <a:srgbClr val="000000"/>
              </a:solidFill>
              <a:latin typeface="Arial"/>
            </a:endParaRPr>
          </a:p>
        </p:txBody>
      </p:sp>
      <p:sp>
        <p:nvSpPr>
          <p:cNvPr id="98" name="TextBox 6"/>
          <p:cNvSpPr/>
          <p:nvPr/>
        </p:nvSpPr>
        <p:spPr>
          <a:xfrm>
            <a:off x="6355080" y="2057400"/>
            <a:ext cx="5486040" cy="18673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THE ↔ IOA — 200.1.70.0 / 30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IOA ↔ PAT — 200.1.50.0 / 30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THE ↔ ATH — 200.1.90.0 / 30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ATH ↔ CHA — 200.1.20.0 / 30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0" lang="en-US" sz="1800" spc="-1" strike="noStrike">
                <a:solidFill>
                  <a:srgbClr val="22272e"/>
                </a:solidFill>
                <a:latin typeface="Calibri"/>
              </a:rPr>
              <a:t>PAT ↔ CHA — 200.1.30.0 / 30</a:t>
            </a:r>
            <a:endParaRPr b="0" lang="en-US" sz="1800" spc="-1" strike="noStrike">
              <a:solidFill>
                <a:srgbClr val="000000"/>
              </a:solidFill>
              <a:latin typeface="Arial"/>
            </a:endParaRPr>
          </a:p>
        </p:txBody>
      </p:sp>
      <p:sp>
        <p:nvSpPr>
          <p:cNvPr id="99" name="TextBox 7"/>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8 / 13</a:t>
            </a:r>
            <a:endParaRPr b="0" lang="en-US" sz="1100" spc="-1" strike="noStrike">
              <a:solidFill>
                <a:srgbClr val="000000"/>
              </a:solidFill>
              <a:latin typeface="Arial"/>
            </a:endParaRPr>
          </a:p>
        </p:txBody>
      </p:sp>
      <p:sp>
        <p:nvSpPr>
          <p:cNvPr id="100" name="TextBox 8"/>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a36a0d"/>
                </a:solidFill>
                <a:latin typeface="Calibri"/>
              </a:rPr>
              <a:t>VLANs (3 ανά παράρτημα)</a:t>
            </a:r>
            <a:endParaRPr b="0" lang="en-US" sz="3600" spc="-1" strike="noStrike">
              <a:solidFill>
                <a:srgbClr val="000000"/>
              </a:solidFill>
              <a:latin typeface="Arial"/>
            </a:endParaRPr>
          </a:p>
        </p:txBody>
      </p:sp>
      <p:sp>
        <p:nvSpPr>
          <p:cNvPr id="102" name="Rectangle 2"/>
          <p:cNvSpPr/>
          <p:nvPr/>
        </p:nvSpPr>
        <p:spPr>
          <a:xfrm>
            <a:off x="457200" y="1005840"/>
            <a:ext cx="11246760" cy="1980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104" name="TextBox 4"/>
          <p:cNvSpPr/>
          <p:nvPr/>
        </p:nvSpPr>
        <p:spPr>
          <a:xfrm>
            <a:off x="731520" y="5760720"/>
            <a:ext cx="10698120" cy="33300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1" lang="en-US" sz="1600" spc="-1" strike="noStrike">
                <a:solidFill>
                  <a:srgbClr val="22272e"/>
                </a:solidFill>
                <a:latin typeface="Calibri"/>
              </a:rPr>
              <a:t>VLAN 10 Λογιστήριο · VLAN 20 Διεύθυνση · VLAN 30 SW Developers · /26 ανά VLAN (62 hosts)</a:t>
            </a:r>
            <a:endParaRPr b="0" lang="en-US" sz="1600" spc="-1" strike="noStrike">
              <a:solidFill>
                <a:srgbClr val="000000"/>
              </a:solidFill>
              <a:latin typeface="Arial"/>
            </a:endParaRPr>
          </a:p>
        </p:txBody>
      </p:sp>
      <p:sp>
        <p:nvSpPr>
          <p:cNvPr id="105" name="TextBox 5"/>
          <p:cNvSpPr/>
          <p:nvPr/>
        </p:nvSpPr>
        <p:spPr>
          <a:xfrm>
            <a:off x="1097280" y="6446520"/>
            <a:ext cx="548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9 / 13</a:t>
            </a:r>
            <a:endParaRPr b="0" lang="en-US" sz="1100" spc="-1" strike="noStrike">
              <a:solidFill>
                <a:srgbClr val="000000"/>
              </a:solidFill>
              <a:latin typeface="Arial"/>
            </a:endParaRPr>
          </a:p>
        </p:txBody>
      </p:sp>
      <p:sp>
        <p:nvSpPr>
          <p:cNvPr id="106"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
        <p:nvSpPr>
          <p:cNvPr id="107" name="Rounded Rectangle 106"/>
          <p:cNvSpPr/>
          <p:nvPr/>
        </p:nvSpPr>
        <p:spPr>
          <a:xfrm>
            <a:off x="914400" y="1234440"/>
            <a:ext cx="10360152" cy="731520"/>
          </a:xfrm>
          <a:prstGeom prst="roundRect">
            <a:avLst>
              <a:gd name="adj" fmla="val 20000"/>
            </a:avLst>
          </a:prstGeom>
          <a:solidFill>
            <a:srgbClr val="E8F0F8"/>
          </a:solidFill>
          <a:ln w="31750">
            <a:solidFill>
              <a:srgbClr val="1A4F8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800" b="1">
                <a:solidFill>
                  <a:srgbClr val="1A4F8A"/>
                </a:solidFill>
              </a:rPr>
              <a:t>200.1.80.0/24  —  254 χρησιμοποιήσιμοι hosts (.1–.254)</a:t>
            </a:r>
          </a:p>
        </p:txBody>
      </p:sp>
      <p:sp>
        <p:nvSpPr>
          <p:cNvPr id="108" name="Rounded Rectangle 107"/>
          <p:cNvSpPr/>
          <p:nvPr/>
        </p:nvSpPr>
        <p:spPr>
          <a:xfrm>
            <a:off x="1011326" y="2423160"/>
            <a:ext cx="2468880" cy="1783080"/>
          </a:xfrm>
          <a:prstGeom prst="roundRect">
            <a:avLst>
              <a:gd name="adj" fmla="val 12000"/>
            </a:avLst>
          </a:prstGeom>
          <a:solidFill>
            <a:srgbClr val="CFE7D1"/>
          </a:solidFill>
          <a:ln w="31750">
            <a:solidFill>
              <a:srgbClr val="2A7A32"/>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2A7A32"/>
                </a:solidFill>
              </a:rPr>
              <a:t>VLAN 10  ·  Λογιστήριο</a:t>
            </a:r>
          </a:p>
          <a:p>
            <a:pPr algn="ctr"/>
            <a:r>
              <a:rPr sz="1300" b="0">
                <a:solidFill>
                  <a:srgbClr val="222222"/>
                </a:solidFill>
              </a:rPr>
              <a:t>200.1.80.0/26</a:t>
            </a:r>
          </a:p>
          <a:p>
            <a:pPr algn="ctr"/>
            <a:r>
              <a:rPr sz="1200" b="0">
                <a:solidFill>
                  <a:srgbClr val="555555"/>
                </a:solidFill>
              </a:rPr>
              <a:t>.1 – .62</a:t>
            </a:r>
          </a:p>
          <a:p>
            <a:pPr algn="ctr"/>
            <a:r>
              <a:rPr sz="1100" b="0">
                <a:solidFill>
                  <a:srgbClr val="555555"/>
                </a:solidFill>
              </a:rPr>
              <a:t>62 hosts</a:t>
            </a:r>
          </a:p>
        </p:txBody>
      </p:sp>
      <p:cxnSp>
        <p:nvCxnSpPr>
          <p:cNvPr id="109" name="Connector 108"/>
          <p:cNvCxnSpPr/>
          <p:nvPr/>
        </p:nvCxnSpPr>
        <p:spPr>
          <a:xfrm>
            <a:off x="2245766" y="1965960"/>
            <a:ext cx="0" cy="457200"/>
          </a:xfrm>
          <a:prstGeom prst="line">
            <a:avLst/>
          </a:prstGeom>
          <a:ln w="25400">
            <a:solidFill>
              <a:srgbClr val="2A7A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3577132" y="2423160"/>
            <a:ext cx="2468880" cy="1783080"/>
          </a:xfrm>
          <a:prstGeom prst="roundRect">
            <a:avLst>
              <a:gd name="adj" fmla="val 12000"/>
            </a:avLst>
          </a:prstGeom>
          <a:solidFill>
            <a:srgbClr val="F9E0A8"/>
          </a:solidFill>
          <a:ln w="31750">
            <a:solidFill>
              <a:srgbClr val="A36A0D"/>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A36A0D"/>
                </a:solidFill>
              </a:rPr>
              <a:t>VLAN 20  ·  Διεύθυνση</a:t>
            </a:r>
          </a:p>
          <a:p>
            <a:pPr algn="ctr"/>
            <a:r>
              <a:rPr sz="1300" b="0">
                <a:solidFill>
                  <a:srgbClr val="222222"/>
                </a:solidFill>
              </a:rPr>
              <a:t>200.1.80.64/26</a:t>
            </a:r>
          </a:p>
          <a:p>
            <a:pPr algn="ctr"/>
            <a:r>
              <a:rPr sz="1200" b="0">
                <a:solidFill>
                  <a:srgbClr val="555555"/>
                </a:solidFill>
              </a:rPr>
              <a:t>.65 – .126</a:t>
            </a:r>
          </a:p>
          <a:p>
            <a:pPr algn="ctr"/>
            <a:r>
              <a:rPr sz="1100" b="0">
                <a:solidFill>
                  <a:srgbClr val="555555"/>
                </a:solidFill>
              </a:rPr>
              <a:t>62 hosts</a:t>
            </a:r>
          </a:p>
        </p:txBody>
      </p:sp>
      <p:cxnSp>
        <p:nvCxnSpPr>
          <p:cNvPr id="111" name="Connector 110"/>
          <p:cNvCxnSpPr/>
          <p:nvPr/>
        </p:nvCxnSpPr>
        <p:spPr>
          <a:xfrm>
            <a:off x="4811572" y="1965960"/>
            <a:ext cx="0" cy="457200"/>
          </a:xfrm>
          <a:prstGeom prst="line">
            <a:avLst/>
          </a:prstGeom>
          <a:ln w="25400">
            <a:solidFill>
              <a:srgbClr val="A36A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6142939" y="2423160"/>
            <a:ext cx="2468880" cy="1783080"/>
          </a:xfrm>
          <a:prstGeom prst="roundRect">
            <a:avLst>
              <a:gd name="adj" fmla="val 12000"/>
            </a:avLst>
          </a:prstGeom>
          <a:solidFill>
            <a:srgbClr val="D8C9EE"/>
          </a:solidFill>
          <a:ln w="31750">
            <a:solidFill>
              <a:srgbClr val="5A2DB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5A2DB0"/>
                </a:solidFill>
              </a:rPr>
              <a:t>VLAN 30  ·  SW Developers</a:t>
            </a:r>
          </a:p>
          <a:p>
            <a:pPr algn="ctr"/>
            <a:r>
              <a:rPr sz="1300" b="0">
                <a:solidFill>
                  <a:srgbClr val="222222"/>
                </a:solidFill>
              </a:rPr>
              <a:t>200.1.80.128/26</a:t>
            </a:r>
          </a:p>
          <a:p>
            <a:pPr algn="ctr"/>
            <a:r>
              <a:rPr sz="1200" b="0">
                <a:solidFill>
                  <a:srgbClr val="555555"/>
                </a:solidFill>
              </a:rPr>
              <a:t>.129 – .190</a:t>
            </a:r>
          </a:p>
          <a:p>
            <a:pPr algn="ctr"/>
            <a:r>
              <a:rPr sz="1100" b="0">
                <a:solidFill>
                  <a:srgbClr val="555555"/>
                </a:solidFill>
              </a:rPr>
              <a:t>62 hosts</a:t>
            </a:r>
          </a:p>
        </p:txBody>
      </p:sp>
      <p:cxnSp>
        <p:nvCxnSpPr>
          <p:cNvPr id="113" name="Connector 112"/>
          <p:cNvCxnSpPr/>
          <p:nvPr/>
        </p:nvCxnSpPr>
        <p:spPr>
          <a:xfrm>
            <a:off x="7377379" y="1965960"/>
            <a:ext cx="0" cy="457200"/>
          </a:xfrm>
          <a:prstGeom prst="line">
            <a:avLst/>
          </a:prstGeom>
          <a:ln w="25400">
            <a:solidFill>
              <a:srgbClr val="5A2D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Rounded Rectangle 113"/>
          <p:cNvSpPr/>
          <p:nvPr/>
        </p:nvSpPr>
        <p:spPr>
          <a:xfrm>
            <a:off x="8708745" y="2423160"/>
            <a:ext cx="2468880" cy="1783080"/>
          </a:xfrm>
          <a:prstGeom prst="roundRect">
            <a:avLst>
              <a:gd name="adj" fmla="val 12000"/>
            </a:avLst>
          </a:prstGeom>
          <a:solidFill>
            <a:srgbClr val="EEEEEE"/>
          </a:solidFill>
          <a:ln w="3175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777777"/>
                </a:solidFill>
              </a:rPr>
              <a:t>εφεδρικό  ·  (future use)</a:t>
            </a:r>
          </a:p>
          <a:p>
            <a:pPr algn="ctr"/>
            <a:r>
              <a:rPr sz="1300" b="0">
                <a:solidFill>
                  <a:srgbClr val="222222"/>
                </a:solidFill>
              </a:rPr>
              <a:t>200.1.80.192/26</a:t>
            </a:r>
          </a:p>
          <a:p>
            <a:pPr algn="ctr"/>
            <a:r>
              <a:rPr sz="1200" b="0">
                <a:solidFill>
                  <a:srgbClr val="555555"/>
                </a:solidFill>
              </a:rPr>
              <a:t>.193 – .254</a:t>
            </a:r>
          </a:p>
          <a:p>
            <a:pPr algn="ctr"/>
            <a:r>
              <a:rPr sz="1100" b="0">
                <a:solidFill>
                  <a:srgbClr val="555555"/>
                </a:solidFill>
              </a:rPr>
              <a:t>—</a:t>
            </a:r>
          </a:p>
        </p:txBody>
      </p:sp>
      <p:cxnSp>
        <p:nvCxnSpPr>
          <p:cNvPr id="115" name="Connector 114"/>
          <p:cNvCxnSpPr/>
          <p:nvPr/>
        </p:nvCxnSpPr>
        <p:spPr>
          <a:xfrm>
            <a:off x="9943185" y="1965960"/>
            <a:ext cx="0" cy="457200"/>
          </a:xfrm>
          <a:prstGeom prst="line">
            <a:avLst/>
          </a:prstGeom>
          <a:ln w="25400">
            <a:solidFill>
              <a:srgbClr val="7777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914400" y="4434840"/>
            <a:ext cx="10360152" cy="1005840"/>
          </a:xfrm>
          <a:prstGeom prst="roundRect">
            <a:avLst>
              <a:gd name="adj" fmla="val 12000"/>
            </a:avLst>
          </a:prstGeom>
          <a:solidFill>
            <a:srgbClr val="F4F6FA"/>
          </a:solidFill>
          <a:ln w="1905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1A4F8A"/>
                </a:solidFill>
              </a:rPr>
              <a:t>Το ίδιο μοτίβο /26 εφαρμόζεται και στα 5 παραρτήματα</a:t>
            </a:r>
          </a:p>
          <a:p>
            <a:pPr algn="ctr"/>
            <a:r>
              <a:rPr sz="1200" b="0">
                <a:solidFill>
                  <a:srgbClr val="333333"/>
                </a:solidFill>
              </a:rPr>
              <a:t>Χανιά 200.1.10.0/24 · Πάτρα 200.1.40.0/24 · Ιωάννινα 200.1.60.0/24 · Θεσ/νίκη 200.1.80.0/24 · Αθήνα 200.1.100.0/24</a:t>
            </a:r>
          </a:p>
          <a:p>
            <a:pPr algn="ctr"/>
            <a:r>
              <a:rPr sz="1200" b="0">
                <a:solidFill>
                  <a:srgbClr val="5A2DB0"/>
                </a:solidFill>
              </a:rPr>
              <a:t>Συνολικά διαθέσιμοι hosts ανά παράρτημα: 3 × 62 = 186 (το 4ο /26 παραμένει εφεδρικό)</a:t>
            </a: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a36a0d"/>
                </a:solidFill>
                <a:latin typeface="Calibri"/>
              </a:rPr>
              <a:t>OSPF δυναμική δρομολόγηση</a:t>
            </a:r>
            <a:endParaRPr b="0" lang="en-US" sz="3600" spc="-1" strike="noStrike">
              <a:solidFill>
                <a:srgbClr val="000000"/>
              </a:solidFill>
              <a:latin typeface="Arial"/>
            </a:endParaRPr>
          </a:p>
        </p:txBody>
      </p:sp>
      <p:sp>
        <p:nvSpPr>
          <p:cNvPr id="108" name="Rectangle 2"/>
          <p:cNvSpPr/>
          <p:nvPr/>
        </p:nvSpPr>
        <p:spPr>
          <a:xfrm>
            <a:off x="457200" y="1005840"/>
            <a:ext cx="11246760" cy="1980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109" name="TextBox 3"/>
          <p:cNvSpPr/>
          <p:nvPr/>
        </p:nvSpPr>
        <p:spPr>
          <a:xfrm>
            <a:off x="731520" y="1463040"/>
            <a:ext cx="7772040" cy="21416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Open standard (RFC 2328)</a:t>
            </a:r>
            <a:r>
              <a:rPr b="0" lang="en-US" sz="1800" spc="-1" strike="noStrike">
                <a:solidFill>
                  <a:srgbClr val="22272e"/>
                </a:solidFill>
                <a:latin typeface="Calibri"/>
              </a:rPr>
              <a:t> — link-state, αλγόριθμος Dijkstra</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Single-area Area 0</a:t>
            </a:r>
            <a:r>
              <a:rPr b="0" lang="en-US" sz="1800" spc="-1" strike="noStrike">
                <a:solidFill>
                  <a:srgbClr val="22272e"/>
                </a:solidFill>
                <a:latin typeface="Calibri"/>
              </a:rPr>
              <a:t> — απλούστερο για 5 routers</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RIP</a:t>
            </a:r>
            <a:r>
              <a:rPr b="0" lang="en-US" sz="1800" spc="-1" strike="noStrike">
                <a:solidFill>
                  <a:srgbClr val="22272e"/>
                </a:solidFill>
                <a:latin typeface="Calibri"/>
              </a:rPr>
              <a:t> — αργό, distance-vector, όριο 15 hops (απορρίφθηκε)</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EIGRP</a:t>
            </a:r>
            <a:r>
              <a:rPr b="0" lang="en-US" sz="1800" spc="-1" strike="noStrike">
                <a:solidFill>
                  <a:srgbClr val="22272e"/>
                </a:solidFill>
                <a:latin typeface="Calibri"/>
              </a:rPr>
              <a:t> — Cisco-only proprietary (απορρίφθηκε για συμβατότητα)</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Σύγκλιση σε δευτερόλεπτα</a:t>
            </a:r>
            <a:r>
              <a:rPr b="0" lang="en-US" sz="1800" spc="-1" strike="noStrike">
                <a:solidFill>
                  <a:srgbClr val="22272e"/>
                </a:solidFill>
                <a:latin typeface="Calibri"/>
              </a:rPr>
              <a:t> — αυτόματη επανυπολογισμός σε αλλαγή link</a:t>
            </a:r>
            <a:endParaRPr b="0" lang="en-US" sz="1800" spc="-1" strike="noStrike">
              <a:solidFill>
                <a:srgbClr val="000000"/>
              </a:solidFill>
              <a:latin typeface="Arial"/>
            </a:endParaRPr>
          </a:p>
        </p:txBody>
      </p:sp>
      <p:sp>
        <p:nvSpPr>
          <p:cNvPr id="111" name="TextBox 5"/>
          <p:cNvSpPr/>
          <p:nvPr/>
        </p:nvSpPr>
        <p:spPr>
          <a:xfrm>
            <a:off x="1056600" y="6446520"/>
            <a:ext cx="629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10 / 13</a:t>
            </a:r>
            <a:endParaRPr b="0" lang="en-US" sz="1100" spc="-1" strike="noStrike">
              <a:solidFill>
                <a:srgbClr val="000000"/>
              </a:solidFill>
              <a:latin typeface="Arial"/>
            </a:endParaRPr>
          </a:p>
        </p:txBody>
      </p:sp>
      <p:sp>
        <p:nvSpPr>
          <p:cNvPr id="112" name="TextBox 6"/>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pic>
        <p:nvPicPr>
          <p:cNvPr id="113" name="Picture 112" descr="screenshot-ospf-route.png"/>
          <p:cNvPicPr>
            <a:picLocks noChangeAspect="1"/>
          </p:cNvPicPr>
          <p:nvPr/>
        </p:nvPicPr>
        <p:blipFill>
          <a:blip r:embed="rId4"/>
          <a:stretch>
            <a:fillRect/>
          </a:stretch>
        </p:blipFill>
        <p:spPr>
          <a:xfrm>
            <a:off x="8595360" y="1417320"/>
            <a:ext cx="3337560" cy="2145964"/>
          </a:xfrm>
          <a:prstGeom prst="rect">
            <a:avLst/>
          </a:prstGeom>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a36a0d"/>
                </a:solidFill>
                <a:latin typeface="Calibri"/>
              </a:rPr>
              <a:t>Inter-VLAN routing + ACLs</a:t>
            </a:r>
            <a:endParaRPr b="0" lang="en-US" sz="3600" spc="-1" strike="noStrike">
              <a:solidFill>
                <a:srgbClr val="000000"/>
              </a:solidFill>
              <a:latin typeface="Arial"/>
            </a:endParaRPr>
          </a:p>
        </p:txBody>
      </p:sp>
      <p:sp>
        <p:nvSpPr>
          <p:cNvPr id="114" name="Rectangle 2"/>
          <p:cNvSpPr/>
          <p:nvPr/>
        </p:nvSpPr>
        <p:spPr>
          <a:xfrm>
            <a:off x="457200" y="1005840"/>
            <a:ext cx="11246760" cy="19800"/>
          </a:xfrm>
          <a:prstGeom prst="rect">
            <a:avLst/>
          </a:prstGeom>
          <a:solidFill>
            <a:srgbClr val="a36a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115" name="TextBox 3"/>
          <p:cNvSpPr/>
          <p:nvPr/>
        </p:nvSpPr>
        <p:spPr>
          <a:xfrm>
            <a:off x="548640" y="1463040"/>
            <a:ext cx="5486040" cy="138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Router-on-a-stick</a:t>
            </a:r>
            <a:r>
              <a:rPr b="0" lang="en-US" sz="1800" spc="-1" strike="noStrike">
                <a:solidFill>
                  <a:srgbClr val="22272e"/>
                </a:solidFill>
                <a:latin typeface="Calibri"/>
              </a:rPr>
              <a:t> — μία φυσική θύρα Gi0/0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Subinterfaces</a:t>
            </a:r>
            <a:r>
              <a:rPr b="0" lang="en-US" sz="1800" spc="-1" strike="noStrike">
                <a:solidFill>
                  <a:srgbClr val="22272e"/>
                </a:solidFill>
                <a:latin typeface="Calibri"/>
              </a:rPr>
              <a:t> — Gi0/0.10, .20, .30</a:t>
            </a:r>
            <a:endParaRPr b="0" lang="en-US" sz="1800" spc="-1" strike="noStrike">
              <a:solidFill>
                <a:srgbClr val="000000"/>
              </a:solidFill>
              <a:latin typeface="Arial"/>
            </a:endParaRPr>
          </a:p>
          <a:p>
            <a:pPr>
              <a:lnSpc>
                <a:spcPct val="100000"/>
              </a:lnSpc>
              <a:spcAft>
                <a:spcPts val="799"/>
              </a:spcAft>
            </a:pPr>
            <a:r>
              <a:rPr b="0" lang="en-US" sz="1800" spc="-1" strike="noStrike">
                <a:solidFill>
                  <a:srgbClr val="22272e"/>
                </a:solidFill>
                <a:latin typeface="Calibri"/>
              </a:rPr>
              <a:t>• </a:t>
            </a:r>
            <a:r>
              <a:rPr b="1" lang="en-US" sz="1800" spc="-1" strike="noStrike">
                <a:solidFill>
                  <a:srgbClr val="22272e"/>
                </a:solidFill>
                <a:latin typeface="Calibri"/>
              </a:rPr>
              <a:t>802.1Q tagging</a:t>
            </a:r>
            <a:r>
              <a:rPr b="0" lang="en-US" sz="1800" spc="-1" strike="noStrike">
                <a:solidFill>
                  <a:srgbClr val="22272e"/>
                </a:solidFill>
                <a:latin typeface="Calibri"/>
              </a:rPr>
              <a:t> — διαφορετικό VLAN ID ανά subinterface</a:t>
            </a:r>
            <a:endParaRPr b="0" lang="en-US" sz="1800" spc="-1" strike="noStrike">
              <a:solidFill>
                <a:srgbClr val="000000"/>
              </a:solidFill>
              <a:latin typeface="Arial"/>
            </a:endParaRPr>
          </a:p>
        </p:txBody>
      </p:sp>
      <p:sp>
        <p:nvSpPr>
          <p:cNvPr id="116" name="TextBox 4"/>
          <p:cNvSpPr/>
          <p:nvPr/>
        </p:nvSpPr>
        <p:spPr>
          <a:xfrm>
            <a:off x="6263640" y="1463040"/>
            <a:ext cx="5486040" cy="16110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22272e"/>
                </a:solidFill>
                <a:latin typeface="Calibri"/>
              </a:rPr>
              <a:t>• </a:t>
            </a:r>
            <a:r>
              <a:rPr b="1" lang="en-US" sz="1600" spc="-1" strike="noStrike">
                <a:solidFill>
                  <a:srgbClr val="22272e"/>
                </a:solidFill>
                <a:latin typeface="Calibri"/>
              </a:rPr>
              <a:t>ACL 110 στον R-ATH</a:t>
            </a:r>
            <a:r>
              <a:rPr b="0" lang="en-US" sz="1600" spc="-1" strike="noStrike">
                <a:solidFill>
                  <a:srgbClr val="22272e"/>
                </a:solidFill>
                <a:latin typeface="Calibri"/>
              </a:rPr>
              <a:t> — extended numbered ACL</a:t>
            </a:r>
            <a:endParaRPr b="0" lang="en-US" sz="1600" spc="-1" strike="noStrike">
              <a:solidFill>
                <a:srgbClr val="000000"/>
              </a:solidFill>
              <a:latin typeface="Arial"/>
            </a:endParaRPr>
          </a:p>
          <a:p>
            <a:pPr>
              <a:lnSpc>
                <a:spcPct val="100000"/>
              </a:lnSpc>
              <a:spcAft>
                <a:spcPts val="799"/>
              </a:spcAft>
            </a:pPr>
            <a:r>
              <a:rPr b="0" lang="en-US" sz="1600" spc="-1" strike="noStrike">
                <a:solidFill>
                  <a:srgbClr val="22272e"/>
                </a:solidFill>
                <a:latin typeface="Calibri"/>
              </a:rPr>
              <a:t>• </a:t>
            </a:r>
            <a:r>
              <a:rPr b="1" lang="en-US" sz="1600" spc="-1" strike="noStrike">
                <a:solidFill>
                  <a:srgbClr val="22272e"/>
                </a:solidFill>
                <a:latin typeface="Calibri"/>
              </a:rPr>
              <a:t>deny ip 200.1.100.0 0.0.0.63</a:t>
            </a:r>
            <a:r>
              <a:rPr b="0" lang="en-US" sz="1600" spc="-1" strike="noStrike">
                <a:solidFill>
                  <a:srgbClr val="22272e"/>
                </a:solidFill>
                <a:latin typeface="Calibri"/>
              </a:rPr>
              <a:t> 200.1.100.128 0.0.0.63</a:t>
            </a:r>
            <a:endParaRPr b="0" lang="en-US" sz="1600" spc="-1" strike="noStrike">
              <a:solidFill>
                <a:srgbClr val="000000"/>
              </a:solidFill>
              <a:latin typeface="Arial"/>
            </a:endParaRPr>
          </a:p>
          <a:p>
            <a:pPr>
              <a:lnSpc>
                <a:spcPct val="100000"/>
              </a:lnSpc>
              <a:spcAft>
                <a:spcPts val="799"/>
              </a:spcAft>
            </a:pPr>
            <a:r>
              <a:rPr b="0" lang="en-US" sz="1600" spc="-1" strike="noStrike">
                <a:solidFill>
                  <a:srgbClr val="22272e"/>
                </a:solidFill>
                <a:latin typeface="Calibri"/>
              </a:rPr>
              <a:t>• </a:t>
            </a:r>
            <a:r>
              <a:rPr b="1" lang="en-US" sz="1600" spc="-1" strike="noStrike">
                <a:solidFill>
                  <a:srgbClr val="22272e"/>
                </a:solidFill>
                <a:latin typeface="Calibri"/>
              </a:rPr>
              <a:t>Στόχος:</a:t>
            </a:r>
            <a:r>
              <a:rPr b="0" lang="en-US" sz="1600" spc="-1" strike="noStrike">
                <a:solidFill>
                  <a:srgbClr val="22272e"/>
                </a:solidFill>
                <a:latin typeface="Calibri"/>
              </a:rPr>
              <a:t> ο SW Developers (VLAN 30) → ΟΧΙ στο Λογιστήριο (VLAN 10)</a:t>
            </a:r>
            <a:endParaRPr b="0" lang="en-US" sz="1600" spc="-1" strike="noStrike">
              <a:solidFill>
                <a:srgbClr val="000000"/>
              </a:solidFill>
              <a:latin typeface="Arial"/>
            </a:endParaRPr>
          </a:p>
          <a:p>
            <a:pPr>
              <a:lnSpc>
                <a:spcPct val="100000"/>
              </a:lnSpc>
              <a:spcAft>
                <a:spcPts val="799"/>
              </a:spcAft>
            </a:pPr>
            <a:r>
              <a:rPr b="0" lang="en-US" sz="1600" spc="-1" strike="noStrike">
                <a:solidFill>
                  <a:srgbClr val="22272e"/>
                </a:solidFill>
                <a:latin typeface="Calibri"/>
              </a:rPr>
              <a:t>• </a:t>
            </a:r>
            <a:r>
              <a:rPr b="1" lang="en-US" sz="1600" spc="-1" strike="noStrike">
                <a:solidFill>
                  <a:srgbClr val="22272e"/>
                </a:solidFill>
                <a:latin typeface="Calibri"/>
              </a:rPr>
              <a:t>permit ip any any</a:t>
            </a:r>
            <a:r>
              <a:rPr b="0" lang="en-US" sz="1600" spc="-1" strike="noStrike">
                <a:solidFill>
                  <a:srgbClr val="22272e"/>
                </a:solidFill>
                <a:latin typeface="Calibri"/>
              </a:rPr>
              <a:t> — υπόλοιπη κίνηση επιτρέπεται</a:t>
            </a:r>
            <a:endParaRPr b="0" lang="en-US" sz="1600" spc="-1" strike="noStrike">
              <a:solidFill>
                <a:srgbClr val="000000"/>
              </a:solidFill>
              <a:latin typeface="Arial"/>
            </a:endParaRPr>
          </a:p>
        </p:txBody>
      </p:sp>
      <p:sp>
        <p:nvSpPr>
          <p:cNvPr id="118" name="TextBox 6"/>
          <p:cNvSpPr/>
          <p:nvPr/>
        </p:nvSpPr>
        <p:spPr>
          <a:xfrm>
            <a:off x="1056600" y="6446520"/>
            <a:ext cx="629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11 / 13</a:t>
            </a:r>
            <a:endParaRPr b="0" lang="en-US" sz="1100" spc="-1" strike="noStrike">
              <a:solidFill>
                <a:srgbClr val="000000"/>
              </a:solidFill>
              <a:latin typeface="Arial"/>
            </a:endParaRPr>
          </a:p>
        </p:txBody>
      </p:sp>
      <p:sp>
        <p:nvSpPr>
          <p:cNvPr id="119" name="TextBox 7"/>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pic>
        <p:nvPicPr>
          <p:cNvPr id="120" name="Picture 119" descr="screenshot-ping-success.png"/>
          <p:cNvPicPr>
            <a:picLocks noChangeAspect="1"/>
          </p:cNvPicPr>
          <p:nvPr/>
        </p:nvPicPr>
        <p:blipFill>
          <a:blip r:embed="rId4"/>
          <a:stretch>
            <a:fillRect/>
          </a:stretch>
        </p:blipFill>
        <p:spPr>
          <a:xfrm>
            <a:off x="914400" y="3291840"/>
            <a:ext cx="10360152" cy="7024269"/>
          </a:xfrm>
          <a:prstGeom prst="rect">
            <a:avLst/>
          </a:prstGeom>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1a4f8a"/>
                </a:solidFill>
                <a:latin typeface="Calibri"/>
              </a:rPr>
              <a:t>Απαντήσεις θεωρητικών ερωτημάτων</a:t>
            </a:r>
            <a:endParaRPr b="0" lang="en-US" sz="3600" spc="-1" strike="noStrike">
              <a:solidFill>
                <a:srgbClr val="000000"/>
              </a:solidFill>
              <a:latin typeface="Arial"/>
            </a:endParaRPr>
          </a:p>
        </p:txBody>
      </p:sp>
      <p:sp>
        <p:nvSpPr>
          <p:cNvPr id="121" name="Rectangle 2"/>
          <p:cNvSpPr/>
          <p:nvPr/>
        </p:nvSpPr>
        <p:spPr>
          <a:xfrm>
            <a:off x="457200" y="1005840"/>
            <a:ext cx="11246760" cy="198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122" name="Rounded Rectangle 3"/>
          <p:cNvSpPr/>
          <p:nvPr/>
        </p:nvSpPr>
        <p:spPr>
          <a:xfrm>
            <a:off x="380880" y="1463040"/>
            <a:ext cx="3657240" cy="4388760"/>
          </a:xfrm>
          <a:prstGeom prst="roundRect">
            <a:avLst>
              <a:gd name="adj" fmla="val 16667"/>
            </a:avLst>
          </a:prstGeom>
          <a:solidFill>
            <a:srgbClr val="1a4f8a"/>
          </a:solidFill>
          <a:ln>
            <a:solidFill>
              <a:srgbClr val="1a4f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182880" tIns="137160" bIns="137160" anchor="t">
            <a:noAutofit/>
          </a:bodyPr>
          <a:p>
            <a:r>
              <a:rPr b="1" lang="en-US" sz="1900" spc="-1" strike="noStrike">
                <a:solidFill>
                  <a:srgbClr val="ffffff"/>
                </a:solidFill>
                <a:latin typeface="Calibri"/>
              </a:rPr>
              <a:t>(α) Υποδίκτυα</a:t>
            </a:r>
            <a:endParaRPr b="0" lang="en-US" sz="1900" spc="-1" strike="noStrike">
              <a:solidFill>
                <a:srgbClr val="000000"/>
              </a:solidFill>
              <a:latin typeface="Arial"/>
            </a:endParaRPr>
          </a:p>
          <a:p>
            <a:r>
              <a:rPr b="0" lang="en-US" sz="1500" spc="-1" strike="noStrike">
                <a:solidFill>
                  <a:srgbClr val="ffffff"/>
                </a:solidFill>
                <a:latin typeface="Calibri"/>
              </a:rPr>
              <a:t>10 υποδίκτυα πριν το VLANing</a:t>
            </a:r>
            <a:endParaRPr b="0" lang="en-US" sz="1500" spc="-1" strike="noStrike">
              <a:solidFill>
                <a:srgbClr val="000000"/>
              </a:solidFill>
              <a:latin typeface="Arial"/>
            </a:endParaRPr>
          </a:p>
          <a:p>
            <a:pPr>
              <a:lnSpc>
                <a:spcPct val="100000"/>
              </a:lnSpc>
            </a:pPr>
            <a:r>
              <a:rPr b="0" lang="en-US" sz="1500" spc="-1" strike="noStrike">
                <a:solidFill>
                  <a:srgbClr val="ffffff"/>
                </a:solidFill>
                <a:latin typeface="Calibri"/>
              </a:rPr>
              <a:t>20 υποδίκτυα μετά το VLANing (3 LAN VLAN ανά παράρτημα + 5 WAN /30).</a:t>
            </a:r>
            <a:endParaRPr b="0" lang="en-US" sz="1500" spc="-1" strike="noStrike">
              <a:solidFill>
                <a:srgbClr val="000000"/>
              </a:solidFill>
              <a:latin typeface="Arial"/>
            </a:endParaRPr>
          </a:p>
        </p:txBody>
      </p:sp>
      <p:sp>
        <p:nvSpPr>
          <p:cNvPr id="123" name="Rounded Rectangle 4"/>
          <p:cNvSpPr/>
          <p:nvPr/>
        </p:nvSpPr>
        <p:spPr>
          <a:xfrm>
            <a:off x="4267080" y="1463040"/>
            <a:ext cx="3657240" cy="4388760"/>
          </a:xfrm>
          <a:prstGeom prst="roundRect">
            <a:avLst>
              <a:gd name="adj" fmla="val 16667"/>
            </a:avLst>
          </a:prstGeom>
          <a:solidFill>
            <a:srgbClr val="2a7a32"/>
          </a:solidFill>
          <a:ln>
            <a:solidFill>
              <a:srgbClr val="2a7a3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182880" tIns="137160" bIns="137160" anchor="t">
            <a:noAutofit/>
          </a:bodyPr>
          <a:p>
            <a:r>
              <a:rPr b="1" lang="en-US" sz="1900" spc="-1" strike="noStrike">
                <a:solidFill>
                  <a:srgbClr val="ffffff"/>
                </a:solidFill>
                <a:latin typeface="Calibri"/>
              </a:rPr>
              <a:t>(β) Πλήθος Hosts</a:t>
            </a:r>
            <a:endParaRPr b="0" lang="en-US" sz="1900" spc="-1" strike="noStrike">
              <a:solidFill>
                <a:srgbClr val="000000"/>
              </a:solidFill>
              <a:latin typeface="Arial"/>
            </a:endParaRPr>
          </a:p>
          <a:p>
            <a:r>
              <a:rPr b="0" lang="en-US" sz="1500" spc="-1" strike="noStrike">
                <a:solidFill>
                  <a:srgbClr val="ffffff"/>
                </a:solidFill>
                <a:latin typeface="Calibri"/>
              </a:rPr>
              <a:t>/24 → 254 hosts</a:t>
            </a:r>
            <a:endParaRPr b="0" lang="en-US" sz="1500" spc="-1" strike="noStrike">
              <a:solidFill>
                <a:srgbClr val="000000"/>
              </a:solidFill>
              <a:latin typeface="Arial"/>
            </a:endParaRPr>
          </a:p>
          <a:p>
            <a:pPr>
              <a:lnSpc>
                <a:spcPct val="100000"/>
              </a:lnSpc>
            </a:pPr>
            <a:r>
              <a:rPr b="0" lang="en-US" sz="1500" spc="-1" strike="noStrike">
                <a:solidFill>
                  <a:srgbClr val="ffffff"/>
                </a:solidFill>
                <a:latin typeface="Calibri"/>
              </a:rPr>
              <a:t>/26 ανά VLAN → 62 hosts × 3 = 186 hosts ωφέλιμοι ανά παράρτημα.</a:t>
            </a:r>
            <a:endParaRPr b="0" lang="en-US" sz="1500" spc="-1" strike="noStrike">
              <a:solidFill>
                <a:srgbClr val="000000"/>
              </a:solidFill>
              <a:latin typeface="Arial"/>
            </a:endParaRPr>
          </a:p>
        </p:txBody>
      </p:sp>
      <p:sp>
        <p:nvSpPr>
          <p:cNvPr id="124" name="Rounded Rectangle 5"/>
          <p:cNvSpPr/>
          <p:nvPr/>
        </p:nvSpPr>
        <p:spPr>
          <a:xfrm>
            <a:off x="8153280" y="1463040"/>
            <a:ext cx="3657240" cy="4388760"/>
          </a:xfrm>
          <a:prstGeom prst="roundRect">
            <a:avLst>
              <a:gd name="adj" fmla="val 16667"/>
            </a:avLst>
          </a:prstGeom>
          <a:solidFill>
            <a:srgbClr val="5a2db0"/>
          </a:solidFill>
          <a:ln>
            <a:solidFill>
              <a:srgbClr val="5a2db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rIns="182880" tIns="137160" bIns="137160" anchor="t">
            <a:noAutofit/>
          </a:bodyPr>
          <a:p>
            <a:r>
              <a:rPr b="1" lang="en-US" sz="1900" spc="-1" strike="noStrike">
                <a:solidFill>
                  <a:srgbClr val="ffffff"/>
                </a:solidFill>
                <a:latin typeface="Calibri"/>
              </a:rPr>
              <a:t>(γ) Θεσσαλονίκη</a:t>
            </a:r>
            <a:endParaRPr b="0" lang="en-US" sz="1900" spc="-1" strike="noStrike">
              <a:solidFill>
                <a:srgbClr val="000000"/>
              </a:solidFill>
              <a:latin typeface="Arial"/>
            </a:endParaRPr>
          </a:p>
          <a:p>
            <a:r>
              <a:rPr b="0" lang="en-US" sz="1500" spc="-1" strike="noStrike">
                <a:solidFill>
                  <a:srgbClr val="ffffff"/>
                </a:solidFill>
                <a:latin typeface="Calibri"/>
              </a:rPr>
              <a:t>Δίκτυο: 200.1.80.0</a:t>
            </a:r>
            <a:endParaRPr b="0" lang="en-US" sz="1500" spc="-1" strike="noStrike">
              <a:solidFill>
                <a:srgbClr val="000000"/>
              </a:solidFill>
              <a:latin typeface="Arial"/>
            </a:endParaRPr>
          </a:p>
          <a:p>
            <a:r>
              <a:rPr b="0" lang="en-US" sz="1500" spc="-1" strike="noStrike">
                <a:solidFill>
                  <a:srgbClr val="ffffff"/>
                </a:solidFill>
                <a:latin typeface="Calibri"/>
              </a:rPr>
              <a:t>Broadcast: 200.1.80.255</a:t>
            </a:r>
            <a:endParaRPr b="0" lang="en-US" sz="1500" spc="-1" strike="noStrike">
              <a:solidFill>
                <a:srgbClr val="000000"/>
              </a:solidFill>
              <a:latin typeface="Arial"/>
            </a:endParaRPr>
          </a:p>
          <a:p>
            <a:pPr>
              <a:lnSpc>
                <a:spcPct val="100000"/>
              </a:lnSpc>
            </a:pPr>
            <a:r>
              <a:rPr b="0" lang="en-US" sz="1500" spc="-1" strike="noStrike">
                <a:solidFill>
                  <a:srgbClr val="ffffff"/>
                </a:solidFill>
                <a:latin typeface="Calibri"/>
              </a:rPr>
              <a:t>Εύρος hosts: .1 – .254 (μάσκα /24)</a:t>
            </a:r>
            <a:endParaRPr b="0" lang="en-US" sz="1500" spc="-1" strike="noStrike">
              <a:solidFill>
                <a:srgbClr val="000000"/>
              </a:solidFill>
              <a:latin typeface="Arial"/>
            </a:endParaRPr>
          </a:p>
        </p:txBody>
      </p:sp>
      <p:sp>
        <p:nvSpPr>
          <p:cNvPr id="125" name="TextBox 6"/>
          <p:cNvSpPr/>
          <p:nvPr/>
        </p:nvSpPr>
        <p:spPr>
          <a:xfrm>
            <a:off x="1056600" y="6446520"/>
            <a:ext cx="629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12 / 13</a:t>
            </a:r>
            <a:endParaRPr b="0" lang="en-US" sz="1100" spc="-1" strike="noStrike">
              <a:solidFill>
                <a:srgbClr val="000000"/>
              </a:solidFill>
              <a:latin typeface="Arial"/>
            </a:endParaRPr>
          </a:p>
        </p:txBody>
      </p:sp>
      <p:sp>
        <p:nvSpPr>
          <p:cNvPr id="126" name="TextBox 7"/>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Box 1"/>
          <p:cNvSpPr/>
          <p:nvPr/>
        </p:nvSpPr>
        <p:spPr>
          <a:xfrm>
            <a:off x="457200" y="228600"/>
            <a:ext cx="11246760" cy="5490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3600" spc="-1" strike="noStrike">
                <a:solidFill>
                  <a:srgbClr val="1a4f8a"/>
                </a:solidFill>
                <a:latin typeface="Calibri"/>
              </a:rPr>
              <a:t>Ευχαριστώ — Ερωτήσεις</a:t>
            </a:r>
            <a:endParaRPr b="0" lang="en-US" sz="3600" spc="-1" strike="noStrike">
              <a:solidFill>
                <a:srgbClr val="000000"/>
              </a:solidFill>
              <a:latin typeface="Arial"/>
            </a:endParaRPr>
          </a:p>
        </p:txBody>
      </p:sp>
      <p:sp>
        <p:nvSpPr>
          <p:cNvPr id="128" name="Rectangle 2"/>
          <p:cNvSpPr/>
          <p:nvPr/>
        </p:nvSpPr>
        <p:spPr>
          <a:xfrm>
            <a:off x="457200" y="1005840"/>
            <a:ext cx="11246760" cy="19800"/>
          </a:xfrm>
          <a:prstGeom prst="rect">
            <a:avLst/>
          </a:prstGeom>
          <a:solidFill>
            <a:srgbClr val="1a4f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a:lnSpc>
                <a:spcPct val="100000"/>
              </a:lnSpc>
            </a:pPr>
            <a:endParaRPr b="0" lang="en-US" sz="1800" spc="-1" strike="noStrike">
              <a:solidFill>
                <a:schemeClr val="lt1"/>
              </a:solidFill>
              <a:latin typeface="Calibri"/>
            </a:endParaRPr>
          </a:p>
        </p:txBody>
      </p:sp>
      <p:sp>
        <p:nvSpPr>
          <p:cNvPr id="129" name="TextBox 3"/>
          <p:cNvSpPr/>
          <p:nvPr/>
        </p:nvSpPr>
        <p:spPr>
          <a:xfrm>
            <a:off x="731520" y="1554480"/>
            <a:ext cx="10698120" cy="455400"/>
          </a:xfrm>
          <a:prstGeom prst="rect">
            <a:avLst/>
          </a:prstGeom>
          <a:noFill/>
          <a:ln w="0">
            <a:noFill/>
          </a:ln>
        </p:spPr>
        <p:style>
          <a:lnRef idx="0"/>
          <a:fillRef idx="0"/>
          <a:effectRef idx="0"/>
          <a:fontRef idx="minor"/>
        </p:style>
        <p:txBody>
          <a:bodyPr lIns="0" rIns="90000" tIns="45000" bIns="45000" anchor="t">
            <a:spAutoFit/>
          </a:bodyPr>
          <a:p>
            <a:pPr>
              <a:lnSpc>
                <a:spcPct val="100000"/>
              </a:lnSpc>
            </a:pPr>
            <a:r>
              <a:rPr b="1" lang="en-US" sz="2400" spc="-1" strike="noStrike">
                <a:solidFill>
                  <a:srgbClr val="22272e"/>
                </a:solidFill>
                <a:latin typeface="Calibri"/>
              </a:rPr>
              <a:t>Σύνοψη παραδοτέων</a:t>
            </a:r>
            <a:endParaRPr b="0" lang="en-US" sz="2400" spc="-1" strike="noStrike">
              <a:solidFill>
                <a:srgbClr val="000000"/>
              </a:solidFill>
              <a:latin typeface="Arial"/>
            </a:endParaRPr>
          </a:p>
        </p:txBody>
      </p:sp>
      <p:sp>
        <p:nvSpPr>
          <p:cNvPr id="130" name="TextBox 4"/>
          <p:cNvSpPr/>
          <p:nvPr/>
        </p:nvSpPr>
        <p:spPr>
          <a:xfrm>
            <a:off x="731520" y="2286000"/>
            <a:ext cx="10698120" cy="12074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22272e"/>
                </a:solidFill>
                <a:latin typeface="Calibri"/>
              </a:rPr>
              <a:t>• </a:t>
            </a:r>
            <a:r>
              <a:rPr b="1" lang="en-US" sz="2000" spc="-1" strike="noStrike">
                <a:solidFill>
                  <a:srgbClr val="22272e"/>
                </a:solidFill>
                <a:latin typeface="Calibri"/>
              </a:rPr>
              <a:t>Web App</a:t>
            </a:r>
            <a:r>
              <a:rPr b="0" lang="en-US" sz="2000" spc="-1" strike="noStrike">
                <a:solidFill>
                  <a:srgbClr val="22272e"/>
                </a:solidFill>
                <a:latin typeface="Calibri"/>
              </a:rPr>
              <a:t> — PHP/MariaDB, 7 σελίδες CRUD, PDO, prepared statements</a:t>
            </a:r>
            <a:endParaRPr b="0" lang="en-US" sz="2000" spc="-1" strike="noStrike">
              <a:solidFill>
                <a:srgbClr val="000000"/>
              </a:solidFill>
              <a:latin typeface="Arial"/>
            </a:endParaRPr>
          </a:p>
          <a:p>
            <a:pPr>
              <a:lnSpc>
                <a:spcPct val="100000"/>
              </a:lnSpc>
              <a:spcAft>
                <a:spcPts val="799"/>
              </a:spcAft>
            </a:pPr>
            <a:r>
              <a:rPr b="0" lang="en-US" sz="2000" spc="-1" strike="noStrike">
                <a:solidFill>
                  <a:srgbClr val="22272e"/>
                </a:solidFill>
                <a:latin typeface="Calibri"/>
              </a:rPr>
              <a:t>• </a:t>
            </a:r>
            <a:r>
              <a:rPr b="1" lang="en-US" sz="2000" spc="-1" strike="noStrike">
                <a:solidFill>
                  <a:srgbClr val="22272e"/>
                </a:solidFill>
                <a:latin typeface="Calibri"/>
              </a:rPr>
              <a:t>Δίκτυο</a:t>
            </a:r>
            <a:r>
              <a:rPr b="0" lang="en-US" sz="2000" spc="-1" strike="noStrike">
                <a:solidFill>
                  <a:srgbClr val="22272e"/>
                </a:solidFill>
                <a:latin typeface="Calibri"/>
              </a:rPr>
              <a:t> — 5 παραρτήματα, OSPF area 0, 3 VLAN ανά site, router-on-a-stick</a:t>
            </a:r>
            <a:endParaRPr b="0" lang="en-US" sz="2000" spc="-1" strike="noStrike">
              <a:solidFill>
                <a:srgbClr val="000000"/>
              </a:solidFill>
              <a:latin typeface="Arial"/>
            </a:endParaRPr>
          </a:p>
          <a:p>
            <a:pPr>
              <a:lnSpc>
                <a:spcPct val="100000"/>
              </a:lnSpc>
              <a:spcAft>
                <a:spcPts val="799"/>
              </a:spcAft>
            </a:pPr>
            <a:r>
              <a:rPr b="0" lang="en-US" sz="2000" spc="-1" strike="noStrike">
                <a:solidFill>
                  <a:srgbClr val="22272e"/>
                </a:solidFill>
                <a:latin typeface="Calibri"/>
              </a:rPr>
              <a:t>• </a:t>
            </a:r>
            <a:r>
              <a:rPr b="1" lang="en-US" sz="2000" spc="-1" strike="noStrike">
                <a:solidFill>
                  <a:srgbClr val="22272e"/>
                </a:solidFill>
                <a:latin typeface="Calibri"/>
              </a:rPr>
              <a:t>Ασφάλεια</a:t>
            </a:r>
            <a:r>
              <a:rPr b="0" lang="en-US" sz="2000" spc="-1" strike="noStrike">
                <a:solidFill>
                  <a:srgbClr val="22272e"/>
                </a:solidFill>
                <a:latin typeface="Calibri"/>
              </a:rPr>
              <a:t> — extended ACL για inter-departmental traffic control</a:t>
            </a:r>
            <a:endParaRPr b="0" lang="en-US" sz="2000" spc="-1" strike="noStrike">
              <a:solidFill>
                <a:srgbClr val="000000"/>
              </a:solidFill>
              <a:latin typeface="Arial"/>
            </a:endParaRPr>
          </a:p>
        </p:txBody>
      </p:sp>
      <p:sp>
        <p:nvSpPr>
          <p:cNvPr id="131" name="Rounded Rectangle 5"/>
          <p:cNvSpPr/>
          <p:nvPr/>
        </p:nvSpPr>
        <p:spPr>
          <a:xfrm>
            <a:off x="1828800" y="4754880"/>
            <a:ext cx="8503560" cy="1096920"/>
          </a:xfrm>
          <a:prstGeom prst="roundRect">
            <a:avLst>
              <a:gd name="adj" fmla="val 16667"/>
            </a:avLst>
          </a:prstGeom>
          <a:solidFill>
            <a:srgbClr val="e8eef6"/>
          </a:solidFill>
          <a:ln>
            <a:solidFill>
              <a:srgbClr val="1a4f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800" spc="-1" strike="noStrike">
                <a:solidFill>
                  <a:srgbClr val="22272e"/>
                </a:solidFill>
                <a:latin typeface="Calibri"/>
              </a:rPr>
              <a:t>Αποθετήριο κώδικα:  </a:t>
            </a:r>
            <a:r>
              <a:rPr b="1" lang="en-US" sz="1800" spc="-1" strike="noStrike">
                <a:solidFill>
                  <a:srgbClr val="1a4f8a"/>
                </a:solidFill>
                <a:latin typeface="Consolas"/>
              </a:rPr>
              <a:t>https://github.com/&lt;USERNAME&gt;/papi-net</a:t>
            </a:r>
            <a:endParaRPr b="0" lang="en-US" sz="1800" spc="-1" strike="noStrike">
              <a:solidFill>
                <a:srgbClr val="000000"/>
              </a:solidFill>
              <a:latin typeface="Arial"/>
            </a:endParaRPr>
          </a:p>
        </p:txBody>
      </p:sp>
      <p:sp>
        <p:nvSpPr>
          <p:cNvPr id="132" name="TextBox 6"/>
          <p:cNvSpPr/>
          <p:nvPr/>
        </p:nvSpPr>
        <p:spPr>
          <a:xfrm>
            <a:off x="731520" y="5989320"/>
            <a:ext cx="10698120" cy="272160"/>
          </a:xfrm>
          <a:prstGeom prst="rect">
            <a:avLst/>
          </a:prstGeom>
          <a:noFill/>
          <a:ln w="0">
            <a:noFill/>
          </a:ln>
        </p:spPr>
        <p:style>
          <a:lnRef idx="0"/>
          <a:fillRef idx="0"/>
          <a:effectRef idx="0"/>
          <a:fontRef idx="minor"/>
        </p:style>
        <p:txBody>
          <a:bodyPr lIns="0" rIns="90000" tIns="45000" bIns="45000" anchor="t">
            <a:spAutoFit/>
          </a:bodyPr>
          <a:p>
            <a:pPr algn="ctr">
              <a:lnSpc>
                <a:spcPct val="100000"/>
              </a:lnSpc>
            </a:pPr>
            <a:r>
              <a:rPr b="0" lang="en-US" sz="1200" spc="-1" strike="noStrike">
                <a:solidFill>
                  <a:srgbClr val="6a737d"/>
                </a:solidFill>
                <a:latin typeface="Calibri"/>
              </a:rPr>
              <a:t>[Προαιρετικό: QR code στο αποθετήριο]</a:t>
            </a:r>
            <a:endParaRPr b="0" lang="en-US" sz="1200" spc="-1" strike="noStrike">
              <a:solidFill>
                <a:srgbClr val="000000"/>
              </a:solidFill>
              <a:latin typeface="Arial"/>
            </a:endParaRPr>
          </a:p>
        </p:txBody>
      </p:sp>
      <p:sp>
        <p:nvSpPr>
          <p:cNvPr id="133" name="TextBox 7"/>
          <p:cNvSpPr/>
          <p:nvPr/>
        </p:nvSpPr>
        <p:spPr>
          <a:xfrm>
            <a:off x="1056600" y="6446520"/>
            <a:ext cx="62928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6a737d"/>
                </a:solidFill>
                <a:latin typeface="Calibri"/>
              </a:rPr>
              <a:t>13 / 13</a:t>
            </a:r>
            <a:endParaRPr b="0" lang="en-US" sz="1100" spc="-1" strike="noStrike">
              <a:solidFill>
                <a:srgbClr val="000000"/>
              </a:solidFill>
              <a:latin typeface="Arial"/>
            </a:endParaRPr>
          </a:p>
        </p:txBody>
      </p:sp>
      <p:sp>
        <p:nvSpPr>
          <p:cNvPr id="134" name="TextBox 8"/>
          <p:cNvSpPr/>
          <p:nvPr/>
        </p:nvSpPr>
        <p:spPr>
          <a:xfrm>
            <a:off x="8199720" y="6446520"/>
            <a:ext cx="2619360" cy="257040"/>
          </a:xfrm>
          <a:prstGeom prst="rect">
            <a:avLst/>
          </a:prstGeom>
          <a:noFill/>
          <a:ln w="0">
            <a:noFill/>
          </a:ln>
        </p:spPr>
        <p:style>
          <a:lnRef idx="0"/>
          <a:fillRef idx="0"/>
          <a:effectRef idx="0"/>
          <a:fontRef idx="minor"/>
        </p:style>
        <p:txBody>
          <a:bodyPr wrap="none" lIns="90000" rIns="90000" tIns="45000" bIns="45000" anchor="t">
            <a:spAutoFit/>
          </a:bodyPr>
          <a:p>
            <a:pPr algn="r">
              <a:lnSpc>
                <a:spcPct val="100000"/>
              </a:lnSpc>
            </a:pPr>
            <a:r>
              <a:rPr b="0" lang="en-US" sz="1100" spc="-1" strike="noStrike">
                <a:solidFill>
                  <a:srgbClr val="6a737d"/>
                </a:solidFill>
                <a:latin typeface="Calibri"/>
              </a:rPr>
              <a:t>Διαμάντη ΑΜ 19389308 · 4 Ιουν 2026</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LibreOffice/7.4.7.2$Linux_X86_64 LibreOffice_project/40$Build-2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Steve Canny</cp:lastModifiedBy>
  <dcterms:modified xsi:type="dcterms:W3CDTF">2013-01-27T09:15:58Z</dcterms:modified>
  <cp:revision>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