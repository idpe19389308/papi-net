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8.xml.rels" ContentType="application/vnd.openxmlformats-package.relationships+xml"/>
  <Override PartName="/ppt/notesSlides/_rels/notesSlide2.xml.rels" ContentType="application/vnd.openxmlformats-package.relationships+xml"/>
  <Override PartName="/ppt/notesSlides/_rels/notesSlide7.xml.rels" ContentType="application/vnd.openxmlformats-package.relationships+xml"/>
  <Override PartName="/ppt/notesSlides/_rels/notesSlide1.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4.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13.xml.rels" ContentType="application/vnd.openxmlformats-package.relationships+xml"/>
  <Override PartName="/ppt/slides/_rels/slide12.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42"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3"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44" name="PlaceHolder 4"/>
          <p:cNvSpPr>
            <a:spLocks noGrp="1"/>
          </p:cNvSpPr>
          <p:nvPr>
            <p:ph type="dt" idx="4"/>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5" name="PlaceHolder 5"/>
          <p:cNvSpPr>
            <a:spLocks noGrp="1"/>
          </p:cNvSpPr>
          <p:nvPr>
            <p:ph type="ftr" idx="5"/>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6" name="PlaceHolder 6"/>
          <p:cNvSpPr>
            <a:spLocks noGrp="1"/>
          </p:cNvSpPr>
          <p:nvPr>
            <p:ph type="sldNum" idx="6"/>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385D75E3-6887-4420-B2E1-A6E12B44E530}"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sldImg"/>
          </p:nvPr>
        </p:nvSpPr>
        <p:spPr>
          <a:xfrm>
            <a:off x="1143000" y="685800"/>
            <a:ext cx="4571280" cy="3428280"/>
          </a:xfrm>
          <a:prstGeom prst="rect">
            <a:avLst/>
          </a:prstGeom>
          <a:ln w="0">
            <a:noFill/>
          </a:ln>
        </p:spPr>
      </p:sp>
      <p:sp>
        <p:nvSpPr>
          <p:cNvPr id="221"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pPr marL="216000" indent="0">
              <a:lnSpc>
                <a:spcPct val="100000"/>
              </a:lnSpc>
              <a:buNone/>
              <a:tabLst>
                <a:tab algn="l" pos="0"/>
              </a:tabLst>
            </a:pPr>
            <a:r>
              <a:rPr b="0" lang="en-US" sz="1400" spc="-1" strike="noStrike">
                <a:solidFill>
                  <a:srgbClr val="000000"/>
                </a:solidFill>
                <a:latin typeface="Calibri"/>
              </a:rPr>
              <a:t>Καλημέρα σας. Είμαι η Ελένη Διαμάντη, με αριθμό μητρώου 19389308. Σήμερα θα παρουσιάσω την απαλλακτική εργασία μου για το μάθημα Τεχνολογία Διαδικτύου, η οποία περιλαμβάνει μια διαδικτυακή εφαρμογή σε PHP/MariaDB και μια δικτυακή τοπολογία 5 παραρτημάτων υλοποιημένη στο Cisco Packet Tracer. Η παρουσίαση θα διαρκέσει περίπου 12 λεπτά, αφήνοντας χρόνο για ερωτήσεις.</a:t>
            </a:r>
            <a:endParaRPr b="0" lang="en-US" sz="1400" spc="-1" strike="noStrike">
              <a:solidFill>
                <a:srgbClr val="000000"/>
              </a:solidFill>
              <a:latin typeface="Arial"/>
            </a:endParaRPr>
          </a:p>
        </p:txBody>
      </p:sp>
      <p:sp>
        <p:nvSpPr>
          <p:cNvPr id="222" name="PlaceHolder 3"/>
          <p:cNvSpPr>
            <a:spLocks noGrp="1"/>
          </p:cNvSpPr>
          <p:nvPr>
            <p:ph type="sldNum" idx="7"/>
          </p:nvPr>
        </p:nvSpPr>
        <p:spPr>
          <a:xfrm>
            <a:off x="3884760" y="8685360"/>
            <a:ext cx="2971080" cy="45648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4570677-AEC5-4AD8-9F3E-40BE74A8C46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sldImg"/>
          </p:nvPr>
        </p:nvSpPr>
        <p:spPr>
          <a:xfrm>
            <a:off x="1143000" y="685800"/>
            <a:ext cx="4571280" cy="3428280"/>
          </a:xfrm>
          <a:prstGeom prst="rect">
            <a:avLst/>
          </a:prstGeom>
          <a:ln w="0">
            <a:noFill/>
          </a:ln>
        </p:spPr>
      </p:sp>
      <p:sp>
        <p:nvSpPr>
          <p:cNvPr id="224"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pPr marL="216000" indent="0">
              <a:lnSpc>
                <a:spcPct val="100000"/>
              </a:lnSpc>
              <a:buNone/>
              <a:tabLst>
                <a:tab algn="l" pos="0"/>
              </a:tabLst>
            </a:pPr>
            <a:r>
              <a:rPr b="0" lang="en-US" sz="1400" spc="-1" strike="noStrike">
                <a:solidFill>
                  <a:srgbClr val="000000"/>
                </a:solidFill>
                <a:latin typeface="Calibri"/>
              </a:rPr>
              <a:t>Η εργασία μου αποτελείται από τρία αλληλένδετα παραδοτέα. Πρώτον, μια ολοκληρωμένη διαδικτυακή εφαρμογή σε PHP με MariaDB πάνω σε XAMPP, η οποία υλοποιεί CRUD λειτουργίες σε επτά δυναμικές σελίδες και τέσσερις πίνακες. Δεύτερον, μια δικτυακή τοπολογία για επιχείρηση με πέντε παραρτήματα, με δυναμική δρομολόγηση OSPF, VLANs και ACLs. Τρίτον, η σημερινή παρουσίαση. Στόχος μου είναι να δείξω πώς συνδέονται οι τρεις πτυχές σε ένα ενιαίο τεχνολογικό σύνολο.</a:t>
            </a:r>
            <a:endParaRPr b="0" lang="en-US" sz="1400" spc="-1" strike="noStrike">
              <a:solidFill>
                <a:srgbClr val="000000"/>
              </a:solidFill>
              <a:latin typeface="Arial"/>
            </a:endParaRPr>
          </a:p>
        </p:txBody>
      </p:sp>
      <p:sp>
        <p:nvSpPr>
          <p:cNvPr id="225" name="PlaceHolder 3"/>
          <p:cNvSpPr>
            <a:spLocks noGrp="1"/>
          </p:cNvSpPr>
          <p:nvPr>
            <p:ph type="sldNum" idx="8"/>
          </p:nvPr>
        </p:nvSpPr>
        <p:spPr>
          <a:xfrm>
            <a:off x="3884760" y="8685360"/>
            <a:ext cx="2971080" cy="45648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05B87823-A281-4DE1-8E45-5812CC17D41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sldImg"/>
          </p:nvPr>
        </p:nvSpPr>
        <p:spPr>
          <a:xfrm>
            <a:off x="1143000" y="685800"/>
            <a:ext cx="4571280" cy="3428280"/>
          </a:xfrm>
          <a:prstGeom prst="rect">
            <a:avLst/>
          </a:prstGeom>
          <a:ln w="0">
            <a:noFill/>
          </a:ln>
        </p:spPr>
      </p:sp>
      <p:sp>
        <p:nvSpPr>
          <p:cNvPr id="227"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pPr marL="216000" indent="0">
              <a:lnSpc>
                <a:spcPct val="100000"/>
              </a:lnSpc>
              <a:buNone/>
              <a:tabLst>
                <a:tab algn="l" pos="0"/>
              </a:tabLst>
            </a:pPr>
            <a:r>
              <a:rPr b="0" lang="en-US" sz="1400" spc="-1" strike="noStrike">
                <a:solidFill>
                  <a:srgbClr val="000000"/>
                </a:solidFill>
                <a:latin typeface="Calibri"/>
              </a:rPr>
              <a:t>Επέλεξα ως σενάριο τη διαχείριση παραγγελιών μιας μικρής επιχείρησης ηλεκτρονικών ειδών. Η ροή είναι κλασική: ο υπάλληλος καταχωρεί πελάτες, διαθέσιμα προϊόντα, και παραγγελίες με τις αντίστοιχες γραμμές. Μια σημαντική σχεδιαστική επιλογή είναι ότι κρατάμε snapshot της τιμής του προϊόντος μέσα στη γραμμή της παραγγελίας — έτσι, αν αλλάξει η τιμή του προϊόντος αργότερα, η παλιά παραγγελία διατηρεί την ιστορική της αξία.</a:t>
            </a:r>
            <a:endParaRPr b="0" lang="en-US" sz="1400" spc="-1" strike="noStrike">
              <a:solidFill>
                <a:srgbClr val="000000"/>
              </a:solidFill>
              <a:latin typeface="Arial"/>
            </a:endParaRPr>
          </a:p>
        </p:txBody>
      </p:sp>
      <p:sp>
        <p:nvSpPr>
          <p:cNvPr id="228" name="PlaceHolder 3"/>
          <p:cNvSpPr>
            <a:spLocks noGrp="1"/>
          </p:cNvSpPr>
          <p:nvPr>
            <p:ph type="sldNum" idx="9"/>
          </p:nvPr>
        </p:nvSpPr>
        <p:spPr>
          <a:xfrm>
            <a:off x="3884760" y="8685360"/>
            <a:ext cx="2971080" cy="45648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617C33B7-514D-4CFA-A179-A90F189C3A0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sldImg"/>
          </p:nvPr>
        </p:nvSpPr>
        <p:spPr>
          <a:xfrm>
            <a:off x="1143000" y="685800"/>
            <a:ext cx="4571280" cy="3428280"/>
          </a:xfrm>
          <a:prstGeom prst="rect">
            <a:avLst/>
          </a:prstGeom>
          <a:ln w="0">
            <a:noFill/>
          </a:ln>
        </p:spPr>
      </p:sp>
      <p:sp>
        <p:nvSpPr>
          <p:cNvPr id="230"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pPr marL="216000" indent="0">
              <a:lnSpc>
                <a:spcPct val="100000"/>
              </a:lnSpc>
              <a:buNone/>
              <a:tabLst>
                <a:tab algn="l" pos="0"/>
              </a:tabLst>
            </a:pPr>
            <a:r>
              <a:rPr b="0" lang="en-US" sz="1400" spc="-1" strike="noStrike">
                <a:solidFill>
                  <a:srgbClr val="000000"/>
                </a:solidFill>
                <a:latin typeface="Calibri"/>
              </a:rPr>
              <a:t>Η αρχιτεκτονική είναι κλασική τριών επιπέδων, client–server. Στο πρώτο επίπεδο είναι ο browser του χρήστη. Στο μεσαίο επίπεδο τρέχει ο Apache web server μέσα από το XAMPP, ο οποίος εκτελεί τον PHP κώδικα. Στο τρίτο επίπεδο βρίσκεται η βάση MariaDB. Όλη η επικοινωνία PHP–DB γίνεται μέσω PDO με prepared statements, που μας προστατεύει από SQL injection.</a:t>
            </a:r>
            <a:endParaRPr b="0" lang="en-US" sz="1400" spc="-1" strike="noStrike">
              <a:solidFill>
                <a:srgbClr val="000000"/>
              </a:solidFill>
              <a:latin typeface="Arial"/>
            </a:endParaRPr>
          </a:p>
        </p:txBody>
      </p:sp>
      <p:sp>
        <p:nvSpPr>
          <p:cNvPr id="231" name="PlaceHolder 3"/>
          <p:cNvSpPr>
            <a:spLocks noGrp="1"/>
          </p:cNvSpPr>
          <p:nvPr>
            <p:ph type="sldNum" idx="10"/>
          </p:nvPr>
        </p:nvSpPr>
        <p:spPr>
          <a:xfrm>
            <a:off x="3884760" y="8685360"/>
            <a:ext cx="2971080" cy="45648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C8C651D-766D-4BA9-A994-6B5F75C549B3}"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sldImg"/>
          </p:nvPr>
        </p:nvSpPr>
        <p:spPr>
          <a:xfrm>
            <a:off x="1143000" y="685800"/>
            <a:ext cx="4571280" cy="3428280"/>
          </a:xfrm>
          <a:prstGeom prst="rect">
            <a:avLst/>
          </a:prstGeom>
          <a:ln w="0">
            <a:noFill/>
          </a:ln>
        </p:spPr>
      </p:sp>
      <p:sp>
        <p:nvSpPr>
          <p:cNvPr id="233"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pPr marL="216000" indent="0">
              <a:lnSpc>
                <a:spcPct val="100000"/>
              </a:lnSpc>
              <a:buNone/>
              <a:tabLst>
                <a:tab algn="l" pos="0"/>
              </a:tabLst>
            </a:pPr>
            <a:r>
              <a:rPr b="0" lang="en-US" sz="1400" spc="-1" strike="noStrike">
                <a:solidFill>
                  <a:srgbClr val="000000"/>
                </a:solidFill>
                <a:latin typeface="Calibri"/>
              </a:rPr>
              <a:t>Η βάση αποτελείται από τέσσερις πίνακες: clients, products, orders, και order_items. Οι σχέσεις είναι 1-προς-Ν με ξένα κλειδιά και κανόνες αναφορικής ακεραιότητας: CASCADE στο clients→orders ώστε αν διαγραφεί πελάτης να φεύγουν και οι παραγγελίες του, και RESTRICT στα products ώστε να μην επιτρέπεται διαγραφή προϊόντος που υπάρχει σε παραγγελία. Όπως ανέφερα, η γραμμή παραγγελίας κρατά snapshot της τιμής για να διατηρείται η ιστορική αξία.</a:t>
            </a:r>
            <a:endParaRPr b="0" lang="en-US" sz="1400" spc="-1" strike="noStrike">
              <a:solidFill>
                <a:srgbClr val="000000"/>
              </a:solidFill>
              <a:latin typeface="Arial"/>
            </a:endParaRPr>
          </a:p>
        </p:txBody>
      </p:sp>
      <p:sp>
        <p:nvSpPr>
          <p:cNvPr id="234" name="PlaceHolder 3"/>
          <p:cNvSpPr>
            <a:spLocks noGrp="1"/>
          </p:cNvSpPr>
          <p:nvPr>
            <p:ph type="sldNum" idx="11"/>
          </p:nvPr>
        </p:nvSpPr>
        <p:spPr>
          <a:xfrm>
            <a:off x="3884760" y="8685360"/>
            <a:ext cx="2971080" cy="45648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5291E746-8E7C-417C-AAF0-83AD36C25DA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sldImg"/>
          </p:nvPr>
        </p:nvSpPr>
        <p:spPr>
          <a:xfrm>
            <a:off x="1143000" y="685800"/>
            <a:ext cx="4571280" cy="3428280"/>
          </a:xfrm>
          <a:prstGeom prst="rect">
            <a:avLst/>
          </a:prstGeom>
          <a:ln w="0">
            <a:noFill/>
          </a:ln>
        </p:spPr>
      </p:sp>
      <p:sp>
        <p:nvSpPr>
          <p:cNvPr id="236"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pPr marL="216000" indent="0">
              <a:lnSpc>
                <a:spcPct val="100000"/>
              </a:lnSpc>
              <a:buNone/>
              <a:tabLst>
                <a:tab algn="l" pos="0"/>
              </a:tabLst>
            </a:pPr>
            <a:r>
              <a:rPr b="0" lang="en-US" sz="1400" spc="-1" strike="noStrike">
                <a:solidFill>
                  <a:srgbClr val="000000"/>
                </a:solidFill>
                <a:latin typeface="Calibri"/>
              </a:rPr>
              <a:t>Υλοποίησα συνολικά επτά δυναμικές σελίδες — η εκφώνηση ζητούσε τουλάχιστον τέσσερις. Έχουμε λίστες για πελάτες, προϊόντα και παραγγελίες, αντίστοιχες σελίδες δημιουργίας/επεξεργασίας, σελίδα λεπτομερειών παραγγελίας, και κεντρικό dashboard στο index.php. Όλες οι αλληλεπιδράσεις με τη βάση γίνονται μέσω PDO prepared statements.</a:t>
            </a:r>
            <a:endParaRPr b="0" lang="en-US" sz="1400" spc="-1" strike="noStrike">
              <a:solidFill>
                <a:srgbClr val="000000"/>
              </a:solidFill>
              <a:latin typeface="Arial"/>
            </a:endParaRPr>
          </a:p>
        </p:txBody>
      </p:sp>
      <p:sp>
        <p:nvSpPr>
          <p:cNvPr id="237" name="PlaceHolder 3"/>
          <p:cNvSpPr>
            <a:spLocks noGrp="1"/>
          </p:cNvSpPr>
          <p:nvPr>
            <p:ph type="sldNum" idx="12"/>
          </p:nvPr>
        </p:nvSpPr>
        <p:spPr>
          <a:xfrm>
            <a:off x="3884760" y="8685360"/>
            <a:ext cx="2971080" cy="45648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7225527C-FBFF-4D55-B019-B4A1A49B68B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sldImg"/>
          </p:nvPr>
        </p:nvSpPr>
        <p:spPr>
          <a:xfrm>
            <a:off x="1143000" y="685800"/>
            <a:ext cx="4571280" cy="3428280"/>
          </a:xfrm>
          <a:prstGeom prst="rect">
            <a:avLst/>
          </a:prstGeom>
          <a:ln w="0">
            <a:noFill/>
          </a:ln>
        </p:spPr>
      </p:sp>
      <p:sp>
        <p:nvSpPr>
          <p:cNvPr id="239"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pPr marL="216000" indent="0">
              <a:lnSpc>
                <a:spcPct val="100000"/>
              </a:lnSpc>
              <a:buNone/>
              <a:tabLst>
                <a:tab algn="l" pos="0"/>
              </a:tabLst>
            </a:pPr>
            <a:r>
              <a:rPr b="0" lang="en-US" sz="1400" spc="-1" strike="noStrike">
                <a:solidFill>
                  <a:srgbClr val="000000"/>
                </a:solidFill>
                <a:latin typeface="Calibri"/>
              </a:rPr>
              <a:t>Η επιχείρηση έχει πέντε παραρτήματα: Θεσσαλονίκη, Ιωάννινα, Πάτρα, Αθήνα και Χανιά. Συνδέονται με πέντε WAN serial links σε διάταξη που σχηματίζει δακτύλιο με μια χορδή — εξασφαλίζεται έτσι εναλλακτική διαδρομή σε περίπτωση βλάβης σε ένα link. Κάθε παράρτημα έχει το δικό του LAN /24 και η δρομολόγηση μεταξύ τους γίνεται με OSPF area 0.</a:t>
            </a:r>
            <a:endParaRPr b="0" lang="en-US" sz="1400" spc="-1" strike="noStrike">
              <a:solidFill>
                <a:srgbClr val="000000"/>
              </a:solidFill>
              <a:latin typeface="Arial"/>
            </a:endParaRPr>
          </a:p>
        </p:txBody>
      </p:sp>
      <p:sp>
        <p:nvSpPr>
          <p:cNvPr id="240" name="PlaceHolder 3"/>
          <p:cNvSpPr>
            <a:spLocks noGrp="1"/>
          </p:cNvSpPr>
          <p:nvPr>
            <p:ph type="sldNum" idx="13"/>
          </p:nvPr>
        </p:nvSpPr>
        <p:spPr>
          <a:xfrm>
            <a:off x="3884760" y="8685360"/>
            <a:ext cx="2971080" cy="45648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8763471-0381-43BF-A67E-206AC685BE1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Img"/>
          </p:nvPr>
        </p:nvSpPr>
        <p:spPr>
          <a:xfrm>
            <a:off x="1143000" y="685800"/>
            <a:ext cx="4571280" cy="3428280"/>
          </a:xfrm>
          <a:prstGeom prst="rect">
            <a:avLst/>
          </a:prstGeom>
          <a:ln w="0">
            <a:noFill/>
          </a:ln>
        </p:spPr>
      </p:sp>
      <p:sp>
        <p:nvSpPr>
          <p:cNvPr id="242"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pPr marL="216000" indent="0">
              <a:lnSpc>
                <a:spcPct val="100000"/>
              </a:lnSpc>
              <a:buNone/>
              <a:tabLst>
                <a:tab algn="l" pos="0"/>
              </a:tabLst>
            </a:pPr>
            <a:r>
              <a:rPr b="0" lang="en-US" sz="1400" spc="-1" strike="noStrike">
                <a:solidFill>
                  <a:srgbClr val="000000"/>
                </a:solidFill>
                <a:latin typeface="Calibri"/>
              </a:rPr>
              <a:t>Το σχέδιο διευθυνσιοδότησης χρησιμοποιεί τον χώρο 200.1.0.0/16. Κάθε παράρτημα παίρνει ένα /24 — πλάκα στους hosts, 254 διαθέσιμες διευθύνσεις. Κάθε WAN serial link χρησιμοποιεί μάσκα /30, δηλαδή μόνο δύο χρησιμοποιήσιμες διευθύνσεις, ακριβώς όσες χρειάζονται για τις δύο πλευρές του link. Έτσι αξιοποιούμε αποδοτικά τον χώρο διευθύνσεων.</a:t>
            </a:r>
            <a:endParaRPr b="0" lang="en-US" sz="1400" spc="-1" strike="noStrike">
              <a:solidFill>
                <a:srgbClr val="000000"/>
              </a:solidFill>
              <a:latin typeface="Arial"/>
            </a:endParaRPr>
          </a:p>
        </p:txBody>
      </p:sp>
      <p:sp>
        <p:nvSpPr>
          <p:cNvPr id="243" name="PlaceHolder 3"/>
          <p:cNvSpPr>
            <a:spLocks noGrp="1"/>
          </p:cNvSpPr>
          <p:nvPr>
            <p:ph type="sldNum" idx="14"/>
          </p:nvPr>
        </p:nvSpPr>
        <p:spPr>
          <a:xfrm>
            <a:off x="3884760" y="8685360"/>
            <a:ext cx="2971080" cy="45648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663D57FE-5AA5-4AA2-93F6-4EB3D052DB6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sldImg"/>
          </p:nvPr>
        </p:nvSpPr>
        <p:spPr>
          <a:xfrm>
            <a:off x="1143000" y="685800"/>
            <a:ext cx="4571280" cy="3428280"/>
          </a:xfrm>
          <a:prstGeom prst="rect">
            <a:avLst/>
          </a:prstGeom>
          <a:ln w="0">
            <a:noFill/>
          </a:ln>
        </p:spPr>
      </p:sp>
      <p:sp>
        <p:nvSpPr>
          <p:cNvPr id="245"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pPr marL="216000" indent="0">
              <a:lnSpc>
                <a:spcPct val="100000"/>
              </a:lnSpc>
              <a:buNone/>
              <a:tabLst>
                <a:tab algn="l" pos="0"/>
              </a:tabLst>
            </a:pPr>
            <a:r>
              <a:rPr b="0" lang="en-US" sz="1400" spc="-1" strike="noStrike">
                <a:solidFill>
                  <a:srgbClr val="000000"/>
                </a:solidFill>
                <a:latin typeface="Calibri"/>
              </a:rPr>
              <a:t>Σε κάθε παράρτημα σπάμε το /24 σε τρία VLAN /26: το VLAN 10 για το Λογιστήριο, το VLAN 20 για τη Διεύθυνση, και το VLAN 30 για τους Software Developers. Κάθε /26 χωράει έως 62 hosts, που είναι αρκετό για ένα τμήμα. Το VLAN segmentation μας δίνει διαχωρισμό broadcast domains και τη δυνατότητα να εφαρμόσουμε διαφορετικές πολιτικές πρόσβασης ανά τμήμα.</a:t>
            </a:r>
            <a:endParaRPr b="0" lang="en-US" sz="1400" spc="-1" strike="noStrike">
              <a:solidFill>
                <a:srgbClr val="000000"/>
              </a:solidFill>
              <a:latin typeface="Arial"/>
            </a:endParaRPr>
          </a:p>
        </p:txBody>
      </p:sp>
      <p:sp>
        <p:nvSpPr>
          <p:cNvPr id="246" name="PlaceHolder 3"/>
          <p:cNvSpPr>
            <a:spLocks noGrp="1"/>
          </p:cNvSpPr>
          <p:nvPr>
            <p:ph type="sldNum" idx="15"/>
          </p:nvPr>
        </p:nvSpPr>
        <p:spPr>
          <a:xfrm>
            <a:off x="3884760" y="8685360"/>
            <a:ext cx="2971080" cy="45648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A4FDEF28-3BFC-4D1D-80C6-7F6C703CCDA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sldImg"/>
          </p:nvPr>
        </p:nvSpPr>
        <p:spPr>
          <a:xfrm>
            <a:off x="1143000" y="685800"/>
            <a:ext cx="4571280" cy="3428280"/>
          </a:xfrm>
          <a:prstGeom prst="rect">
            <a:avLst/>
          </a:prstGeom>
          <a:ln w="0">
            <a:noFill/>
          </a:ln>
        </p:spPr>
      </p:sp>
      <p:sp>
        <p:nvSpPr>
          <p:cNvPr id="248"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pPr marL="216000" indent="0">
              <a:lnSpc>
                <a:spcPct val="100000"/>
              </a:lnSpc>
              <a:buNone/>
              <a:tabLst>
                <a:tab algn="l" pos="0"/>
              </a:tabLst>
            </a:pPr>
            <a:r>
              <a:rPr b="0" lang="en-US" sz="1400" spc="-1" strike="noStrike">
                <a:solidFill>
                  <a:srgbClr val="000000"/>
                </a:solidFill>
                <a:latin typeface="Calibri"/>
              </a:rPr>
              <a:t>Για τη δυναμική δρομολόγηση επέλεξα OSPF γιατί είναι ανοιχτό πρότυπο, όχι δεσμευμένο σε έναν κατασκευαστή. Είναι link-state, που σημαίνει ότι κάθε router χτίζει πλήρη χάρτη της τοπολογίας και τρέχει αλγόριθμο Dijkstra για βέλτιστα μονοπάτια. Απέρριψα το RIP λόγω του ορίου των 15 hops και της αργής σύγκλισης. Απέρριψα το EIGRP γιατί είναι Cisco-only. Με OSPF area 0, η σύγκλιση μετά από αλλαγή link γίνεται σε δευτερόλεπτα.</a:t>
            </a:r>
            <a:endParaRPr b="0" lang="en-US" sz="1400" spc="-1" strike="noStrike">
              <a:solidFill>
                <a:srgbClr val="000000"/>
              </a:solidFill>
              <a:latin typeface="Arial"/>
            </a:endParaRPr>
          </a:p>
        </p:txBody>
      </p:sp>
      <p:sp>
        <p:nvSpPr>
          <p:cNvPr id="249" name="PlaceHolder 3"/>
          <p:cNvSpPr>
            <a:spLocks noGrp="1"/>
          </p:cNvSpPr>
          <p:nvPr>
            <p:ph type="sldNum" idx="16"/>
          </p:nvPr>
        </p:nvSpPr>
        <p:spPr>
          <a:xfrm>
            <a:off x="3884760" y="8685360"/>
            <a:ext cx="2971080" cy="45648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C41EA83D-47E8-44F6-AE66-ABA7B05AEFC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sldImg"/>
          </p:nvPr>
        </p:nvSpPr>
        <p:spPr>
          <a:xfrm>
            <a:off x="1143000" y="685800"/>
            <a:ext cx="4571280" cy="3428280"/>
          </a:xfrm>
          <a:prstGeom prst="rect">
            <a:avLst/>
          </a:prstGeom>
          <a:ln w="0">
            <a:noFill/>
          </a:ln>
        </p:spPr>
      </p:sp>
      <p:sp>
        <p:nvSpPr>
          <p:cNvPr id="251"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pPr marL="216000" indent="0">
              <a:lnSpc>
                <a:spcPct val="100000"/>
              </a:lnSpc>
              <a:buNone/>
              <a:tabLst>
                <a:tab algn="l" pos="0"/>
              </a:tabLst>
            </a:pPr>
            <a:r>
              <a:rPr b="0" lang="en-US" sz="1400" spc="-1" strike="noStrike">
                <a:solidFill>
                  <a:srgbClr val="000000"/>
                </a:solidFill>
                <a:latin typeface="Calibri"/>
              </a:rPr>
              <a:t>Για τη δρομολόγηση μεταξύ των VLAN χρησιμοποίησα την τεχνική router-on-a-stick. Δηλαδή μία φυσική θύρα στον router διαιρείται σε τρία subinterfaces, ένα ανά VLAN, με 802.1Q tagging για να ξεχωρίζουν τα frames. Πάνω από αυτό, εφάρμοσα μια εκτεταμένη ACL στον router της Αθήνας για να μπλοκάρω την κίνηση από τους Software Developers (VLAN 30) προς το Λογιστήριο (VLAN 10). Έτσι, ένα ping από PC του VLAN 30 προς PC του VLAN 10 αποτυγχάνει, ενώ προς άλλα τμήματα περνά κανονικά.</a:t>
            </a:r>
            <a:endParaRPr b="0" lang="en-US" sz="1400" spc="-1" strike="noStrike">
              <a:solidFill>
                <a:srgbClr val="000000"/>
              </a:solidFill>
              <a:latin typeface="Arial"/>
            </a:endParaRPr>
          </a:p>
        </p:txBody>
      </p:sp>
      <p:sp>
        <p:nvSpPr>
          <p:cNvPr id="252" name="PlaceHolder 3"/>
          <p:cNvSpPr>
            <a:spLocks noGrp="1"/>
          </p:cNvSpPr>
          <p:nvPr>
            <p:ph type="sldNum" idx="17"/>
          </p:nvPr>
        </p:nvSpPr>
        <p:spPr>
          <a:xfrm>
            <a:off x="3884760" y="8685360"/>
            <a:ext cx="2971080" cy="45648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363A5E1-F0D4-44E2-A27E-2AE00BCBF7C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sldImg"/>
          </p:nvPr>
        </p:nvSpPr>
        <p:spPr>
          <a:xfrm>
            <a:off x="1143000" y="685800"/>
            <a:ext cx="4571280" cy="3428280"/>
          </a:xfrm>
          <a:prstGeom prst="rect">
            <a:avLst/>
          </a:prstGeom>
          <a:ln w="0">
            <a:noFill/>
          </a:ln>
        </p:spPr>
      </p:sp>
      <p:sp>
        <p:nvSpPr>
          <p:cNvPr id="254"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pPr marL="216000" indent="0">
              <a:lnSpc>
                <a:spcPct val="100000"/>
              </a:lnSpc>
              <a:buNone/>
              <a:tabLst>
                <a:tab algn="l" pos="0"/>
              </a:tabLst>
            </a:pPr>
            <a:r>
              <a:rPr b="0" lang="en-US" sz="1400" spc="-1" strike="noStrike">
                <a:solidFill>
                  <a:srgbClr val="000000"/>
                </a:solidFill>
                <a:latin typeface="Calibri"/>
              </a:rPr>
              <a:t>Τέλος, οι τρεις θεωρητικές ερωτήσεις της εκφώνησης. Στο (α), πριν τα VLAN έχουμε 10 υποδίκτυα — 5 LAN και 5 WAN· μετά την εφαρμογή VLAN ανεβαίνουμε σε 20, καθώς κάθε /24 σπάει σε τρία /26 και προστίθεται το WAN. Στο (β), ένα /24 χωρά 254 hosts, ενώ τρία /26 δίνουν 62 hosts το καθένα — σύνολο 186 ωφέλιμοι ανά παράρτημα, λίγο λιγότεροι αλλά με segmentation. Στο (γ), για το /24 του παραρτήματος Θεσσαλονίκης η διεύθυνση δικτύου είναι η 200.1.80.0 και το broadcast η 200.1.80.255.</a:t>
            </a:r>
            <a:endParaRPr b="0" lang="en-US" sz="1400" spc="-1" strike="noStrike">
              <a:solidFill>
                <a:srgbClr val="000000"/>
              </a:solidFill>
              <a:latin typeface="Arial"/>
            </a:endParaRPr>
          </a:p>
        </p:txBody>
      </p:sp>
      <p:sp>
        <p:nvSpPr>
          <p:cNvPr id="255" name="PlaceHolder 3"/>
          <p:cNvSpPr>
            <a:spLocks noGrp="1"/>
          </p:cNvSpPr>
          <p:nvPr>
            <p:ph type="sldNum" idx="18"/>
          </p:nvPr>
        </p:nvSpPr>
        <p:spPr>
          <a:xfrm>
            <a:off x="3884760" y="8685360"/>
            <a:ext cx="2971080" cy="45648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FC5F03F-CC5D-4047-8834-0F338C55537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sldImg"/>
          </p:nvPr>
        </p:nvSpPr>
        <p:spPr>
          <a:xfrm>
            <a:off x="1143000" y="685800"/>
            <a:ext cx="4571280" cy="3428280"/>
          </a:xfrm>
          <a:prstGeom prst="rect">
            <a:avLst/>
          </a:prstGeom>
          <a:ln w="0">
            <a:noFill/>
          </a:ln>
        </p:spPr>
      </p:sp>
      <p:sp>
        <p:nvSpPr>
          <p:cNvPr id="257"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pPr marL="216000" indent="0">
              <a:lnSpc>
                <a:spcPct val="100000"/>
              </a:lnSpc>
              <a:buNone/>
              <a:tabLst>
                <a:tab algn="l" pos="0"/>
              </a:tabLst>
            </a:pPr>
            <a:r>
              <a:rPr b="0" lang="en-US" sz="1400" spc="-1" strike="noStrike">
                <a:solidFill>
                  <a:srgbClr val="000000"/>
                </a:solidFill>
                <a:latin typeface="Calibri"/>
              </a:rPr>
              <a:t>Συνοψίζοντας: παρέδωσα μια ολοκληρωμένη διαδικτυακή εφαρμογή σε PHP/MariaDB με επτά CRUD σελίδες, μια δικτυακή τοπολογία πέντε παραρτημάτων με OSPF και τρία VLAN ανά site υλοποιημένη σε Packet Tracer, και πολιτικές ασφαλείας με extended ACL. Ο κώδικας είναι διαθέσιμος στο αποθετήριο. Σας ευχαριστώ για την προσοχή σας — είμαι έτοιμη για ερωτήσεις.</a:t>
            </a:r>
            <a:endParaRPr b="0" lang="en-US" sz="1400" spc="-1" strike="noStrike">
              <a:solidFill>
                <a:srgbClr val="000000"/>
              </a:solidFill>
              <a:latin typeface="Arial"/>
            </a:endParaRPr>
          </a:p>
        </p:txBody>
      </p:sp>
      <p:sp>
        <p:nvSpPr>
          <p:cNvPr id="258" name="PlaceHolder 3"/>
          <p:cNvSpPr>
            <a:spLocks noGrp="1"/>
          </p:cNvSpPr>
          <p:nvPr>
            <p:ph type="sldNum" idx="19"/>
          </p:nvPr>
        </p:nvSpPr>
        <p:spPr>
          <a:xfrm>
            <a:off x="3884760" y="8685360"/>
            <a:ext cx="2971080" cy="45648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D94DA575-426C-4D02-82AF-14D28848427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A7DA5779-D447-4836-914A-534ED04D4312}"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EB04F241-3FD9-4FBD-89CD-EA8975F4D81B}"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3DE66E1E-8B52-4F80-B670-51054BFC4408}"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2CEF1B10-D75F-4B5F-8357-6654FA75CDD8}"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EE36ACFE-0DB7-4836-B9A9-5F72E14C17A6}"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A1DF0679-EBE7-4271-A431-A433C83EADBA}"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5E8F783D-6A16-437D-8A86-598D6E2941DB}"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2DCDD6B7-A4CA-4C2A-9B9C-8EF64B1B23D5}"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F4BBBCFB-4C5A-4462-B350-8F728E4DBA60}"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7"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8"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57533188-2AA6-4366-8CD1-3E103062DEE1}"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62C53A5E-226F-4311-84BD-CBFA35ED43B0}" type="slidenum">
              <a:t>&lt;#&gt;</a:t>
            </a:fld>
          </a:p>
        </p:txBody>
      </p:sp>
      <p:sp>
        <p:nvSpPr>
          <p:cNvPr id="9" name="PlaceHolder 8"/>
          <p:cNvSpPr>
            <a:spLocks noGrp="1"/>
          </p:cNvSpPr>
          <p:nvPr>
            <p:ph type="dt" idx="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5"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6"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7"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8"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6B910EDD-7818-40DF-BF05-87C0747A0F4D}" type="slidenum">
              <a:t>&lt;#&gt;</a:t>
            </a:fld>
          </a:p>
        </p:txBody>
      </p:sp>
      <p:sp>
        <p:nvSpPr>
          <p:cNvPr id="11" name="PlaceHolder 10"/>
          <p:cNvSpPr>
            <a:spLocks noGrp="1"/>
          </p:cNvSpPr>
          <p:nvPr>
            <p:ph type="dt" idx="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ftr" idx="1"/>
          </p:nvPr>
        </p:nvSpPr>
        <p:spPr>
          <a:xfrm>
            <a:off x="3124080" y="6356520"/>
            <a:ext cx="2894760" cy="3643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 name="PlaceHolder 2"/>
          <p:cNvSpPr>
            <a:spLocks noGrp="1"/>
          </p:cNvSpPr>
          <p:nvPr>
            <p:ph type="sldNum" idx="2"/>
          </p:nvPr>
        </p:nvSpPr>
        <p:spPr>
          <a:xfrm>
            <a:off x="6553080" y="6356520"/>
            <a:ext cx="2133000" cy="36432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134EB365-5114-4695-BD5A-834201140C4D}"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2" name="PlaceHolder 3"/>
          <p:cNvSpPr>
            <a:spLocks noGrp="1"/>
          </p:cNvSpPr>
          <p:nvPr>
            <p:ph type="dt" idx="3"/>
          </p:nvPr>
        </p:nvSpPr>
        <p:spPr>
          <a:xfrm>
            <a:off x="457200" y="6356520"/>
            <a:ext cx="2133000" cy="36432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Rectangle 1"/>
          <p:cNvSpPr/>
          <p:nvPr/>
        </p:nvSpPr>
        <p:spPr>
          <a:xfrm>
            <a:off x="0" y="0"/>
            <a:ext cx="12191040" cy="365040"/>
          </a:xfrm>
          <a:prstGeom prst="rect">
            <a:avLst/>
          </a:prstGeom>
          <a:solidFill>
            <a:srgbClr val="1a4f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a typeface="DejaVu Sans"/>
            </a:endParaRPr>
          </a:p>
        </p:txBody>
      </p:sp>
      <p:sp>
        <p:nvSpPr>
          <p:cNvPr id="48" name="TextBox 2"/>
          <p:cNvSpPr/>
          <p:nvPr/>
        </p:nvSpPr>
        <p:spPr>
          <a:xfrm>
            <a:off x="548640" y="2011680"/>
            <a:ext cx="11063520" cy="1430280"/>
          </a:xfrm>
          <a:prstGeom prst="rect">
            <a:avLst/>
          </a:prstGeom>
          <a:noFill/>
          <a:ln w="0">
            <a:noFill/>
          </a:ln>
        </p:spPr>
        <p:style>
          <a:lnRef idx="0"/>
          <a:fillRef idx="0"/>
          <a:effectRef idx="0"/>
          <a:fontRef idx="minor"/>
        </p:style>
        <p:txBody>
          <a:bodyPr lIns="0" rIns="90000" tIns="45000" bIns="45000" anchor="t">
            <a:spAutoFit/>
          </a:bodyPr>
          <a:p>
            <a:pPr>
              <a:lnSpc>
                <a:spcPct val="100000"/>
              </a:lnSpc>
            </a:pPr>
            <a:r>
              <a:rPr b="1" lang="en-US" sz="4400" spc="-1" strike="noStrike">
                <a:solidFill>
                  <a:srgbClr val="1a4f8a"/>
                </a:solidFill>
                <a:latin typeface="Calibri"/>
                <a:ea typeface="DejaVu Sans"/>
              </a:rPr>
              <a:t>Σύστημα Διαχείρισης Παραγγελιών</a:t>
            </a:r>
            <a:endParaRPr b="0" lang="en-US" sz="4400" spc="-1" strike="noStrike">
              <a:solidFill>
                <a:srgbClr val="000000"/>
              </a:solidFill>
              <a:latin typeface="Arial"/>
            </a:endParaRPr>
          </a:p>
          <a:p>
            <a:pPr algn="ctr">
              <a:lnSpc>
                <a:spcPct val="100000"/>
              </a:lnSpc>
            </a:pPr>
            <a:r>
              <a:rPr b="1" lang="en-US" sz="4400" spc="-1" strike="noStrike">
                <a:solidFill>
                  <a:srgbClr val="1a4f8a"/>
                </a:solidFill>
                <a:latin typeface="Calibri"/>
                <a:ea typeface="DejaVu Sans"/>
              </a:rPr>
              <a:t>+ Δίκτυο 5 παραρτημάτων</a:t>
            </a:r>
            <a:endParaRPr b="0" lang="en-US" sz="4400" spc="-1" strike="noStrike">
              <a:solidFill>
                <a:srgbClr val="000000"/>
              </a:solidFill>
              <a:latin typeface="Arial"/>
            </a:endParaRPr>
          </a:p>
        </p:txBody>
      </p:sp>
      <p:sp>
        <p:nvSpPr>
          <p:cNvPr id="49" name="TextBox 3"/>
          <p:cNvSpPr/>
          <p:nvPr/>
        </p:nvSpPr>
        <p:spPr>
          <a:xfrm>
            <a:off x="548640" y="3931920"/>
            <a:ext cx="11063520" cy="455400"/>
          </a:xfrm>
          <a:prstGeom prst="rect">
            <a:avLst/>
          </a:prstGeom>
          <a:noFill/>
          <a:ln w="0">
            <a:noFill/>
          </a:ln>
        </p:spPr>
        <p:style>
          <a:lnRef idx="0"/>
          <a:fillRef idx="0"/>
          <a:effectRef idx="0"/>
          <a:fontRef idx="minor"/>
        </p:style>
        <p:txBody>
          <a:bodyPr lIns="0" rIns="90000" tIns="45000" bIns="45000" anchor="t">
            <a:spAutoFit/>
          </a:bodyPr>
          <a:p>
            <a:pPr algn="ctr">
              <a:lnSpc>
                <a:spcPct val="100000"/>
              </a:lnSpc>
            </a:pPr>
            <a:r>
              <a:rPr b="0" lang="en-US" sz="2400" spc="-1" strike="noStrike">
                <a:solidFill>
                  <a:srgbClr val="22272e"/>
                </a:solidFill>
                <a:latin typeface="Calibri"/>
                <a:ea typeface="DejaVu Sans"/>
              </a:rPr>
              <a:t>Απαλλακτική Εργασία — Τεχνολογία Διαδικτύου στην Ψηφιακή Βιομηχανία</a:t>
            </a:r>
            <a:endParaRPr b="0" lang="en-US" sz="2400" spc="-1" strike="noStrike">
              <a:solidFill>
                <a:srgbClr val="000000"/>
              </a:solidFill>
              <a:latin typeface="Arial"/>
            </a:endParaRPr>
          </a:p>
        </p:txBody>
      </p:sp>
      <p:sp>
        <p:nvSpPr>
          <p:cNvPr id="50" name="TextBox 4"/>
          <p:cNvSpPr/>
          <p:nvPr/>
        </p:nvSpPr>
        <p:spPr>
          <a:xfrm>
            <a:off x="548640" y="4846320"/>
            <a:ext cx="11063520" cy="363960"/>
          </a:xfrm>
          <a:prstGeom prst="rect">
            <a:avLst/>
          </a:prstGeom>
          <a:noFill/>
          <a:ln w="0">
            <a:noFill/>
          </a:ln>
        </p:spPr>
        <p:style>
          <a:lnRef idx="0"/>
          <a:fillRef idx="0"/>
          <a:effectRef idx="0"/>
          <a:fontRef idx="minor"/>
        </p:style>
        <p:txBody>
          <a:bodyPr lIns="0" rIns="90000" tIns="45000" bIns="45000" anchor="t">
            <a:spAutoFit/>
          </a:bodyPr>
          <a:p>
            <a:pPr algn="ctr">
              <a:lnSpc>
                <a:spcPct val="100000"/>
              </a:lnSpc>
            </a:pPr>
            <a:r>
              <a:rPr b="0" lang="en-US" sz="1800" spc="-1" strike="noStrike">
                <a:solidFill>
                  <a:srgbClr val="22272e"/>
                </a:solidFill>
                <a:latin typeface="Calibri"/>
                <a:ea typeface="DejaVu Sans"/>
              </a:rPr>
              <a:t>Ελένη Βασιλική Διαμάντη — Α.Μ. 19389308</a:t>
            </a:r>
            <a:endParaRPr b="0" lang="en-US" sz="1800" spc="-1" strike="noStrike">
              <a:solidFill>
                <a:srgbClr val="000000"/>
              </a:solidFill>
              <a:latin typeface="Arial"/>
            </a:endParaRPr>
          </a:p>
        </p:txBody>
      </p:sp>
      <p:sp>
        <p:nvSpPr>
          <p:cNvPr id="51" name="TextBox 5"/>
          <p:cNvSpPr/>
          <p:nvPr/>
        </p:nvSpPr>
        <p:spPr>
          <a:xfrm>
            <a:off x="548640" y="5349240"/>
            <a:ext cx="11063520" cy="333000"/>
          </a:xfrm>
          <a:prstGeom prst="rect">
            <a:avLst/>
          </a:prstGeom>
          <a:noFill/>
          <a:ln w="0">
            <a:noFill/>
          </a:ln>
        </p:spPr>
        <p:style>
          <a:lnRef idx="0"/>
          <a:fillRef idx="0"/>
          <a:effectRef idx="0"/>
          <a:fontRef idx="minor"/>
        </p:style>
        <p:txBody>
          <a:bodyPr lIns="0" rIns="90000" tIns="45000" bIns="45000" anchor="t">
            <a:spAutoFit/>
          </a:bodyPr>
          <a:p>
            <a:pPr algn="ctr">
              <a:lnSpc>
                <a:spcPct val="100000"/>
              </a:lnSpc>
            </a:pPr>
            <a:r>
              <a:rPr b="0" lang="en-US" sz="1600" spc="-1" strike="noStrike">
                <a:solidFill>
                  <a:srgbClr val="6a737d"/>
                </a:solidFill>
                <a:latin typeface="Calibri"/>
                <a:ea typeface="DejaVu Sans"/>
              </a:rPr>
              <a:t>Διδάσκων: Δρ. Μιχάλης Ξευγένης · 4 Ιουνίου 2026</a:t>
            </a:r>
            <a:endParaRPr b="0" lang="en-US" sz="1600" spc="-1" strike="noStrike">
              <a:solidFill>
                <a:srgbClr val="000000"/>
              </a:solidFill>
              <a:latin typeface="Arial"/>
            </a:endParaRPr>
          </a:p>
        </p:txBody>
      </p:sp>
      <p:sp>
        <p:nvSpPr>
          <p:cNvPr id="52" name="Rectangle 6"/>
          <p:cNvSpPr/>
          <p:nvPr/>
        </p:nvSpPr>
        <p:spPr>
          <a:xfrm>
            <a:off x="0" y="6492240"/>
            <a:ext cx="12191040" cy="365040"/>
          </a:xfrm>
          <a:prstGeom prst="rect">
            <a:avLst/>
          </a:prstGeom>
          <a:solidFill>
            <a:srgbClr val="1a4f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a typeface="DejaVu Sans"/>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TextBox 1"/>
          <p:cNvSpPr/>
          <p:nvPr/>
        </p:nvSpPr>
        <p:spPr>
          <a:xfrm>
            <a:off x="457200" y="228600"/>
            <a:ext cx="11246400" cy="54864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3600" spc="-1" strike="noStrike">
                <a:solidFill>
                  <a:srgbClr val="1a4f8a"/>
                </a:solidFill>
                <a:latin typeface="Calibri"/>
                <a:ea typeface="DejaVu Sans"/>
              </a:rPr>
              <a:t>Στόχος εργασίας</a:t>
            </a:r>
            <a:endParaRPr b="0" lang="en-US" sz="3600" spc="-1" strike="noStrike">
              <a:solidFill>
                <a:srgbClr val="000000"/>
              </a:solidFill>
              <a:latin typeface="Arial"/>
            </a:endParaRPr>
          </a:p>
        </p:txBody>
      </p:sp>
      <p:sp>
        <p:nvSpPr>
          <p:cNvPr id="54" name="Rectangle 2"/>
          <p:cNvSpPr/>
          <p:nvPr/>
        </p:nvSpPr>
        <p:spPr>
          <a:xfrm>
            <a:off x="457200" y="1005840"/>
            <a:ext cx="11246400" cy="19440"/>
          </a:xfrm>
          <a:prstGeom prst="rect">
            <a:avLst/>
          </a:prstGeom>
          <a:solidFill>
            <a:srgbClr val="1a4f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a:lnSpc>
                <a:spcPct val="100000"/>
              </a:lnSpc>
            </a:pPr>
            <a:endParaRPr b="0" lang="en-US" sz="1800" spc="-1" strike="noStrike">
              <a:solidFill>
                <a:schemeClr val="lt1"/>
              </a:solidFill>
              <a:latin typeface="Calibri"/>
              <a:ea typeface="DejaVu Sans"/>
            </a:endParaRPr>
          </a:p>
        </p:txBody>
      </p:sp>
      <p:sp>
        <p:nvSpPr>
          <p:cNvPr id="55" name="TextBox 3"/>
          <p:cNvSpPr/>
          <p:nvPr/>
        </p:nvSpPr>
        <p:spPr>
          <a:xfrm>
            <a:off x="731520" y="1554480"/>
            <a:ext cx="10697760" cy="19684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200" spc="-1" strike="noStrike">
                <a:solidFill>
                  <a:srgbClr val="22272e"/>
                </a:solidFill>
                <a:latin typeface="Calibri"/>
                <a:ea typeface="DejaVu Sans"/>
              </a:rPr>
              <a:t>• </a:t>
            </a:r>
            <a:r>
              <a:rPr b="1" lang="en-US" sz="2200" spc="-1" strike="noStrike">
                <a:solidFill>
                  <a:srgbClr val="22272e"/>
                </a:solidFill>
                <a:latin typeface="Calibri"/>
                <a:ea typeface="DejaVu Sans"/>
              </a:rPr>
              <a:t>1. Διαδικτυακή εφαρμογή PHP/MariaDB</a:t>
            </a:r>
            <a:r>
              <a:rPr b="0" lang="en-US" sz="2200" spc="-1" strike="noStrike">
                <a:solidFill>
                  <a:srgbClr val="22272e"/>
                </a:solidFill>
                <a:latin typeface="Calibri"/>
                <a:ea typeface="DejaVu Sans"/>
              </a:rPr>
              <a:t> — XAMPP, CRUD, 7 σελίδες, 4 πίνακες</a:t>
            </a:r>
            <a:endParaRPr b="0" lang="en-US" sz="2200" spc="-1" strike="noStrike">
              <a:solidFill>
                <a:srgbClr val="000000"/>
              </a:solidFill>
              <a:latin typeface="Arial"/>
            </a:endParaRPr>
          </a:p>
          <a:p>
            <a:pPr>
              <a:lnSpc>
                <a:spcPct val="100000"/>
              </a:lnSpc>
              <a:spcAft>
                <a:spcPts val="799"/>
              </a:spcAft>
            </a:pPr>
            <a:r>
              <a:rPr b="0" lang="en-US" sz="2200" spc="-1" strike="noStrike">
                <a:solidFill>
                  <a:srgbClr val="22272e"/>
                </a:solidFill>
                <a:latin typeface="Calibri"/>
                <a:ea typeface="DejaVu Sans"/>
              </a:rPr>
              <a:t>• </a:t>
            </a:r>
            <a:r>
              <a:rPr b="1" lang="en-US" sz="2200" spc="-1" strike="noStrike">
                <a:solidFill>
                  <a:srgbClr val="22272e"/>
                </a:solidFill>
                <a:latin typeface="Calibri"/>
                <a:ea typeface="DejaVu Sans"/>
              </a:rPr>
              <a:t>2. Δικτυακή τοπολογία 5 παραρτημάτων</a:t>
            </a:r>
            <a:r>
              <a:rPr b="0" lang="en-US" sz="2200" spc="-1" strike="noStrike">
                <a:solidFill>
                  <a:srgbClr val="22272e"/>
                </a:solidFill>
                <a:latin typeface="Calibri"/>
                <a:ea typeface="DejaVu Sans"/>
              </a:rPr>
              <a:t> — Cisco Packet Tracer, OSPF, VLANs, ACLs</a:t>
            </a:r>
            <a:endParaRPr b="0" lang="en-US" sz="2200" spc="-1" strike="noStrike">
              <a:solidFill>
                <a:srgbClr val="000000"/>
              </a:solidFill>
              <a:latin typeface="Arial"/>
            </a:endParaRPr>
          </a:p>
          <a:p>
            <a:pPr>
              <a:lnSpc>
                <a:spcPct val="100000"/>
              </a:lnSpc>
              <a:spcAft>
                <a:spcPts val="799"/>
              </a:spcAft>
            </a:pPr>
            <a:endParaRPr b="0" lang="en-US" sz="2200" spc="-1" strike="noStrike">
              <a:solidFill>
                <a:srgbClr val="000000"/>
              </a:solidFill>
              <a:latin typeface="Arial"/>
            </a:endParaRPr>
          </a:p>
        </p:txBody>
      </p:sp>
      <p:sp>
        <p:nvSpPr>
          <p:cNvPr id="56" name="TextBox 4"/>
          <p:cNvSpPr/>
          <p:nvPr/>
        </p:nvSpPr>
        <p:spPr>
          <a:xfrm>
            <a:off x="731520" y="5120640"/>
            <a:ext cx="10697760" cy="333000"/>
          </a:xfrm>
          <a:prstGeom prst="rect">
            <a:avLst/>
          </a:prstGeom>
          <a:noFill/>
          <a:ln w="0">
            <a:noFill/>
          </a:ln>
        </p:spPr>
        <p:style>
          <a:lnRef idx="0"/>
          <a:fillRef idx="0"/>
          <a:effectRef idx="0"/>
          <a:fontRef idx="minor"/>
        </p:style>
        <p:txBody>
          <a:bodyPr lIns="0" rIns="90000" tIns="45000" bIns="45000" anchor="t">
            <a:spAutoFit/>
          </a:bodyPr>
          <a:p>
            <a:pPr>
              <a:lnSpc>
                <a:spcPct val="100000"/>
              </a:lnSpc>
            </a:pPr>
            <a:r>
              <a:rPr b="0" lang="en-US" sz="1600" spc="-1" strike="noStrike">
                <a:solidFill>
                  <a:srgbClr val="6a737d"/>
                </a:solidFill>
                <a:latin typeface="Calibri"/>
                <a:ea typeface="DejaVu Sans"/>
              </a:rPr>
              <a:t>Τρία αλληλένδετα παραδοτέα — μία ολοκληρωμένη τεχνολογική λύση.</a:t>
            </a:r>
            <a:endParaRPr b="0" lang="en-US" sz="1600" spc="-1" strike="noStrike">
              <a:solidFill>
                <a:srgbClr val="000000"/>
              </a:solidFill>
              <a:latin typeface="Arial"/>
            </a:endParaRPr>
          </a:p>
        </p:txBody>
      </p:sp>
      <p:sp>
        <p:nvSpPr>
          <p:cNvPr id="57" name="TextBox 5"/>
          <p:cNvSpPr/>
          <p:nvPr/>
        </p:nvSpPr>
        <p:spPr>
          <a:xfrm>
            <a:off x="1097280" y="6446520"/>
            <a:ext cx="547920" cy="2570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100" spc="-1" strike="noStrike">
                <a:solidFill>
                  <a:srgbClr val="6a737d"/>
                </a:solidFill>
                <a:latin typeface="Calibri"/>
                <a:ea typeface="DejaVu Sans"/>
              </a:rPr>
              <a:t>2 / 13</a:t>
            </a:r>
            <a:endParaRPr b="0" lang="en-US" sz="1100" spc="-1" strike="noStrike">
              <a:solidFill>
                <a:srgbClr val="000000"/>
              </a:solidFill>
              <a:latin typeface="Arial"/>
            </a:endParaRPr>
          </a:p>
        </p:txBody>
      </p:sp>
      <p:sp>
        <p:nvSpPr>
          <p:cNvPr id="58" name="TextBox 6"/>
          <p:cNvSpPr/>
          <p:nvPr/>
        </p:nvSpPr>
        <p:spPr>
          <a:xfrm>
            <a:off x="8199720" y="6446520"/>
            <a:ext cx="2619000" cy="25704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1100" spc="-1" strike="noStrike">
                <a:solidFill>
                  <a:srgbClr val="6a737d"/>
                </a:solidFill>
                <a:latin typeface="Calibri"/>
                <a:ea typeface="DejaVu Sans"/>
              </a:rPr>
              <a:t>Διαμάντη ΑΜ 19389308 · 4 Ιουν 2026</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TextBox 1"/>
          <p:cNvSpPr/>
          <p:nvPr/>
        </p:nvSpPr>
        <p:spPr>
          <a:xfrm>
            <a:off x="457200" y="228600"/>
            <a:ext cx="11246400" cy="54864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3600" spc="-1" strike="noStrike">
                <a:solidFill>
                  <a:srgbClr val="2a7a32"/>
                </a:solidFill>
                <a:latin typeface="Calibri"/>
                <a:ea typeface="DejaVu Sans"/>
              </a:rPr>
              <a:t>Σενάριο εφαρμογής</a:t>
            </a:r>
            <a:endParaRPr b="0" lang="en-US" sz="3600" spc="-1" strike="noStrike">
              <a:solidFill>
                <a:srgbClr val="000000"/>
              </a:solidFill>
              <a:latin typeface="Arial"/>
            </a:endParaRPr>
          </a:p>
        </p:txBody>
      </p:sp>
      <p:sp>
        <p:nvSpPr>
          <p:cNvPr id="60" name="Rectangle 2"/>
          <p:cNvSpPr/>
          <p:nvPr/>
        </p:nvSpPr>
        <p:spPr>
          <a:xfrm>
            <a:off x="457200" y="1005840"/>
            <a:ext cx="11246400" cy="19440"/>
          </a:xfrm>
          <a:prstGeom prst="rect">
            <a:avLst/>
          </a:prstGeom>
          <a:solidFill>
            <a:srgbClr val="2a7a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a:lnSpc>
                <a:spcPct val="100000"/>
              </a:lnSpc>
            </a:pPr>
            <a:endParaRPr b="0" lang="en-US" sz="1800" spc="-1" strike="noStrike">
              <a:solidFill>
                <a:schemeClr val="lt1"/>
              </a:solidFill>
              <a:latin typeface="Calibri"/>
              <a:ea typeface="DejaVu Sans"/>
            </a:endParaRPr>
          </a:p>
        </p:txBody>
      </p:sp>
      <p:sp>
        <p:nvSpPr>
          <p:cNvPr id="61" name="TextBox 3"/>
          <p:cNvSpPr/>
          <p:nvPr/>
        </p:nvSpPr>
        <p:spPr>
          <a:xfrm>
            <a:off x="731520" y="1554480"/>
            <a:ext cx="6857280" cy="222372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000" spc="-1" strike="noStrike">
                <a:solidFill>
                  <a:srgbClr val="22272e"/>
                </a:solidFill>
                <a:latin typeface="Calibri"/>
                <a:ea typeface="DejaVu Sans"/>
              </a:rPr>
              <a:t>• </a:t>
            </a:r>
            <a:r>
              <a:rPr b="0" lang="en-US" sz="2000" spc="-1" strike="noStrike">
                <a:solidFill>
                  <a:srgbClr val="22272e"/>
                </a:solidFill>
                <a:latin typeface="Calibri"/>
                <a:ea typeface="DejaVu Sans"/>
              </a:rPr>
              <a:t>Μικρή επιχείρηση ηλεκτρονικών ειδών</a:t>
            </a:r>
            <a:endParaRPr b="0" lang="en-US" sz="2000" spc="-1" strike="noStrike">
              <a:solidFill>
                <a:srgbClr val="000000"/>
              </a:solidFill>
              <a:latin typeface="Arial"/>
            </a:endParaRPr>
          </a:p>
          <a:p>
            <a:pPr>
              <a:lnSpc>
                <a:spcPct val="100000"/>
              </a:lnSpc>
              <a:spcAft>
                <a:spcPts val="799"/>
              </a:spcAft>
            </a:pPr>
            <a:r>
              <a:rPr b="0" lang="en-US" sz="2000" spc="-1" strike="noStrike">
                <a:solidFill>
                  <a:srgbClr val="22272e"/>
                </a:solidFill>
                <a:latin typeface="Calibri"/>
                <a:ea typeface="DejaVu Sans"/>
              </a:rPr>
              <a:t>• </a:t>
            </a:r>
            <a:r>
              <a:rPr b="0" lang="en-US" sz="2000" spc="-1" strike="noStrike">
                <a:solidFill>
                  <a:srgbClr val="22272e"/>
                </a:solidFill>
                <a:latin typeface="Calibri"/>
                <a:ea typeface="DejaVu Sans"/>
              </a:rPr>
              <a:t>Διαχείριση παραγγελιών: πελάτες → προϊόντα → παραγγελίες → γραμμές</a:t>
            </a:r>
            <a:endParaRPr b="0" lang="en-US" sz="2000" spc="-1" strike="noStrike">
              <a:solidFill>
                <a:srgbClr val="000000"/>
              </a:solidFill>
              <a:latin typeface="Arial"/>
            </a:endParaRPr>
          </a:p>
          <a:p>
            <a:pPr>
              <a:lnSpc>
                <a:spcPct val="100000"/>
              </a:lnSpc>
              <a:spcAft>
                <a:spcPts val="799"/>
              </a:spcAft>
            </a:pPr>
            <a:r>
              <a:rPr b="0" lang="en-US" sz="2000" spc="-1" strike="noStrike">
                <a:solidFill>
                  <a:srgbClr val="22272e"/>
                </a:solidFill>
                <a:latin typeface="Calibri"/>
                <a:ea typeface="DejaVu Sans"/>
              </a:rPr>
              <a:t>• </a:t>
            </a:r>
            <a:r>
              <a:rPr b="0" lang="en-US" sz="2000" spc="-1" strike="noStrike">
                <a:solidFill>
                  <a:srgbClr val="22272e"/>
                </a:solidFill>
                <a:latin typeface="Calibri"/>
                <a:ea typeface="DejaVu Sans"/>
              </a:rPr>
              <a:t>Snapshot τιμής στη γραμμή παραγγελίας (διατήρηση ιστορικού)</a:t>
            </a:r>
            <a:endParaRPr b="0" lang="en-US" sz="2000" spc="-1" strike="noStrike">
              <a:solidFill>
                <a:srgbClr val="000000"/>
              </a:solidFill>
              <a:latin typeface="Arial"/>
            </a:endParaRPr>
          </a:p>
          <a:p>
            <a:pPr>
              <a:lnSpc>
                <a:spcPct val="100000"/>
              </a:lnSpc>
              <a:spcAft>
                <a:spcPts val="799"/>
              </a:spcAft>
            </a:pPr>
            <a:r>
              <a:rPr b="0" lang="en-US" sz="2000" spc="-1" strike="noStrike">
                <a:solidFill>
                  <a:srgbClr val="22272e"/>
                </a:solidFill>
                <a:latin typeface="Calibri"/>
                <a:ea typeface="DejaVu Sans"/>
              </a:rPr>
              <a:t>• </a:t>
            </a:r>
            <a:r>
              <a:rPr b="0" lang="en-US" sz="2000" spc="-1" strike="noStrike">
                <a:solidFill>
                  <a:srgbClr val="22272e"/>
                </a:solidFill>
                <a:latin typeface="Calibri"/>
                <a:ea typeface="DejaVu Sans"/>
              </a:rPr>
              <a:t>Χρήστης: υπάλληλος γραφείου (back-office)</a:t>
            </a:r>
            <a:endParaRPr b="0" lang="en-US" sz="2000" spc="-1" strike="noStrike">
              <a:solidFill>
                <a:srgbClr val="000000"/>
              </a:solidFill>
              <a:latin typeface="Arial"/>
            </a:endParaRPr>
          </a:p>
        </p:txBody>
      </p:sp>
      <p:sp>
        <p:nvSpPr>
          <p:cNvPr id="62" name="TextBox 5"/>
          <p:cNvSpPr/>
          <p:nvPr/>
        </p:nvSpPr>
        <p:spPr>
          <a:xfrm>
            <a:off x="1097280" y="6446520"/>
            <a:ext cx="547920" cy="2570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100" spc="-1" strike="noStrike">
                <a:solidFill>
                  <a:srgbClr val="6a737d"/>
                </a:solidFill>
                <a:latin typeface="Calibri"/>
                <a:ea typeface="DejaVu Sans"/>
              </a:rPr>
              <a:t>3 / 13</a:t>
            </a:r>
            <a:endParaRPr b="0" lang="en-US" sz="1100" spc="-1" strike="noStrike">
              <a:solidFill>
                <a:srgbClr val="000000"/>
              </a:solidFill>
              <a:latin typeface="Arial"/>
            </a:endParaRPr>
          </a:p>
        </p:txBody>
      </p:sp>
      <p:sp>
        <p:nvSpPr>
          <p:cNvPr id="63" name="TextBox 6"/>
          <p:cNvSpPr/>
          <p:nvPr/>
        </p:nvSpPr>
        <p:spPr>
          <a:xfrm>
            <a:off x="8199720" y="6446520"/>
            <a:ext cx="2619000" cy="25704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1100" spc="-1" strike="noStrike">
                <a:solidFill>
                  <a:srgbClr val="6a737d"/>
                </a:solidFill>
                <a:latin typeface="Calibri"/>
                <a:ea typeface="DejaVu Sans"/>
              </a:rPr>
              <a:t>Διαμάντη ΑΜ 19389308 · 4 Ιουν 2026</a:t>
            </a:r>
            <a:endParaRPr b="0" lang="en-US" sz="1100" spc="-1" strike="noStrike">
              <a:solidFill>
                <a:srgbClr val="000000"/>
              </a:solidFill>
              <a:latin typeface="Arial"/>
            </a:endParaRPr>
          </a:p>
        </p:txBody>
      </p:sp>
      <p:pic>
        <p:nvPicPr>
          <p:cNvPr id="64" name="Picture 64" descr="screenshot-dashboard.png"/>
          <p:cNvPicPr/>
          <p:nvPr/>
        </p:nvPicPr>
        <p:blipFill>
          <a:blip r:embed="rId1"/>
          <a:stretch/>
        </p:blipFill>
        <p:spPr>
          <a:xfrm>
            <a:off x="7589520" y="1371600"/>
            <a:ext cx="4388760" cy="227340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TextBox 1"/>
          <p:cNvSpPr/>
          <p:nvPr/>
        </p:nvSpPr>
        <p:spPr>
          <a:xfrm>
            <a:off x="457200" y="228600"/>
            <a:ext cx="11246400" cy="54864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3600" spc="-1" strike="noStrike">
                <a:solidFill>
                  <a:srgbClr val="1a4f8a"/>
                </a:solidFill>
                <a:latin typeface="Calibri"/>
                <a:ea typeface="DejaVu Sans"/>
              </a:rPr>
              <a:t>Αρχιτεκτονική 3-tier (client–server)</a:t>
            </a:r>
            <a:endParaRPr b="0" lang="en-US" sz="3600" spc="-1" strike="noStrike">
              <a:solidFill>
                <a:srgbClr val="000000"/>
              </a:solidFill>
              <a:latin typeface="Arial"/>
            </a:endParaRPr>
          </a:p>
        </p:txBody>
      </p:sp>
      <p:sp>
        <p:nvSpPr>
          <p:cNvPr id="66" name="Rectangle 2"/>
          <p:cNvSpPr/>
          <p:nvPr/>
        </p:nvSpPr>
        <p:spPr>
          <a:xfrm>
            <a:off x="457200" y="1005840"/>
            <a:ext cx="11246400" cy="19440"/>
          </a:xfrm>
          <a:prstGeom prst="rect">
            <a:avLst/>
          </a:prstGeom>
          <a:solidFill>
            <a:srgbClr val="1a4f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a:lnSpc>
                <a:spcPct val="100000"/>
              </a:lnSpc>
            </a:pPr>
            <a:endParaRPr b="0" lang="en-US" sz="1800" spc="-1" strike="noStrike">
              <a:solidFill>
                <a:schemeClr val="lt1"/>
              </a:solidFill>
              <a:latin typeface="Calibri"/>
              <a:ea typeface="DejaVu Sans"/>
            </a:endParaRPr>
          </a:p>
        </p:txBody>
      </p:sp>
      <p:sp>
        <p:nvSpPr>
          <p:cNvPr id="67" name="TextBox 4"/>
          <p:cNvSpPr/>
          <p:nvPr/>
        </p:nvSpPr>
        <p:spPr>
          <a:xfrm>
            <a:off x="731520" y="5715000"/>
            <a:ext cx="10697760" cy="363960"/>
          </a:xfrm>
          <a:prstGeom prst="rect">
            <a:avLst/>
          </a:prstGeom>
          <a:noFill/>
          <a:ln w="0">
            <a:noFill/>
          </a:ln>
        </p:spPr>
        <p:style>
          <a:lnRef idx="0"/>
          <a:fillRef idx="0"/>
          <a:effectRef idx="0"/>
          <a:fontRef idx="minor"/>
        </p:style>
        <p:txBody>
          <a:bodyPr lIns="0" rIns="90000" tIns="45000" bIns="45000" anchor="t">
            <a:spAutoFit/>
          </a:bodyPr>
          <a:p>
            <a:pPr algn="ctr">
              <a:lnSpc>
                <a:spcPct val="100000"/>
              </a:lnSpc>
            </a:pPr>
            <a:r>
              <a:rPr b="1" lang="en-US" sz="1800" spc="-1" strike="noStrike">
                <a:solidFill>
                  <a:srgbClr val="22272e"/>
                </a:solidFill>
                <a:latin typeface="Calibri"/>
                <a:ea typeface="DejaVu Sans"/>
              </a:rPr>
              <a:t>Browser → Apache → PHP (PDO) → MariaDB · prepared statements παντού</a:t>
            </a:r>
            <a:endParaRPr b="0" lang="en-US" sz="1800" spc="-1" strike="noStrike">
              <a:solidFill>
                <a:srgbClr val="000000"/>
              </a:solidFill>
              <a:latin typeface="Arial"/>
            </a:endParaRPr>
          </a:p>
        </p:txBody>
      </p:sp>
      <p:sp>
        <p:nvSpPr>
          <p:cNvPr id="68" name="TextBox 5"/>
          <p:cNvSpPr/>
          <p:nvPr/>
        </p:nvSpPr>
        <p:spPr>
          <a:xfrm>
            <a:off x="1097280" y="6446520"/>
            <a:ext cx="547920" cy="2570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100" spc="-1" strike="noStrike">
                <a:solidFill>
                  <a:srgbClr val="6a737d"/>
                </a:solidFill>
                <a:latin typeface="Calibri"/>
                <a:ea typeface="DejaVu Sans"/>
              </a:rPr>
              <a:t>4 / 13</a:t>
            </a:r>
            <a:endParaRPr b="0" lang="en-US" sz="1100" spc="-1" strike="noStrike">
              <a:solidFill>
                <a:srgbClr val="000000"/>
              </a:solidFill>
              <a:latin typeface="Arial"/>
            </a:endParaRPr>
          </a:p>
        </p:txBody>
      </p:sp>
      <p:sp>
        <p:nvSpPr>
          <p:cNvPr id="69" name="TextBox 6"/>
          <p:cNvSpPr/>
          <p:nvPr/>
        </p:nvSpPr>
        <p:spPr>
          <a:xfrm>
            <a:off x="8199720" y="6446520"/>
            <a:ext cx="2619000" cy="25704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1100" spc="-1" strike="noStrike">
                <a:solidFill>
                  <a:srgbClr val="6a737d"/>
                </a:solidFill>
                <a:latin typeface="Calibri"/>
                <a:ea typeface="DejaVu Sans"/>
              </a:rPr>
              <a:t>Διαμάντη ΑΜ 19389308 · 4 Ιουν 2026</a:t>
            </a:r>
            <a:endParaRPr b="0" lang="en-US" sz="1100" spc="-1" strike="noStrike">
              <a:solidFill>
                <a:srgbClr val="000000"/>
              </a:solidFill>
              <a:latin typeface="Arial"/>
            </a:endParaRPr>
          </a:p>
        </p:txBody>
      </p:sp>
      <p:sp>
        <p:nvSpPr>
          <p:cNvPr id="70" name="Rounded Rectangle 70"/>
          <p:cNvSpPr/>
          <p:nvPr/>
        </p:nvSpPr>
        <p:spPr>
          <a:xfrm>
            <a:off x="499320" y="2331720"/>
            <a:ext cx="2422800" cy="2605680"/>
          </a:xfrm>
          <a:prstGeom prst="roundRect">
            <a:avLst>
              <a:gd name="adj" fmla="val 10000"/>
            </a:avLst>
          </a:prstGeom>
          <a:solidFill>
            <a:srgbClr val="cfe7d1"/>
          </a:solidFill>
          <a:ln w="31750">
            <a:solidFill>
              <a:srgbClr val="2a7a32"/>
            </a:solidFill>
          </a:ln>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2200" spc="-1" strike="noStrike">
                <a:solidFill>
                  <a:srgbClr val="2a7a32"/>
                </a:solidFill>
                <a:latin typeface="Arial"/>
                <a:ea typeface="DejaVu Sans"/>
              </a:rPr>
              <a:t>Browser</a:t>
            </a:r>
            <a:endParaRPr b="0" lang="en-US" sz="2200" spc="-1" strike="noStrike">
              <a:solidFill>
                <a:srgbClr val="000000"/>
              </a:solidFill>
              <a:latin typeface="Arial"/>
            </a:endParaRPr>
          </a:p>
          <a:p>
            <a:pPr algn="ctr">
              <a:lnSpc>
                <a:spcPct val="100000"/>
              </a:lnSpc>
            </a:pPr>
            <a:r>
              <a:rPr b="0" lang="en-US" sz="1400" spc="-1" strike="noStrike">
                <a:solidFill>
                  <a:srgbClr val="333333"/>
                </a:solidFill>
                <a:latin typeface="Arial"/>
                <a:ea typeface="DejaVu Sans"/>
              </a:rPr>
              <a:t>Chrome / Firefox</a:t>
            </a:r>
            <a:endParaRPr b="0" lang="en-US" sz="1400" spc="-1" strike="noStrike">
              <a:solidFill>
                <a:srgbClr val="000000"/>
              </a:solidFill>
              <a:latin typeface="Arial"/>
            </a:endParaRPr>
          </a:p>
          <a:p>
            <a:pPr algn="ctr">
              <a:lnSpc>
                <a:spcPct val="100000"/>
              </a:lnSpc>
            </a:pPr>
            <a:r>
              <a:rPr b="0" lang="en-US" sz="1400" spc="-1" strike="noStrike">
                <a:solidFill>
                  <a:srgbClr val="333333"/>
                </a:solidFill>
                <a:latin typeface="Arial"/>
                <a:ea typeface="DejaVu Sans"/>
              </a:rPr>
              <a:t>HTML5 + CSS</a:t>
            </a:r>
            <a:endParaRPr b="0" lang="en-US" sz="1400" spc="-1" strike="noStrike">
              <a:solidFill>
                <a:srgbClr val="000000"/>
              </a:solidFill>
              <a:latin typeface="Arial"/>
            </a:endParaRPr>
          </a:p>
        </p:txBody>
      </p:sp>
      <p:sp>
        <p:nvSpPr>
          <p:cNvPr id="71" name="Rounded Rectangle 71"/>
          <p:cNvSpPr/>
          <p:nvPr/>
        </p:nvSpPr>
        <p:spPr>
          <a:xfrm>
            <a:off x="3421800" y="2331720"/>
            <a:ext cx="2422800" cy="2605680"/>
          </a:xfrm>
          <a:prstGeom prst="roundRect">
            <a:avLst>
              <a:gd name="adj" fmla="val 10000"/>
            </a:avLst>
          </a:prstGeom>
          <a:solidFill>
            <a:srgbClr val="cfe0f0"/>
          </a:solidFill>
          <a:ln w="31750">
            <a:solidFill>
              <a:srgbClr val="1a4f8a"/>
            </a:solidFill>
          </a:ln>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2200" spc="-1" strike="noStrike">
                <a:solidFill>
                  <a:srgbClr val="1a4f8a"/>
                </a:solidFill>
                <a:latin typeface="Arial"/>
                <a:ea typeface="DejaVu Sans"/>
              </a:rPr>
              <a:t>Apache</a:t>
            </a:r>
            <a:endParaRPr b="0" lang="en-US" sz="2200" spc="-1" strike="noStrike">
              <a:solidFill>
                <a:srgbClr val="000000"/>
              </a:solidFill>
              <a:latin typeface="Arial"/>
            </a:endParaRPr>
          </a:p>
          <a:p>
            <a:pPr algn="ctr">
              <a:lnSpc>
                <a:spcPct val="100000"/>
              </a:lnSpc>
            </a:pPr>
            <a:r>
              <a:rPr b="0" lang="en-US" sz="1400" spc="-1" strike="noStrike">
                <a:solidFill>
                  <a:srgbClr val="333333"/>
                </a:solidFill>
                <a:latin typeface="Arial"/>
                <a:ea typeface="DejaVu Sans"/>
              </a:rPr>
              <a:t>XAMPP web server</a:t>
            </a:r>
            <a:endParaRPr b="0" lang="en-US" sz="1400" spc="-1" strike="noStrike">
              <a:solidFill>
                <a:srgbClr val="000000"/>
              </a:solidFill>
              <a:latin typeface="Arial"/>
            </a:endParaRPr>
          </a:p>
          <a:p>
            <a:pPr algn="ctr">
              <a:lnSpc>
                <a:spcPct val="100000"/>
              </a:lnSpc>
            </a:pPr>
            <a:r>
              <a:rPr b="0" lang="en-US" sz="1400" spc="-1" strike="noStrike">
                <a:solidFill>
                  <a:srgbClr val="333333"/>
                </a:solidFill>
                <a:latin typeface="Arial"/>
                <a:ea typeface="DejaVu Sans"/>
              </a:rPr>
              <a:t>routing + στατικά</a:t>
            </a:r>
            <a:endParaRPr b="0" lang="en-US" sz="1400" spc="-1" strike="noStrike">
              <a:solidFill>
                <a:srgbClr val="000000"/>
              </a:solidFill>
              <a:latin typeface="Arial"/>
            </a:endParaRPr>
          </a:p>
        </p:txBody>
      </p:sp>
      <p:sp>
        <p:nvSpPr>
          <p:cNvPr id="72" name="Rounded Rectangle 72"/>
          <p:cNvSpPr/>
          <p:nvPr/>
        </p:nvSpPr>
        <p:spPr>
          <a:xfrm>
            <a:off x="6344280" y="2331720"/>
            <a:ext cx="2422800" cy="2605680"/>
          </a:xfrm>
          <a:prstGeom prst="roundRect">
            <a:avLst>
              <a:gd name="adj" fmla="val 10000"/>
            </a:avLst>
          </a:prstGeom>
          <a:solidFill>
            <a:srgbClr val="f9e0a8"/>
          </a:solidFill>
          <a:ln w="31750">
            <a:solidFill>
              <a:srgbClr val="a36a0d"/>
            </a:solidFill>
          </a:ln>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2200" spc="-1" strike="noStrike">
                <a:solidFill>
                  <a:srgbClr val="a36a0d"/>
                </a:solidFill>
                <a:latin typeface="Arial"/>
                <a:ea typeface="DejaVu Sans"/>
              </a:rPr>
              <a:t>PHP 8</a:t>
            </a:r>
            <a:endParaRPr b="0" lang="en-US" sz="2200" spc="-1" strike="noStrike">
              <a:solidFill>
                <a:srgbClr val="000000"/>
              </a:solidFill>
              <a:latin typeface="Arial"/>
            </a:endParaRPr>
          </a:p>
          <a:p>
            <a:pPr algn="ctr">
              <a:lnSpc>
                <a:spcPct val="100000"/>
              </a:lnSpc>
            </a:pPr>
            <a:r>
              <a:rPr b="0" lang="en-US" sz="1400" spc="-1" strike="noStrike">
                <a:solidFill>
                  <a:srgbClr val="333333"/>
                </a:solidFill>
                <a:latin typeface="Arial"/>
                <a:ea typeface="DejaVu Sans"/>
              </a:rPr>
              <a:t>Επιχειρ. λογική</a:t>
            </a:r>
            <a:endParaRPr b="0" lang="en-US" sz="1400" spc="-1" strike="noStrike">
              <a:solidFill>
                <a:srgbClr val="000000"/>
              </a:solidFill>
              <a:latin typeface="Arial"/>
            </a:endParaRPr>
          </a:p>
          <a:p>
            <a:pPr algn="ctr">
              <a:lnSpc>
                <a:spcPct val="100000"/>
              </a:lnSpc>
            </a:pPr>
            <a:r>
              <a:rPr b="0" lang="en-US" sz="1400" spc="-1" strike="noStrike">
                <a:solidFill>
                  <a:srgbClr val="333333"/>
                </a:solidFill>
                <a:latin typeface="Arial"/>
                <a:ea typeface="DejaVu Sans"/>
              </a:rPr>
              <a:t>PDO / CRUD</a:t>
            </a:r>
            <a:endParaRPr b="0" lang="en-US" sz="1400" spc="-1" strike="noStrike">
              <a:solidFill>
                <a:srgbClr val="000000"/>
              </a:solidFill>
              <a:latin typeface="Arial"/>
            </a:endParaRPr>
          </a:p>
        </p:txBody>
      </p:sp>
      <p:sp>
        <p:nvSpPr>
          <p:cNvPr id="73" name="Rounded Rectangle 73"/>
          <p:cNvSpPr/>
          <p:nvPr/>
        </p:nvSpPr>
        <p:spPr>
          <a:xfrm>
            <a:off x="9266400" y="2331720"/>
            <a:ext cx="2422800" cy="2605680"/>
          </a:xfrm>
          <a:prstGeom prst="roundRect">
            <a:avLst>
              <a:gd name="adj" fmla="val 10000"/>
            </a:avLst>
          </a:prstGeom>
          <a:solidFill>
            <a:srgbClr val="d8c9ee"/>
          </a:solidFill>
          <a:ln w="31750">
            <a:solidFill>
              <a:srgbClr val="5a2db0"/>
            </a:solidFill>
          </a:ln>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2200" spc="-1" strike="noStrike">
                <a:solidFill>
                  <a:srgbClr val="5a2db0"/>
                </a:solidFill>
                <a:latin typeface="Arial"/>
                <a:ea typeface="DejaVu Sans"/>
              </a:rPr>
              <a:t>MariaDB</a:t>
            </a:r>
            <a:endParaRPr b="0" lang="en-US" sz="2200" spc="-1" strike="noStrike">
              <a:solidFill>
                <a:srgbClr val="000000"/>
              </a:solidFill>
              <a:latin typeface="Arial"/>
            </a:endParaRPr>
          </a:p>
          <a:p>
            <a:pPr algn="ctr">
              <a:lnSpc>
                <a:spcPct val="100000"/>
              </a:lnSpc>
            </a:pPr>
            <a:r>
              <a:rPr b="0" lang="en-US" sz="1400" spc="-1" strike="noStrike">
                <a:solidFill>
                  <a:srgbClr val="333333"/>
                </a:solidFill>
                <a:latin typeface="Arial"/>
                <a:ea typeface="DejaVu Sans"/>
              </a:rPr>
              <a:t>Βάση papinet</a:t>
            </a:r>
            <a:endParaRPr b="0" lang="en-US" sz="1400" spc="-1" strike="noStrike">
              <a:solidFill>
                <a:srgbClr val="000000"/>
              </a:solidFill>
              <a:latin typeface="Arial"/>
            </a:endParaRPr>
          </a:p>
          <a:p>
            <a:pPr algn="ctr">
              <a:lnSpc>
                <a:spcPct val="100000"/>
              </a:lnSpc>
            </a:pPr>
            <a:r>
              <a:rPr b="0" lang="en-US" sz="1400" spc="-1" strike="noStrike">
                <a:solidFill>
                  <a:srgbClr val="333333"/>
                </a:solidFill>
                <a:latin typeface="Arial"/>
                <a:ea typeface="DejaVu Sans"/>
              </a:rPr>
              <a:t>4 πίνακες InnoDB</a:t>
            </a:r>
            <a:endParaRPr b="0" lang="en-US" sz="1400" spc="-1" strike="noStrike">
              <a:solidFill>
                <a:srgbClr val="000000"/>
              </a:solidFill>
              <a:latin typeface="Arial"/>
            </a:endParaRPr>
          </a:p>
        </p:txBody>
      </p:sp>
      <p:cxnSp>
        <p:nvCxnSpPr>
          <p:cNvPr id="74" name="Connector 74"/>
          <p:cNvCxnSpPr/>
          <p:nvPr/>
        </p:nvCxnSpPr>
        <p:spPr>
          <a:xfrm>
            <a:off x="2967840" y="3268800"/>
            <a:ext cx="408240" cy="360"/>
          </a:xfrm>
          <a:prstGeom prst="straightConnector1">
            <a:avLst/>
          </a:prstGeom>
          <a:ln w="25400">
            <a:solidFill>
              <a:srgbClr val="1a4f8a"/>
            </a:solidFill>
            <a:tailEnd len="med" type="triangle" w="med"/>
          </a:ln>
        </p:spPr>
      </p:cxnSp>
      <p:sp>
        <p:nvSpPr>
          <p:cNvPr id="75" name="TextBox 75"/>
          <p:cNvSpPr/>
          <p:nvPr/>
        </p:nvSpPr>
        <p:spPr>
          <a:xfrm>
            <a:off x="2257560" y="2765880"/>
            <a:ext cx="1828440" cy="218880"/>
          </a:xfrm>
          <a:prstGeom prst="rect">
            <a:avLst/>
          </a:prstGeom>
          <a:noFill/>
          <a:ln w="0">
            <a:noFill/>
          </a:ln>
        </p:spPr>
        <p:style>
          <a:lnRef idx="0"/>
          <a:fillRef idx="0"/>
          <a:effectRef idx="0"/>
          <a:fontRef idx="minor"/>
        </p:style>
        <p:txBody>
          <a:bodyPr lIns="18360" rIns="18360" tIns="18360" bIns="18360" anchor="t">
            <a:spAutoFit/>
          </a:bodyPr>
          <a:p>
            <a:pPr algn="ctr">
              <a:lnSpc>
                <a:spcPct val="100000"/>
              </a:lnSpc>
            </a:pPr>
            <a:r>
              <a:rPr b="0" lang="en-US" sz="1200" spc="-1" strike="noStrike">
                <a:solidFill>
                  <a:srgbClr val="1a4f8a"/>
                </a:solidFill>
                <a:latin typeface="Arial"/>
              </a:rPr>
              <a:t>HTTP request</a:t>
            </a:r>
            <a:endParaRPr b="0" lang="en-US" sz="1200" spc="-1" strike="noStrike">
              <a:solidFill>
                <a:srgbClr val="000000"/>
              </a:solidFill>
              <a:latin typeface="Arial"/>
            </a:endParaRPr>
          </a:p>
        </p:txBody>
      </p:sp>
      <p:cxnSp>
        <p:nvCxnSpPr>
          <p:cNvPr id="76" name="Connector 76"/>
          <p:cNvCxnSpPr/>
          <p:nvPr/>
        </p:nvCxnSpPr>
        <p:spPr>
          <a:xfrm flipH="1">
            <a:off x="2967840" y="4000320"/>
            <a:ext cx="408240" cy="360"/>
          </a:xfrm>
          <a:prstGeom prst="straightConnector1">
            <a:avLst/>
          </a:prstGeom>
          <a:ln w="25400">
            <a:solidFill>
              <a:srgbClr val="a36a0d"/>
            </a:solidFill>
            <a:tailEnd len="med" type="triangle" w="med"/>
          </a:ln>
        </p:spPr>
      </p:cxnSp>
      <p:sp>
        <p:nvSpPr>
          <p:cNvPr id="77" name="TextBox 77"/>
          <p:cNvSpPr/>
          <p:nvPr/>
        </p:nvSpPr>
        <p:spPr>
          <a:xfrm>
            <a:off x="2257560" y="4046400"/>
            <a:ext cx="1828440" cy="218880"/>
          </a:xfrm>
          <a:prstGeom prst="rect">
            <a:avLst/>
          </a:prstGeom>
          <a:noFill/>
          <a:ln w="0">
            <a:noFill/>
          </a:ln>
        </p:spPr>
        <p:style>
          <a:lnRef idx="0"/>
          <a:fillRef idx="0"/>
          <a:effectRef idx="0"/>
          <a:fontRef idx="minor"/>
        </p:style>
        <p:txBody>
          <a:bodyPr lIns="18360" rIns="18360" tIns="18360" bIns="18360" anchor="t">
            <a:spAutoFit/>
          </a:bodyPr>
          <a:p>
            <a:pPr algn="ctr">
              <a:lnSpc>
                <a:spcPct val="100000"/>
              </a:lnSpc>
            </a:pPr>
            <a:r>
              <a:rPr b="0" lang="en-US" sz="1200" spc="-1" strike="noStrike">
                <a:solidFill>
                  <a:srgbClr val="a36a0d"/>
                </a:solidFill>
                <a:latin typeface="Arial"/>
              </a:rPr>
              <a:t>HTML response</a:t>
            </a:r>
            <a:endParaRPr b="0" lang="en-US" sz="1200" spc="-1" strike="noStrike">
              <a:solidFill>
                <a:srgbClr val="000000"/>
              </a:solidFill>
              <a:latin typeface="Arial"/>
            </a:endParaRPr>
          </a:p>
        </p:txBody>
      </p:sp>
      <p:cxnSp>
        <p:nvCxnSpPr>
          <p:cNvPr id="78" name="Connector 78"/>
          <p:cNvCxnSpPr/>
          <p:nvPr/>
        </p:nvCxnSpPr>
        <p:spPr>
          <a:xfrm>
            <a:off x="5890320" y="3268800"/>
            <a:ext cx="408240" cy="360"/>
          </a:xfrm>
          <a:prstGeom prst="straightConnector1">
            <a:avLst/>
          </a:prstGeom>
          <a:ln w="25400">
            <a:solidFill>
              <a:srgbClr val="1a4f8a"/>
            </a:solidFill>
            <a:tailEnd len="med" type="triangle" w="med"/>
          </a:ln>
        </p:spPr>
      </p:cxnSp>
      <p:sp>
        <p:nvSpPr>
          <p:cNvPr id="79" name="TextBox 79"/>
          <p:cNvSpPr/>
          <p:nvPr/>
        </p:nvSpPr>
        <p:spPr>
          <a:xfrm>
            <a:off x="5180040" y="2765880"/>
            <a:ext cx="1828440" cy="218880"/>
          </a:xfrm>
          <a:prstGeom prst="rect">
            <a:avLst/>
          </a:prstGeom>
          <a:noFill/>
          <a:ln w="0">
            <a:noFill/>
          </a:ln>
        </p:spPr>
        <p:style>
          <a:lnRef idx="0"/>
          <a:fillRef idx="0"/>
          <a:effectRef idx="0"/>
          <a:fontRef idx="minor"/>
        </p:style>
        <p:txBody>
          <a:bodyPr lIns="18360" rIns="18360" tIns="18360" bIns="18360" anchor="t">
            <a:spAutoFit/>
          </a:bodyPr>
          <a:p>
            <a:pPr algn="ctr">
              <a:lnSpc>
                <a:spcPct val="100000"/>
              </a:lnSpc>
            </a:pPr>
            <a:r>
              <a:rPr b="0" lang="en-US" sz="1200" spc="-1" strike="noStrike">
                <a:solidFill>
                  <a:srgbClr val="1a4f8a"/>
                </a:solidFill>
                <a:latin typeface="Arial"/>
              </a:rPr>
              <a:t>mod_php</a:t>
            </a:r>
            <a:endParaRPr b="0" lang="en-US" sz="1200" spc="-1" strike="noStrike">
              <a:solidFill>
                <a:srgbClr val="000000"/>
              </a:solidFill>
              <a:latin typeface="Arial"/>
            </a:endParaRPr>
          </a:p>
        </p:txBody>
      </p:sp>
      <p:cxnSp>
        <p:nvCxnSpPr>
          <p:cNvPr id="80" name="Connector 80"/>
          <p:cNvCxnSpPr/>
          <p:nvPr/>
        </p:nvCxnSpPr>
        <p:spPr>
          <a:xfrm flipH="1">
            <a:off x="5890320" y="4000320"/>
            <a:ext cx="408240" cy="360"/>
          </a:xfrm>
          <a:prstGeom prst="straightConnector1">
            <a:avLst/>
          </a:prstGeom>
          <a:ln w="25400">
            <a:solidFill>
              <a:srgbClr val="a36a0d"/>
            </a:solidFill>
            <a:tailEnd len="med" type="triangle" w="med"/>
          </a:ln>
        </p:spPr>
      </p:cxnSp>
      <p:sp>
        <p:nvSpPr>
          <p:cNvPr id="81" name="TextBox 81"/>
          <p:cNvSpPr/>
          <p:nvPr/>
        </p:nvSpPr>
        <p:spPr>
          <a:xfrm>
            <a:off x="5180040" y="4046400"/>
            <a:ext cx="1828440" cy="218880"/>
          </a:xfrm>
          <a:prstGeom prst="rect">
            <a:avLst/>
          </a:prstGeom>
          <a:noFill/>
          <a:ln w="0">
            <a:noFill/>
          </a:ln>
        </p:spPr>
        <p:style>
          <a:lnRef idx="0"/>
          <a:fillRef idx="0"/>
          <a:effectRef idx="0"/>
          <a:fontRef idx="minor"/>
        </p:style>
        <p:txBody>
          <a:bodyPr lIns="18360" rIns="18360" tIns="18360" bIns="18360" anchor="t">
            <a:spAutoFit/>
          </a:bodyPr>
          <a:p>
            <a:pPr algn="ctr">
              <a:lnSpc>
                <a:spcPct val="100000"/>
              </a:lnSpc>
            </a:pPr>
            <a:r>
              <a:rPr b="0" lang="en-US" sz="1200" spc="-1" strike="noStrike">
                <a:solidFill>
                  <a:srgbClr val="a36a0d"/>
                </a:solidFill>
                <a:latin typeface="Arial"/>
              </a:rPr>
              <a:t>exec result</a:t>
            </a:r>
            <a:endParaRPr b="0" lang="en-US" sz="1200" spc="-1" strike="noStrike">
              <a:solidFill>
                <a:srgbClr val="000000"/>
              </a:solidFill>
              <a:latin typeface="Arial"/>
            </a:endParaRPr>
          </a:p>
        </p:txBody>
      </p:sp>
      <p:cxnSp>
        <p:nvCxnSpPr>
          <p:cNvPr id="82" name="Connector 82"/>
          <p:cNvCxnSpPr/>
          <p:nvPr/>
        </p:nvCxnSpPr>
        <p:spPr>
          <a:xfrm>
            <a:off x="8812800" y="3268800"/>
            <a:ext cx="408240" cy="360"/>
          </a:xfrm>
          <a:prstGeom prst="straightConnector1">
            <a:avLst/>
          </a:prstGeom>
          <a:ln w="25400">
            <a:solidFill>
              <a:srgbClr val="1a4f8a"/>
            </a:solidFill>
            <a:tailEnd len="med" type="triangle" w="med"/>
          </a:ln>
        </p:spPr>
      </p:cxnSp>
      <p:sp>
        <p:nvSpPr>
          <p:cNvPr id="83" name="TextBox 83"/>
          <p:cNvSpPr/>
          <p:nvPr/>
        </p:nvSpPr>
        <p:spPr>
          <a:xfrm>
            <a:off x="8102520" y="2765880"/>
            <a:ext cx="1828440" cy="218880"/>
          </a:xfrm>
          <a:prstGeom prst="rect">
            <a:avLst/>
          </a:prstGeom>
          <a:noFill/>
          <a:ln w="0">
            <a:noFill/>
          </a:ln>
        </p:spPr>
        <p:style>
          <a:lnRef idx="0"/>
          <a:fillRef idx="0"/>
          <a:effectRef idx="0"/>
          <a:fontRef idx="minor"/>
        </p:style>
        <p:txBody>
          <a:bodyPr lIns="18360" rIns="18360" tIns="18360" bIns="18360" anchor="t">
            <a:spAutoFit/>
          </a:bodyPr>
          <a:p>
            <a:pPr algn="ctr">
              <a:lnSpc>
                <a:spcPct val="100000"/>
              </a:lnSpc>
            </a:pPr>
            <a:r>
              <a:rPr b="0" lang="en-US" sz="1200" spc="-1" strike="noStrike">
                <a:solidFill>
                  <a:srgbClr val="1a4f8a"/>
                </a:solidFill>
                <a:latin typeface="Arial"/>
              </a:rPr>
              <a:t>SQL (prepared)</a:t>
            </a:r>
            <a:endParaRPr b="0" lang="en-US" sz="1200" spc="-1" strike="noStrike">
              <a:solidFill>
                <a:srgbClr val="000000"/>
              </a:solidFill>
              <a:latin typeface="Arial"/>
            </a:endParaRPr>
          </a:p>
        </p:txBody>
      </p:sp>
      <p:cxnSp>
        <p:nvCxnSpPr>
          <p:cNvPr id="84" name="Connector 84"/>
          <p:cNvCxnSpPr/>
          <p:nvPr/>
        </p:nvCxnSpPr>
        <p:spPr>
          <a:xfrm flipH="1">
            <a:off x="8812800" y="4000320"/>
            <a:ext cx="408240" cy="360"/>
          </a:xfrm>
          <a:prstGeom prst="straightConnector1">
            <a:avLst/>
          </a:prstGeom>
          <a:ln w="25400">
            <a:solidFill>
              <a:srgbClr val="a36a0d"/>
            </a:solidFill>
            <a:tailEnd len="med" type="triangle" w="med"/>
          </a:ln>
        </p:spPr>
      </p:cxnSp>
      <p:sp>
        <p:nvSpPr>
          <p:cNvPr id="85" name="TextBox 85"/>
          <p:cNvSpPr/>
          <p:nvPr/>
        </p:nvSpPr>
        <p:spPr>
          <a:xfrm>
            <a:off x="8102520" y="4046400"/>
            <a:ext cx="1828440" cy="218880"/>
          </a:xfrm>
          <a:prstGeom prst="rect">
            <a:avLst/>
          </a:prstGeom>
          <a:noFill/>
          <a:ln w="0">
            <a:noFill/>
          </a:ln>
        </p:spPr>
        <p:style>
          <a:lnRef idx="0"/>
          <a:fillRef idx="0"/>
          <a:effectRef idx="0"/>
          <a:fontRef idx="minor"/>
        </p:style>
        <p:txBody>
          <a:bodyPr lIns="18360" rIns="18360" tIns="18360" bIns="18360" anchor="t">
            <a:spAutoFit/>
          </a:bodyPr>
          <a:p>
            <a:pPr algn="ctr">
              <a:lnSpc>
                <a:spcPct val="100000"/>
              </a:lnSpc>
            </a:pPr>
            <a:r>
              <a:rPr b="0" lang="en-US" sz="1200" spc="-1" strike="noStrike">
                <a:solidFill>
                  <a:srgbClr val="a36a0d"/>
                </a:solidFill>
                <a:latin typeface="Arial"/>
              </a:rPr>
              <a:t>result set</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TextBox 1"/>
          <p:cNvSpPr/>
          <p:nvPr/>
        </p:nvSpPr>
        <p:spPr>
          <a:xfrm>
            <a:off x="457200" y="228600"/>
            <a:ext cx="11246400" cy="54864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3600" spc="-1" strike="noStrike">
                <a:solidFill>
                  <a:srgbClr val="5a2db0"/>
                </a:solidFill>
                <a:latin typeface="Calibri"/>
                <a:ea typeface="DejaVu Sans"/>
              </a:rPr>
              <a:t>Βάση δεδομένων (ER)</a:t>
            </a:r>
            <a:endParaRPr b="0" lang="en-US" sz="3600" spc="-1" strike="noStrike">
              <a:solidFill>
                <a:srgbClr val="000000"/>
              </a:solidFill>
              <a:latin typeface="Arial"/>
            </a:endParaRPr>
          </a:p>
        </p:txBody>
      </p:sp>
      <p:sp>
        <p:nvSpPr>
          <p:cNvPr id="87" name="Rectangle 2"/>
          <p:cNvSpPr/>
          <p:nvPr/>
        </p:nvSpPr>
        <p:spPr>
          <a:xfrm>
            <a:off x="457200" y="1005840"/>
            <a:ext cx="11246400" cy="19440"/>
          </a:xfrm>
          <a:prstGeom prst="rect">
            <a:avLst/>
          </a:prstGeom>
          <a:solidFill>
            <a:srgbClr val="5a2d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a:lnSpc>
                <a:spcPct val="100000"/>
              </a:lnSpc>
            </a:pPr>
            <a:endParaRPr b="0" lang="en-US" sz="1800" spc="-1" strike="noStrike">
              <a:solidFill>
                <a:schemeClr val="lt1"/>
              </a:solidFill>
              <a:latin typeface="Calibri"/>
              <a:ea typeface="DejaVu Sans"/>
            </a:endParaRPr>
          </a:p>
        </p:txBody>
      </p:sp>
      <p:sp>
        <p:nvSpPr>
          <p:cNvPr id="88" name="TextBox 4"/>
          <p:cNvSpPr/>
          <p:nvPr/>
        </p:nvSpPr>
        <p:spPr>
          <a:xfrm>
            <a:off x="1097280" y="6446520"/>
            <a:ext cx="547920" cy="2570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100" spc="-1" strike="noStrike">
                <a:solidFill>
                  <a:srgbClr val="6a737d"/>
                </a:solidFill>
                <a:latin typeface="Calibri"/>
                <a:ea typeface="DejaVu Sans"/>
              </a:rPr>
              <a:t>5 / 13</a:t>
            </a:r>
            <a:endParaRPr b="0" lang="en-US" sz="1100" spc="-1" strike="noStrike">
              <a:solidFill>
                <a:srgbClr val="000000"/>
              </a:solidFill>
              <a:latin typeface="Arial"/>
            </a:endParaRPr>
          </a:p>
        </p:txBody>
      </p:sp>
      <p:sp>
        <p:nvSpPr>
          <p:cNvPr id="89" name="TextBox 5"/>
          <p:cNvSpPr/>
          <p:nvPr/>
        </p:nvSpPr>
        <p:spPr>
          <a:xfrm>
            <a:off x="8199720" y="6446520"/>
            <a:ext cx="2619000" cy="25704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1100" spc="-1" strike="noStrike">
                <a:solidFill>
                  <a:srgbClr val="6a737d"/>
                </a:solidFill>
                <a:latin typeface="Calibri"/>
                <a:ea typeface="DejaVu Sans"/>
              </a:rPr>
              <a:t>Διαμάντη ΑΜ 19389308 · 4 Ιουν 2026</a:t>
            </a:r>
            <a:endParaRPr b="0" lang="en-US" sz="1100" spc="-1" strike="noStrike">
              <a:solidFill>
                <a:srgbClr val="000000"/>
              </a:solidFill>
              <a:latin typeface="Arial"/>
            </a:endParaRPr>
          </a:p>
        </p:txBody>
      </p:sp>
      <p:sp>
        <p:nvSpPr>
          <p:cNvPr id="90" name="Rectangle 75"/>
          <p:cNvSpPr/>
          <p:nvPr/>
        </p:nvSpPr>
        <p:spPr>
          <a:xfrm>
            <a:off x="365760" y="1280160"/>
            <a:ext cx="2834280" cy="411120"/>
          </a:xfrm>
          <a:prstGeom prst="rect">
            <a:avLst/>
          </a:prstGeom>
          <a:solidFill>
            <a:srgbClr val="1a4f8a"/>
          </a:solidFill>
          <a:ln>
            <a:solidFill>
              <a:srgbClr val="1a4f8a"/>
            </a:solidFill>
          </a:ln>
        </p:spPr>
        <p:style>
          <a:lnRef idx="1">
            <a:schemeClr val="accent1"/>
          </a:lnRef>
          <a:fillRef idx="3">
            <a:schemeClr val="accent1"/>
          </a:fillRef>
          <a:effectRef idx="2">
            <a:schemeClr val="accent1"/>
          </a:effectRef>
          <a:fontRef idx="minor"/>
        </p:style>
        <p:txBody>
          <a:bodyPr lIns="90000" rIns="90000" tIns="36720" bIns="36720" anchor="ctr">
            <a:noAutofit/>
          </a:bodyPr>
          <a:p>
            <a:pPr algn="ctr">
              <a:lnSpc>
                <a:spcPct val="100000"/>
              </a:lnSpc>
            </a:pPr>
            <a:r>
              <a:rPr b="1" lang="en-US" sz="1600" spc="-1" strike="noStrike">
                <a:solidFill>
                  <a:srgbClr val="ffffff"/>
                </a:solidFill>
                <a:latin typeface="Courier New"/>
                <a:ea typeface="DejaVu Sans"/>
              </a:rPr>
              <a:t>clients</a:t>
            </a:r>
            <a:endParaRPr b="0" lang="en-US" sz="1600" spc="-1" strike="noStrike">
              <a:solidFill>
                <a:srgbClr val="000000"/>
              </a:solidFill>
              <a:latin typeface="Arial"/>
            </a:endParaRPr>
          </a:p>
        </p:txBody>
      </p:sp>
      <p:sp>
        <p:nvSpPr>
          <p:cNvPr id="91" name="Rectangle 76"/>
          <p:cNvSpPr/>
          <p:nvPr/>
        </p:nvSpPr>
        <p:spPr>
          <a:xfrm>
            <a:off x="365760" y="1691640"/>
            <a:ext cx="2834280" cy="2514240"/>
          </a:xfrm>
          <a:prstGeom prst="rect">
            <a:avLst/>
          </a:prstGeom>
          <a:solidFill>
            <a:srgbClr val="e8f0f8"/>
          </a:solidFill>
          <a:ln w="19050">
            <a:solidFill>
              <a:srgbClr val="1a4f8a"/>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Arial"/>
              <a:ea typeface="DejaVu Sans"/>
            </a:endParaRPr>
          </a:p>
        </p:txBody>
      </p:sp>
      <p:sp>
        <p:nvSpPr>
          <p:cNvPr id="92" name="TextBox 77"/>
          <p:cNvSpPr/>
          <p:nvPr/>
        </p:nvSpPr>
        <p:spPr>
          <a:xfrm>
            <a:off x="411480" y="1764000"/>
            <a:ext cx="502560" cy="18864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1" lang="en-US" sz="1000" spc="-1" strike="noStrike">
                <a:solidFill>
                  <a:srgbClr val="a31515"/>
                </a:solidFill>
                <a:latin typeface="Courier New"/>
              </a:rPr>
              <a:t>PK</a:t>
            </a:r>
            <a:endParaRPr b="0" lang="en-US" sz="1000" spc="-1" strike="noStrike">
              <a:solidFill>
                <a:srgbClr val="000000"/>
              </a:solidFill>
              <a:latin typeface="Arial"/>
            </a:endParaRPr>
          </a:p>
        </p:txBody>
      </p:sp>
      <p:sp>
        <p:nvSpPr>
          <p:cNvPr id="93" name="TextBox 78"/>
          <p:cNvSpPr/>
          <p:nvPr/>
        </p:nvSpPr>
        <p:spPr>
          <a:xfrm>
            <a:off x="914400" y="1764000"/>
            <a:ext cx="1371240" cy="23436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0" lang="en-US" sz="1300" spc="-1" strike="noStrike">
                <a:solidFill>
                  <a:srgbClr val="222222"/>
                </a:solidFill>
                <a:latin typeface="Courier New"/>
              </a:rPr>
              <a:t>id</a:t>
            </a:r>
            <a:endParaRPr b="0" lang="en-US" sz="1300" spc="-1" strike="noStrike">
              <a:solidFill>
                <a:srgbClr val="000000"/>
              </a:solidFill>
              <a:latin typeface="Arial"/>
            </a:endParaRPr>
          </a:p>
        </p:txBody>
      </p:sp>
      <p:sp>
        <p:nvSpPr>
          <p:cNvPr id="94" name="TextBox 79"/>
          <p:cNvSpPr/>
          <p:nvPr/>
        </p:nvSpPr>
        <p:spPr>
          <a:xfrm>
            <a:off x="2103120" y="1764000"/>
            <a:ext cx="959760" cy="203760"/>
          </a:xfrm>
          <a:prstGeom prst="rect">
            <a:avLst/>
          </a:prstGeom>
          <a:noFill/>
          <a:ln w="0">
            <a:noFill/>
          </a:ln>
        </p:spPr>
        <p:style>
          <a:lnRef idx="0"/>
          <a:fillRef idx="0"/>
          <a:effectRef idx="0"/>
          <a:fontRef idx="minor"/>
        </p:style>
        <p:txBody>
          <a:bodyPr lIns="18360" rIns="18360" tIns="18360" bIns="18360" anchor="t">
            <a:spAutoFit/>
          </a:bodyPr>
          <a:p>
            <a:pPr algn="r">
              <a:lnSpc>
                <a:spcPct val="100000"/>
              </a:lnSpc>
            </a:pPr>
            <a:r>
              <a:rPr b="0" lang="en-US" sz="1100" spc="-1" strike="noStrike">
                <a:solidFill>
                  <a:srgbClr val="666666"/>
                </a:solidFill>
                <a:latin typeface="Courier New"/>
              </a:rPr>
              <a:t>INT PK</a:t>
            </a:r>
            <a:endParaRPr b="0" lang="en-US" sz="1100" spc="-1" strike="noStrike">
              <a:solidFill>
                <a:srgbClr val="000000"/>
              </a:solidFill>
              <a:latin typeface="Arial"/>
            </a:endParaRPr>
          </a:p>
        </p:txBody>
      </p:sp>
      <p:sp>
        <p:nvSpPr>
          <p:cNvPr id="95" name="TextBox 80"/>
          <p:cNvSpPr/>
          <p:nvPr/>
        </p:nvSpPr>
        <p:spPr>
          <a:xfrm>
            <a:off x="914400" y="2183040"/>
            <a:ext cx="1371240" cy="23436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0" lang="en-US" sz="1300" spc="-1" strike="noStrike">
                <a:solidFill>
                  <a:srgbClr val="222222"/>
                </a:solidFill>
                <a:latin typeface="Courier New"/>
              </a:rPr>
              <a:t>fullname</a:t>
            </a:r>
            <a:endParaRPr b="0" lang="en-US" sz="1300" spc="-1" strike="noStrike">
              <a:solidFill>
                <a:srgbClr val="000000"/>
              </a:solidFill>
              <a:latin typeface="Arial"/>
            </a:endParaRPr>
          </a:p>
        </p:txBody>
      </p:sp>
      <p:sp>
        <p:nvSpPr>
          <p:cNvPr id="96" name="TextBox 81"/>
          <p:cNvSpPr/>
          <p:nvPr/>
        </p:nvSpPr>
        <p:spPr>
          <a:xfrm>
            <a:off x="2103120" y="2183040"/>
            <a:ext cx="959760" cy="371160"/>
          </a:xfrm>
          <a:prstGeom prst="rect">
            <a:avLst/>
          </a:prstGeom>
          <a:noFill/>
          <a:ln w="0">
            <a:noFill/>
          </a:ln>
        </p:spPr>
        <p:style>
          <a:lnRef idx="0"/>
          <a:fillRef idx="0"/>
          <a:effectRef idx="0"/>
          <a:fontRef idx="minor"/>
        </p:style>
        <p:txBody>
          <a:bodyPr lIns="18360" rIns="18360" tIns="18360" bIns="18360" anchor="t">
            <a:spAutoFit/>
          </a:bodyPr>
          <a:p>
            <a:pPr algn="r">
              <a:lnSpc>
                <a:spcPct val="100000"/>
              </a:lnSpc>
            </a:pPr>
            <a:r>
              <a:rPr b="0" lang="en-US" sz="1100" spc="-1" strike="noStrike">
                <a:solidFill>
                  <a:srgbClr val="666666"/>
                </a:solidFill>
                <a:latin typeface="Courier New"/>
              </a:rPr>
              <a:t>VARCHAR(120)</a:t>
            </a:r>
            <a:endParaRPr b="0" lang="en-US" sz="1100" spc="-1" strike="noStrike">
              <a:solidFill>
                <a:srgbClr val="000000"/>
              </a:solidFill>
              <a:latin typeface="Arial"/>
            </a:endParaRPr>
          </a:p>
        </p:txBody>
      </p:sp>
      <p:sp>
        <p:nvSpPr>
          <p:cNvPr id="97" name="TextBox 82"/>
          <p:cNvSpPr/>
          <p:nvPr/>
        </p:nvSpPr>
        <p:spPr>
          <a:xfrm>
            <a:off x="914400" y="2602080"/>
            <a:ext cx="1371240" cy="23436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0" lang="en-US" sz="1300" spc="-1" strike="noStrike">
                <a:solidFill>
                  <a:srgbClr val="222222"/>
                </a:solidFill>
                <a:latin typeface="Courier New"/>
              </a:rPr>
              <a:t>email</a:t>
            </a:r>
            <a:endParaRPr b="0" lang="en-US" sz="1300" spc="-1" strike="noStrike">
              <a:solidFill>
                <a:srgbClr val="000000"/>
              </a:solidFill>
              <a:latin typeface="Arial"/>
            </a:endParaRPr>
          </a:p>
        </p:txBody>
      </p:sp>
      <p:sp>
        <p:nvSpPr>
          <p:cNvPr id="98" name="TextBox 83"/>
          <p:cNvSpPr/>
          <p:nvPr/>
        </p:nvSpPr>
        <p:spPr>
          <a:xfrm>
            <a:off x="2103120" y="2602080"/>
            <a:ext cx="959760" cy="371160"/>
          </a:xfrm>
          <a:prstGeom prst="rect">
            <a:avLst/>
          </a:prstGeom>
          <a:noFill/>
          <a:ln w="0">
            <a:noFill/>
          </a:ln>
        </p:spPr>
        <p:style>
          <a:lnRef idx="0"/>
          <a:fillRef idx="0"/>
          <a:effectRef idx="0"/>
          <a:fontRef idx="minor"/>
        </p:style>
        <p:txBody>
          <a:bodyPr lIns="18360" rIns="18360" tIns="18360" bIns="18360" anchor="t">
            <a:spAutoFit/>
          </a:bodyPr>
          <a:p>
            <a:pPr algn="r">
              <a:lnSpc>
                <a:spcPct val="100000"/>
              </a:lnSpc>
            </a:pPr>
            <a:r>
              <a:rPr b="0" lang="en-US" sz="1100" spc="-1" strike="noStrike">
                <a:solidFill>
                  <a:srgbClr val="666666"/>
                </a:solidFill>
                <a:latin typeface="Courier New"/>
              </a:rPr>
              <a:t>VARCHAR(120)</a:t>
            </a:r>
            <a:endParaRPr b="0" lang="en-US" sz="1100" spc="-1" strike="noStrike">
              <a:solidFill>
                <a:srgbClr val="000000"/>
              </a:solidFill>
              <a:latin typeface="Arial"/>
            </a:endParaRPr>
          </a:p>
        </p:txBody>
      </p:sp>
      <p:sp>
        <p:nvSpPr>
          <p:cNvPr id="99" name="TextBox 84"/>
          <p:cNvSpPr/>
          <p:nvPr/>
        </p:nvSpPr>
        <p:spPr>
          <a:xfrm>
            <a:off x="914400" y="3021480"/>
            <a:ext cx="1371240" cy="23436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0" lang="en-US" sz="1300" spc="-1" strike="noStrike">
                <a:solidFill>
                  <a:srgbClr val="222222"/>
                </a:solidFill>
                <a:latin typeface="Courier New"/>
              </a:rPr>
              <a:t>phone</a:t>
            </a:r>
            <a:endParaRPr b="0" lang="en-US" sz="1300" spc="-1" strike="noStrike">
              <a:solidFill>
                <a:srgbClr val="000000"/>
              </a:solidFill>
              <a:latin typeface="Arial"/>
            </a:endParaRPr>
          </a:p>
        </p:txBody>
      </p:sp>
      <p:sp>
        <p:nvSpPr>
          <p:cNvPr id="100" name="TextBox 85"/>
          <p:cNvSpPr/>
          <p:nvPr/>
        </p:nvSpPr>
        <p:spPr>
          <a:xfrm>
            <a:off x="2103120" y="3021480"/>
            <a:ext cx="959760" cy="203760"/>
          </a:xfrm>
          <a:prstGeom prst="rect">
            <a:avLst/>
          </a:prstGeom>
          <a:noFill/>
          <a:ln w="0">
            <a:noFill/>
          </a:ln>
        </p:spPr>
        <p:style>
          <a:lnRef idx="0"/>
          <a:fillRef idx="0"/>
          <a:effectRef idx="0"/>
          <a:fontRef idx="minor"/>
        </p:style>
        <p:txBody>
          <a:bodyPr lIns="18360" rIns="18360" tIns="18360" bIns="18360" anchor="t">
            <a:spAutoFit/>
          </a:bodyPr>
          <a:p>
            <a:pPr algn="r">
              <a:lnSpc>
                <a:spcPct val="100000"/>
              </a:lnSpc>
            </a:pPr>
            <a:r>
              <a:rPr b="0" lang="en-US" sz="1100" spc="-1" strike="noStrike">
                <a:solidFill>
                  <a:srgbClr val="666666"/>
                </a:solidFill>
                <a:latin typeface="Courier New"/>
              </a:rPr>
              <a:t>VARCHAR(30)</a:t>
            </a:r>
            <a:endParaRPr b="0" lang="en-US" sz="1100" spc="-1" strike="noStrike">
              <a:solidFill>
                <a:srgbClr val="000000"/>
              </a:solidFill>
              <a:latin typeface="Arial"/>
            </a:endParaRPr>
          </a:p>
        </p:txBody>
      </p:sp>
      <p:sp>
        <p:nvSpPr>
          <p:cNvPr id="101" name="TextBox 86"/>
          <p:cNvSpPr/>
          <p:nvPr/>
        </p:nvSpPr>
        <p:spPr>
          <a:xfrm>
            <a:off x="914400" y="3440520"/>
            <a:ext cx="1371240" cy="23436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0" lang="en-US" sz="1300" spc="-1" strike="noStrike">
                <a:solidFill>
                  <a:srgbClr val="222222"/>
                </a:solidFill>
                <a:latin typeface="Courier New"/>
              </a:rPr>
              <a:t>city</a:t>
            </a:r>
            <a:endParaRPr b="0" lang="en-US" sz="1300" spc="-1" strike="noStrike">
              <a:solidFill>
                <a:srgbClr val="000000"/>
              </a:solidFill>
              <a:latin typeface="Arial"/>
            </a:endParaRPr>
          </a:p>
        </p:txBody>
      </p:sp>
      <p:sp>
        <p:nvSpPr>
          <p:cNvPr id="102" name="TextBox 87"/>
          <p:cNvSpPr/>
          <p:nvPr/>
        </p:nvSpPr>
        <p:spPr>
          <a:xfrm>
            <a:off x="2103120" y="3440520"/>
            <a:ext cx="959760" cy="203760"/>
          </a:xfrm>
          <a:prstGeom prst="rect">
            <a:avLst/>
          </a:prstGeom>
          <a:noFill/>
          <a:ln w="0">
            <a:noFill/>
          </a:ln>
        </p:spPr>
        <p:style>
          <a:lnRef idx="0"/>
          <a:fillRef idx="0"/>
          <a:effectRef idx="0"/>
          <a:fontRef idx="minor"/>
        </p:style>
        <p:txBody>
          <a:bodyPr lIns="18360" rIns="18360" tIns="18360" bIns="18360" anchor="t">
            <a:spAutoFit/>
          </a:bodyPr>
          <a:p>
            <a:pPr algn="r">
              <a:lnSpc>
                <a:spcPct val="100000"/>
              </a:lnSpc>
            </a:pPr>
            <a:r>
              <a:rPr b="0" lang="en-US" sz="1100" spc="-1" strike="noStrike">
                <a:solidFill>
                  <a:srgbClr val="666666"/>
                </a:solidFill>
                <a:latin typeface="Courier New"/>
              </a:rPr>
              <a:t>VARCHAR(60)</a:t>
            </a:r>
            <a:endParaRPr b="0" lang="en-US" sz="1100" spc="-1" strike="noStrike">
              <a:solidFill>
                <a:srgbClr val="000000"/>
              </a:solidFill>
              <a:latin typeface="Arial"/>
            </a:endParaRPr>
          </a:p>
        </p:txBody>
      </p:sp>
      <p:sp>
        <p:nvSpPr>
          <p:cNvPr id="103" name="TextBox 88"/>
          <p:cNvSpPr/>
          <p:nvPr/>
        </p:nvSpPr>
        <p:spPr>
          <a:xfrm>
            <a:off x="914400" y="3859560"/>
            <a:ext cx="1371240" cy="23436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0" lang="en-US" sz="1300" spc="-1" strike="noStrike">
                <a:solidFill>
                  <a:srgbClr val="222222"/>
                </a:solidFill>
                <a:latin typeface="Courier New"/>
              </a:rPr>
              <a:t>created_at</a:t>
            </a:r>
            <a:endParaRPr b="0" lang="en-US" sz="1300" spc="-1" strike="noStrike">
              <a:solidFill>
                <a:srgbClr val="000000"/>
              </a:solidFill>
              <a:latin typeface="Arial"/>
            </a:endParaRPr>
          </a:p>
        </p:txBody>
      </p:sp>
      <p:sp>
        <p:nvSpPr>
          <p:cNvPr id="104" name="TextBox 89"/>
          <p:cNvSpPr/>
          <p:nvPr/>
        </p:nvSpPr>
        <p:spPr>
          <a:xfrm>
            <a:off x="2103120" y="3859560"/>
            <a:ext cx="959760" cy="203760"/>
          </a:xfrm>
          <a:prstGeom prst="rect">
            <a:avLst/>
          </a:prstGeom>
          <a:noFill/>
          <a:ln w="0">
            <a:noFill/>
          </a:ln>
        </p:spPr>
        <p:style>
          <a:lnRef idx="0"/>
          <a:fillRef idx="0"/>
          <a:effectRef idx="0"/>
          <a:fontRef idx="minor"/>
        </p:style>
        <p:txBody>
          <a:bodyPr lIns="18360" rIns="18360" tIns="18360" bIns="18360" anchor="t">
            <a:spAutoFit/>
          </a:bodyPr>
          <a:p>
            <a:pPr algn="r">
              <a:lnSpc>
                <a:spcPct val="100000"/>
              </a:lnSpc>
            </a:pPr>
            <a:r>
              <a:rPr b="0" lang="en-US" sz="1100" spc="-1" strike="noStrike">
                <a:solidFill>
                  <a:srgbClr val="666666"/>
                </a:solidFill>
                <a:latin typeface="Courier New"/>
              </a:rPr>
              <a:t>TIMESTAMP</a:t>
            </a:r>
            <a:endParaRPr b="0" lang="en-US" sz="1100" spc="-1" strike="noStrike">
              <a:solidFill>
                <a:srgbClr val="000000"/>
              </a:solidFill>
              <a:latin typeface="Arial"/>
            </a:endParaRPr>
          </a:p>
        </p:txBody>
      </p:sp>
      <p:sp>
        <p:nvSpPr>
          <p:cNvPr id="105" name="Rectangle 90"/>
          <p:cNvSpPr/>
          <p:nvPr/>
        </p:nvSpPr>
        <p:spPr>
          <a:xfrm>
            <a:off x="4663440" y="1280160"/>
            <a:ext cx="2834280" cy="411120"/>
          </a:xfrm>
          <a:prstGeom prst="rect">
            <a:avLst/>
          </a:prstGeom>
          <a:solidFill>
            <a:srgbClr val="2a7a32"/>
          </a:solidFill>
          <a:ln>
            <a:solidFill>
              <a:srgbClr val="2a7a32"/>
            </a:solidFill>
          </a:ln>
        </p:spPr>
        <p:style>
          <a:lnRef idx="1">
            <a:schemeClr val="accent1"/>
          </a:lnRef>
          <a:fillRef idx="3">
            <a:schemeClr val="accent1"/>
          </a:fillRef>
          <a:effectRef idx="2">
            <a:schemeClr val="accent1"/>
          </a:effectRef>
          <a:fontRef idx="minor"/>
        </p:style>
        <p:txBody>
          <a:bodyPr lIns="90000" rIns="90000" tIns="36720" bIns="36720" anchor="ctr">
            <a:noAutofit/>
          </a:bodyPr>
          <a:p>
            <a:pPr algn="ctr">
              <a:lnSpc>
                <a:spcPct val="100000"/>
              </a:lnSpc>
            </a:pPr>
            <a:r>
              <a:rPr b="1" lang="en-US" sz="1600" spc="-1" strike="noStrike">
                <a:solidFill>
                  <a:srgbClr val="ffffff"/>
                </a:solidFill>
                <a:latin typeface="Courier New"/>
                <a:ea typeface="DejaVu Sans"/>
              </a:rPr>
              <a:t>orders</a:t>
            </a:r>
            <a:endParaRPr b="0" lang="en-US" sz="1600" spc="-1" strike="noStrike">
              <a:solidFill>
                <a:srgbClr val="000000"/>
              </a:solidFill>
              <a:latin typeface="Arial"/>
            </a:endParaRPr>
          </a:p>
        </p:txBody>
      </p:sp>
      <p:sp>
        <p:nvSpPr>
          <p:cNvPr id="106" name="Rectangle 91"/>
          <p:cNvSpPr/>
          <p:nvPr/>
        </p:nvSpPr>
        <p:spPr>
          <a:xfrm>
            <a:off x="4663440" y="1691640"/>
            <a:ext cx="2834280" cy="1782720"/>
          </a:xfrm>
          <a:prstGeom prst="rect">
            <a:avLst/>
          </a:prstGeom>
          <a:solidFill>
            <a:srgbClr val="cfe7d1"/>
          </a:solidFill>
          <a:ln w="19050">
            <a:solidFill>
              <a:srgbClr val="2a7a32"/>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Arial"/>
              <a:ea typeface="DejaVu Sans"/>
            </a:endParaRPr>
          </a:p>
        </p:txBody>
      </p:sp>
      <p:sp>
        <p:nvSpPr>
          <p:cNvPr id="107" name="TextBox 92"/>
          <p:cNvSpPr/>
          <p:nvPr/>
        </p:nvSpPr>
        <p:spPr>
          <a:xfrm>
            <a:off x="4709160" y="1777320"/>
            <a:ext cx="502560" cy="18864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1" lang="en-US" sz="1000" spc="-1" strike="noStrike">
                <a:solidFill>
                  <a:srgbClr val="a31515"/>
                </a:solidFill>
                <a:latin typeface="Courier New"/>
              </a:rPr>
              <a:t>PK</a:t>
            </a:r>
            <a:endParaRPr b="0" lang="en-US" sz="1000" spc="-1" strike="noStrike">
              <a:solidFill>
                <a:srgbClr val="000000"/>
              </a:solidFill>
              <a:latin typeface="Arial"/>
            </a:endParaRPr>
          </a:p>
        </p:txBody>
      </p:sp>
      <p:sp>
        <p:nvSpPr>
          <p:cNvPr id="108" name="TextBox 93"/>
          <p:cNvSpPr/>
          <p:nvPr/>
        </p:nvSpPr>
        <p:spPr>
          <a:xfrm>
            <a:off x="5212080" y="1777320"/>
            <a:ext cx="1371240" cy="23436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0" lang="en-US" sz="1300" spc="-1" strike="noStrike">
                <a:solidFill>
                  <a:srgbClr val="222222"/>
                </a:solidFill>
                <a:latin typeface="Courier New"/>
              </a:rPr>
              <a:t>id</a:t>
            </a:r>
            <a:endParaRPr b="0" lang="en-US" sz="1300" spc="-1" strike="noStrike">
              <a:solidFill>
                <a:srgbClr val="000000"/>
              </a:solidFill>
              <a:latin typeface="Arial"/>
            </a:endParaRPr>
          </a:p>
        </p:txBody>
      </p:sp>
      <p:sp>
        <p:nvSpPr>
          <p:cNvPr id="109" name="TextBox 94"/>
          <p:cNvSpPr/>
          <p:nvPr/>
        </p:nvSpPr>
        <p:spPr>
          <a:xfrm>
            <a:off x="6400800" y="1777320"/>
            <a:ext cx="959760" cy="203760"/>
          </a:xfrm>
          <a:prstGeom prst="rect">
            <a:avLst/>
          </a:prstGeom>
          <a:noFill/>
          <a:ln w="0">
            <a:noFill/>
          </a:ln>
        </p:spPr>
        <p:style>
          <a:lnRef idx="0"/>
          <a:fillRef idx="0"/>
          <a:effectRef idx="0"/>
          <a:fontRef idx="minor"/>
        </p:style>
        <p:txBody>
          <a:bodyPr lIns="18360" rIns="18360" tIns="18360" bIns="18360" anchor="t">
            <a:spAutoFit/>
          </a:bodyPr>
          <a:p>
            <a:pPr algn="r">
              <a:lnSpc>
                <a:spcPct val="100000"/>
              </a:lnSpc>
            </a:pPr>
            <a:r>
              <a:rPr b="0" lang="en-US" sz="1100" spc="-1" strike="noStrike">
                <a:solidFill>
                  <a:srgbClr val="666666"/>
                </a:solidFill>
                <a:latin typeface="Courier New"/>
              </a:rPr>
              <a:t>INT PK</a:t>
            </a:r>
            <a:endParaRPr b="0" lang="en-US" sz="1100" spc="-1" strike="noStrike">
              <a:solidFill>
                <a:srgbClr val="000000"/>
              </a:solidFill>
              <a:latin typeface="Arial"/>
            </a:endParaRPr>
          </a:p>
        </p:txBody>
      </p:sp>
      <p:sp>
        <p:nvSpPr>
          <p:cNvPr id="110" name="TextBox 95"/>
          <p:cNvSpPr/>
          <p:nvPr/>
        </p:nvSpPr>
        <p:spPr>
          <a:xfrm>
            <a:off x="4709160" y="2223000"/>
            <a:ext cx="502560" cy="18864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1" lang="en-US" sz="1000" spc="-1" strike="noStrike">
                <a:solidFill>
                  <a:srgbClr val="1a4f8a"/>
                </a:solidFill>
                <a:latin typeface="Courier New"/>
              </a:rPr>
              <a:t>FK</a:t>
            </a:r>
            <a:endParaRPr b="0" lang="en-US" sz="1000" spc="-1" strike="noStrike">
              <a:solidFill>
                <a:srgbClr val="000000"/>
              </a:solidFill>
              <a:latin typeface="Arial"/>
            </a:endParaRPr>
          </a:p>
        </p:txBody>
      </p:sp>
      <p:sp>
        <p:nvSpPr>
          <p:cNvPr id="111" name="TextBox 96"/>
          <p:cNvSpPr/>
          <p:nvPr/>
        </p:nvSpPr>
        <p:spPr>
          <a:xfrm>
            <a:off x="5212080" y="2223000"/>
            <a:ext cx="1371240" cy="23436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0" lang="en-US" sz="1300" spc="-1" strike="noStrike">
                <a:solidFill>
                  <a:srgbClr val="222222"/>
                </a:solidFill>
                <a:latin typeface="Courier New"/>
              </a:rPr>
              <a:t>client_id</a:t>
            </a:r>
            <a:endParaRPr b="0" lang="en-US" sz="1300" spc="-1" strike="noStrike">
              <a:solidFill>
                <a:srgbClr val="000000"/>
              </a:solidFill>
              <a:latin typeface="Arial"/>
            </a:endParaRPr>
          </a:p>
        </p:txBody>
      </p:sp>
      <p:sp>
        <p:nvSpPr>
          <p:cNvPr id="112" name="TextBox 97"/>
          <p:cNvSpPr/>
          <p:nvPr/>
        </p:nvSpPr>
        <p:spPr>
          <a:xfrm>
            <a:off x="6400800" y="2223000"/>
            <a:ext cx="959760" cy="203760"/>
          </a:xfrm>
          <a:prstGeom prst="rect">
            <a:avLst/>
          </a:prstGeom>
          <a:noFill/>
          <a:ln w="0">
            <a:noFill/>
          </a:ln>
        </p:spPr>
        <p:style>
          <a:lnRef idx="0"/>
          <a:fillRef idx="0"/>
          <a:effectRef idx="0"/>
          <a:fontRef idx="minor"/>
        </p:style>
        <p:txBody>
          <a:bodyPr lIns="18360" rIns="18360" tIns="18360" bIns="18360" anchor="t">
            <a:spAutoFit/>
          </a:bodyPr>
          <a:p>
            <a:pPr algn="r">
              <a:lnSpc>
                <a:spcPct val="100000"/>
              </a:lnSpc>
            </a:pPr>
            <a:r>
              <a:rPr b="0" lang="en-US" sz="1100" spc="-1" strike="noStrike">
                <a:solidFill>
                  <a:srgbClr val="666666"/>
                </a:solidFill>
                <a:latin typeface="Courier New"/>
              </a:rPr>
              <a:t>INT FK</a:t>
            </a:r>
            <a:endParaRPr b="0" lang="en-US" sz="1100" spc="-1" strike="noStrike">
              <a:solidFill>
                <a:srgbClr val="000000"/>
              </a:solidFill>
              <a:latin typeface="Arial"/>
            </a:endParaRPr>
          </a:p>
        </p:txBody>
      </p:sp>
      <p:sp>
        <p:nvSpPr>
          <p:cNvPr id="113" name="TextBox 98"/>
          <p:cNvSpPr/>
          <p:nvPr/>
        </p:nvSpPr>
        <p:spPr>
          <a:xfrm>
            <a:off x="5212080" y="2669040"/>
            <a:ext cx="1371240" cy="23436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0" lang="en-US" sz="1300" spc="-1" strike="noStrike">
                <a:solidFill>
                  <a:srgbClr val="222222"/>
                </a:solidFill>
                <a:latin typeface="Courier New"/>
              </a:rPr>
              <a:t>order_date</a:t>
            </a:r>
            <a:endParaRPr b="0" lang="en-US" sz="1300" spc="-1" strike="noStrike">
              <a:solidFill>
                <a:srgbClr val="000000"/>
              </a:solidFill>
              <a:latin typeface="Arial"/>
            </a:endParaRPr>
          </a:p>
        </p:txBody>
      </p:sp>
      <p:sp>
        <p:nvSpPr>
          <p:cNvPr id="114" name="TextBox 99"/>
          <p:cNvSpPr/>
          <p:nvPr/>
        </p:nvSpPr>
        <p:spPr>
          <a:xfrm>
            <a:off x="6400800" y="2669040"/>
            <a:ext cx="959760" cy="203760"/>
          </a:xfrm>
          <a:prstGeom prst="rect">
            <a:avLst/>
          </a:prstGeom>
          <a:noFill/>
          <a:ln w="0">
            <a:noFill/>
          </a:ln>
        </p:spPr>
        <p:style>
          <a:lnRef idx="0"/>
          <a:fillRef idx="0"/>
          <a:effectRef idx="0"/>
          <a:fontRef idx="minor"/>
        </p:style>
        <p:txBody>
          <a:bodyPr lIns="18360" rIns="18360" tIns="18360" bIns="18360" anchor="t">
            <a:spAutoFit/>
          </a:bodyPr>
          <a:p>
            <a:pPr algn="r">
              <a:lnSpc>
                <a:spcPct val="100000"/>
              </a:lnSpc>
            </a:pPr>
            <a:r>
              <a:rPr b="0" lang="en-US" sz="1100" spc="-1" strike="noStrike">
                <a:solidFill>
                  <a:srgbClr val="666666"/>
                </a:solidFill>
                <a:latin typeface="Courier New"/>
              </a:rPr>
              <a:t>DATE</a:t>
            </a:r>
            <a:endParaRPr b="0" lang="en-US" sz="1100" spc="-1" strike="noStrike">
              <a:solidFill>
                <a:srgbClr val="000000"/>
              </a:solidFill>
              <a:latin typeface="Arial"/>
            </a:endParaRPr>
          </a:p>
        </p:txBody>
      </p:sp>
      <p:sp>
        <p:nvSpPr>
          <p:cNvPr id="115" name="TextBox 100"/>
          <p:cNvSpPr/>
          <p:nvPr/>
        </p:nvSpPr>
        <p:spPr>
          <a:xfrm>
            <a:off x="5212080" y="3114720"/>
            <a:ext cx="1371240" cy="23436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0" lang="en-US" sz="1300" spc="-1" strike="noStrike">
                <a:solidFill>
                  <a:srgbClr val="222222"/>
                </a:solidFill>
                <a:latin typeface="Courier New"/>
              </a:rPr>
              <a:t>status</a:t>
            </a:r>
            <a:endParaRPr b="0" lang="en-US" sz="1300" spc="-1" strike="noStrike">
              <a:solidFill>
                <a:srgbClr val="000000"/>
              </a:solidFill>
              <a:latin typeface="Arial"/>
            </a:endParaRPr>
          </a:p>
        </p:txBody>
      </p:sp>
      <p:sp>
        <p:nvSpPr>
          <p:cNvPr id="116" name="TextBox 101"/>
          <p:cNvSpPr/>
          <p:nvPr/>
        </p:nvSpPr>
        <p:spPr>
          <a:xfrm>
            <a:off x="6400800" y="3114720"/>
            <a:ext cx="959760" cy="203760"/>
          </a:xfrm>
          <a:prstGeom prst="rect">
            <a:avLst/>
          </a:prstGeom>
          <a:noFill/>
          <a:ln w="0">
            <a:noFill/>
          </a:ln>
        </p:spPr>
        <p:style>
          <a:lnRef idx="0"/>
          <a:fillRef idx="0"/>
          <a:effectRef idx="0"/>
          <a:fontRef idx="minor"/>
        </p:style>
        <p:txBody>
          <a:bodyPr lIns="18360" rIns="18360" tIns="18360" bIns="18360" anchor="t">
            <a:spAutoFit/>
          </a:bodyPr>
          <a:p>
            <a:pPr algn="r">
              <a:lnSpc>
                <a:spcPct val="100000"/>
              </a:lnSpc>
            </a:pPr>
            <a:r>
              <a:rPr b="0" lang="en-US" sz="1100" spc="-1" strike="noStrike">
                <a:solidFill>
                  <a:srgbClr val="666666"/>
                </a:solidFill>
                <a:latin typeface="Courier New"/>
              </a:rPr>
              <a:t>ENUM</a:t>
            </a:r>
            <a:endParaRPr b="0" lang="en-US" sz="1100" spc="-1" strike="noStrike">
              <a:solidFill>
                <a:srgbClr val="000000"/>
              </a:solidFill>
              <a:latin typeface="Arial"/>
            </a:endParaRPr>
          </a:p>
        </p:txBody>
      </p:sp>
      <p:sp>
        <p:nvSpPr>
          <p:cNvPr id="117" name="Rectangle 102"/>
          <p:cNvSpPr/>
          <p:nvPr/>
        </p:nvSpPr>
        <p:spPr>
          <a:xfrm>
            <a:off x="8961120" y="1280160"/>
            <a:ext cx="2834280" cy="411120"/>
          </a:xfrm>
          <a:prstGeom prst="rect">
            <a:avLst/>
          </a:prstGeom>
          <a:solidFill>
            <a:srgbClr val="a36a0d"/>
          </a:solidFill>
          <a:ln>
            <a:solidFill>
              <a:srgbClr val="a36a0d"/>
            </a:solidFill>
          </a:ln>
        </p:spPr>
        <p:style>
          <a:lnRef idx="1">
            <a:schemeClr val="accent1"/>
          </a:lnRef>
          <a:fillRef idx="3">
            <a:schemeClr val="accent1"/>
          </a:fillRef>
          <a:effectRef idx="2">
            <a:schemeClr val="accent1"/>
          </a:effectRef>
          <a:fontRef idx="minor"/>
        </p:style>
        <p:txBody>
          <a:bodyPr lIns="90000" rIns="90000" tIns="36720" bIns="36720" anchor="ctr">
            <a:noAutofit/>
          </a:bodyPr>
          <a:p>
            <a:pPr algn="ctr">
              <a:lnSpc>
                <a:spcPct val="100000"/>
              </a:lnSpc>
            </a:pPr>
            <a:r>
              <a:rPr b="1" lang="en-US" sz="1600" spc="-1" strike="noStrike">
                <a:solidFill>
                  <a:srgbClr val="ffffff"/>
                </a:solidFill>
                <a:latin typeface="Courier New"/>
                <a:ea typeface="DejaVu Sans"/>
              </a:rPr>
              <a:t>products</a:t>
            </a:r>
            <a:endParaRPr b="0" lang="en-US" sz="1600" spc="-1" strike="noStrike">
              <a:solidFill>
                <a:srgbClr val="000000"/>
              </a:solidFill>
              <a:latin typeface="Arial"/>
            </a:endParaRPr>
          </a:p>
        </p:txBody>
      </p:sp>
      <p:sp>
        <p:nvSpPr>
          <p:cNvPr id="118" name="Rectangle 103"/>
          <p:cNvSpPr/>
          <p:nvPr/>
        </p:nvSpPr>
        <p:spPr>
          <a:xfrm>
            <a:off x="8961120" y="1691640"/>
            <a:ext cx="2834280" cy="2194200"/>
          </a:xfrm>
          <a:prstGeom prst="rect">
            <a:avLst/>
          </a:prstGeom>
          <a:solidFill>
            <a:srgbClr val="fff3d6"/>
          </a:solidFill>
          <a:ln w="19050">
            <a:solidFill>
              <a:srgbClr val="a36a0d"/>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Arial"/>
              <a:ea typeface="DejaVu Sans"/>
            </a:endParaRPr>
          </a:p>
        </p:txBody>
      </p:sp>
      <p:sp>
        <p:nvSpPr>
          <p:cNvPr id="119" name="TextBox 104"/>
          <p:cNvSpPr/>
          <p:nvPr/>
        </p:nvSpPr>
        <p:spPr>
          <a:xfrm>
            <a:off x="9006840" y="1774080"/>
            <a:ext cx="502560" cy="18864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1" lang="en-US" sz="1000" spc="-1" strike="noStrike">
                <a:solidFill>
                  <a:srgbClr val="a31515"/>
                </a:solidFill>
                <a:latin typeface="Courier New"/>
              </a:rPr>
              <a:t>PK</a:t>
            </a:r>
            <a:endParaRPr b="0" lang="en-US" sz="1000" spc="-1" strike="noStrike">
              <a:solidFill>
                <a:srgbClr val="000000"/>
              </a:solidFill>
              <a:latin typeface="Arial"/>
            </a:endParaRPr>
          </a:p>
        </p:txBody>
      </p:sp>
      <p:sp>
        <p:nvSpPr>
          <p:cNvPr id="120" name="TextBox 105"/>
          <p:cNvSpPr/>
          <p:nvPr/>
        </p:nvSpPr>
        <p:spPr>
          <a:xfrm>
            <a:off x="9509760" y="1774080"/>
            <a:ext cx="1371240" cy="23436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0" lang="en-US" sz="1300" spc="-1" strike="noStrike">
                <a:solidFill>
                  <a:srgbClr val="222222"/>
                </a:solidFill>
                <a:latin typeface="Courier New"/>
              </a:rPr>
              <a:t>id</a:t>
            </a:r>
            <a:endParaRPr b="0" lang="en-US" sz="1300" spc="-1" strike="noStrike">
              <a:solidFill>
                <a:srgbClr val="000000"/>
              </a:solidFill>
              <a:latin typeface="Arial"/>
            </a:endParaRPr>
          </a:p>
        </p:txBody>
      </p:sp>
      <p:sp>
        <p:nvSpPr>
          <p:cNvPr id="121" name="TextBox 106"/>
          <p:cNvSpPr/>
          <p:nvPr/>
        </p:nvSpPr>
        <p:spPr>
          <a:xfrm>
            <a:off x="10698480" y="1774080"/>
            <a:ext cx="959760" cy="203760"/>
          </a:xfrm>
          <a:prstGeom prst="rect">
            <a:avLst/>
          </a:prstGeom>
          <a:noFill/>
          <a:ln w="0">
            <a:noFill/>
          </a:ln>
        </p:spPr>
        <p:style>
          <a:lnRef idx="0"/>
          <a:fillRef idx="0"/>
          <a:effectRef idx="0"/>
          <a:fontRef idx="minor"/>
        </p:style>
        <p:txBody>
          <a:bodyPr lIns="18360" rIns="18360" tIns="18360" bIns="18360" anchor="t">
            <a:spAutoFit/>
          </a:bodyPr>
          <a:p>
            <a:pPr algn="r">
              <a:lnSpc>
                <a:spcPct val="100000"/>
              </a:lnSpc>
            </a:pPr>
            <a:r>
              <a:rPr b="0" lang="en-US" sz="1100" spc="-1" strike="noStrike">
                <a:solidFill>
                  <a:srgbClr val="666666"/>
                </a:solidFill>
                <a:latin typeface="Courier New"/>
              </a:rPr>
              <a:t>INT PK</a:t>
            </a:r>
            <a:endParaRPr b="0" lang="en-US" sz="1100" spc="-1" strike="noStrike">
              <a:solidFill>
                <a:srgbClr val="000000"/>
              </a:solidFill>
              <a:latin typeface="Arial"/>
            </a:endParaRPr>
          </a:p>
        </p:txBody>
      </p:sp>
      <p:sp>
        <p:nvSpPr>
          <p:cNvPr id="122" name="TextBox 107"/>
          <p:cNvSpPr/>
          <p:nvPr/>
        </p:nvSpPr>
        <p:spPr>
          <a:xfrm>
            <a:off x="9006840" y="2212920"/>
            <a:ext cx="502560" cy="18864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1" lang="en-US" sz="1000" spc="-1" strike="noStrike">
                <a:solidFill>
                  <a:srgbClr val="a36a0d"/>
                </a:solidFill>
                <a:latin typeface="Courier New"/>
              </a:rPr>
              <a:t>U</a:t>
            </a:r>
            <a:endParaRPr b="0" lang="en-US" sz="1000" spc="-1" strike="noStrike">
              <a:solidFill>
                <a:srgbClr val="000000"/>
              </a:solidFill>
              <a:latin typeface="Arial"/>
            </a:endParaRPr>
          </a:p>
        </p:txBody>
      </p:sp>
      <p:sp>
        <p:nvSpPr>
          <p:cNvPr id="123" name="TextBox 108"/>
          <p:cNvSpPr/>
          <p:nvPr/>
        </p:nvSpPr>
        <p:spPr>
          <a:xfrm>
            <a:off x="9509760" y="2212920"/>
            <a:ext cx="1371240" cy="23436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0" lang="en-US" sz="1300" spc="-1" strike="noStrike">
                <a:solidFill>
                  <a:srgbClr val="222222"/>
                </a:solidFill>
                <a:latin typeface="Courier New"/>
              </a:rPr>
              <a:t>sku</a:t>
            </a:r>
            <a:endParaRPr b="0" lang="en-US" sz="1300" spc="-1" strike="noStrike">
              <a:solidFill>
                <a:srgbClr val="000000"/>
              </a:solidFill>
              <a:latin typeface="Arial"/>
            </a:endParaRPr>
          </a:p>
        </p:txBody>
      </p:sp>
      <p:sp>
        <p:nvSpPr>
          <p:cNvPr id="124" name="TextBox 109"/>
          <p:cNvSpPr/>
          <p:nvPr/>
        </p:nvSpPr>
        <p:spPr>
          <a:xfrm>
            <a:off x="10698480" y="2212920"/>
            <a:ext cx="959760" cy="203760"/>
          </a:xfrm>
          <a:prstGeom prst="rect">
            <a:avLst/>
          </a:prstGeom>
          <a:noFill/>
          <a:ln w="0">
            <a:noFill/>
          </a:ln>
        </p:spPr>
        <p:style>
          <a:lnRef idx="0"/>
          <a:fillRef idx="0"/>
          <a:effectRef idx="0"/>
          <a:fontRef idx="minor"/>
        </p:style>
        <p:txBody>
          <a:bodyPr lIns="18360" rIns="18360" tIns="18360" bIns="18360" anchor="t">
            <a:spAutoFit/>
          </a:bodyPr>
          <a:p>
            <a:pPr algn="r">
              <a:lnSpc>
                <a:spcPct val="100000"/>
              </a:lnSpc>
            </a:pPr>
            <a:r>
              <a:rPr b="0" lang="en-US" sz="1100" spc="-1" strike="noStrike">
                <a:solidFill>
                  <a:srgbClr val="666666"/>
                </a:solidFill>
                <a:latin typeface="Courier New"/>
              </a:rPr>
              <a:t>VARCHAR(40)</a:t>
            </a:r>
            <a:endParaRPr b="0" lang="en-US" sz="1100" spc="-1" strike="noStrike">
              <a:solidFill>
                <a:srgbClr val="000000"/>
              </a:solidFill>
              <a:latin typeface="Arial"/>
            </a:endParaRPr>
          </a:p>
        </p:txBody>
      </p:sp>
      <p:sp>
        <p:nvSpPr>
          <p:cNvPr id="125" name="TextBox 110"/>
          <p:cNvSpPr/>
          <p:nvPr/>
        </p:nvSpPr>
        <p:spPr>
          <a:xfrm>
            <a:off x="9509760" y="2651760"/>
            <a:ext cx="1371240" cy="23436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0" lang="en-US" sz="1300" spc="-1" strike="noStrike">
                <a:solidFill>
                  <a:srgbClr val="222222"/>
                </a:solidFill>
                <a:latin typeface="Courier New"/>
              </a:rPr>
              <a:t>name</a:t>
            </a:r>
            <a:endParaRPr b="0" lang="en-US" sz="1300" spc="-1" strike="noStrike">
              <a:solidFill>
                <a:srgbClr val="000000"/>
              </a:solidFill>
              <a:latin typeface="Arial"/>
            </a:endParaRPr>
          </a:p>
        </p:txBody>
      </p:sp>
      <p:sp>
        <p:nvSpPr>
          <p:cNvPr id="126" name="TextBox 111"/>
          <p:cNvSpPr/>
          <p:nvPr/>
        </p:nvSpPr>
        <p:spPr>
          <a:xfrm>
            <a:off x="10698480" y="2651760"/>
            <a:ext cx="959760" cy="371160"/>
          </a:xfrm>
          <a:prstGeom prst="rect">
            <a:avLst/>
          </a:prstGeom>
          <a:noFill/>
          <a:ln w="0">
            <a:noFill/>
          </a:ln>
        </p:spPr>
        <p:style>
          <a:lnRef idx="0"/>
          <a:fillRef idx="0"/>
          <a:effectRef idx="0"/>
          <a:fontRef idx="minor"/>
        </p:style>
        <p:txBody>
          <a:bodyPr lIns="18360" rIns="18360" tIns="18360" bIns="18360" anchor="t">
            <a:spAutoFit/>
          </a:bodyPr>
          <a:p>
            <a:pPr algn="r">
              <a:lnSpc>
                <a:spcPct val="100000"/>
              </a:lnSpc>
            </a:pPr>
            <a:r>
              <a:rPr b="0" lang="en-US" sz="1100" spc="-1" strike="noStrike">
                <a:solidFill>
                  <a:srgbClr val="666666"/>
                </a:solidFill>
                <a:latin typeface="Courier New"/>
              </a:rPr>
              <a:t>VARCHAR(150)</a:t>
            </a:r>
            <a:endParaRPr b="0" lang="en-US" sz="1100" spc="-1" strike="noStrike">
              <a:solidFill>
                <a:srgbClr val="000000"/>
              </a:solidFill>
              <a:latin typeface="Arial"/>
            </a:endParaRPr>
          </a:p>
        </p:txBody>
      </p:sp>
      <p:sp>
        <p:nvSpPr>
          <p:cNvPr id="127" name="TextBox 112"/>
          <p:cNvSpPr/>
          <p:nvPr/>
        </p:nvSpPr>
        <p:spPr>
          <a:xfrm>
            <a:off x="9509760" y="3090600"/>
            <a:ext cx="1371240" cy="23436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0" lang="en-US" sz="1300" spc="-1" strike="noStrike">
                <a:solidFill>
                  <a:srgbClr val="222222"/>
                </a:solidFill>
                <a:latin typeface="Courier New"/>
              </a:rPr>
              <a:t>price</a:t>
            </a:r>
            <a:endParaRPr b="0" lang="en-US" sz="1300" spc="-1" strike="noStrike">
              <a:solidFill>
                <a:srgbClr val="000000"/>
              </a:solidFill>
              <a:latin typeface="Arial"/>
            </a:endParaRPr>
          </a:p>
        </p:txBody>
      </p:sp>
      <p:sp>
        <p:nvSpPr>
          <p:cNvPr id="128" name="TextBox 113"/>
          <p:cNvSpPr/>
          <p:nvPr/>
        </p:nvSpPr>
        <p:spPr>
          <a:xfrm>
            <a:off x="10698480" y="3090600"/>
            <a:ext cx="959760" cy="371160"/>
          </a:xfrm>
          <a:prstGeom prst="rect">
            <a:avLst/>
          </a:prstGeom>
          <a:noFill/>
          <a:ln w="0">
            <a:noFill/>
          </a:ln>
        </p:spPr>
        <p:style>
          <a:lnRef idx="0"/>
          <a:fillRef idx="0"/>
          <a:effectRef idx="0"/>
          <a:fontRef idx="minor"/>
        </p:style>
        <p:txBody>
          <a:bodyPr lIns="18360" rIns="18360" tIns="18360" bIns="18360" anchor="t">
            <a:spAutoFit/>
          </a:bodyPr>
          <a:p>
            <a:pPr algn="r">
              <a:lnSpc>
                <a:spcPct val="100000"/>
              </a:lnSpc>
            </a:pPr>
            <a:r>
              <a:rPr b="0" lang="en-US" sz="1100" spc="-1" strike="noStrike">
                <a:solidFill>
                  <a:srgbClr val="666666"/>
                </a:solidFill>
                <a:latin typeface="Courier New"/>
              </a:rPr>
              <a:t>DECIMAL(10,2)</a:t>
            </a:r>
            <a:endParaRPr b="0" lang="en-US" sz="1100" spc="-1" strike="noStrike">
              <a:solidFill>
                <a:srgbClr val="000000"/>
              </a:solidFill>
              <a:latin typeface="Arial"/>
            </a:endParaRPr>
          </a:p>
        </p:txBody>
      </p:sp>
      <p:sp>
        <p:nvSpPr>
          <p:cNvPr id="129" name="TextBox 114"/>
          <p:cNvSpPr/>
          <p:nvPr/>
        </p:nvSpPr>
        <p:spPr>
          <a:xfrm>
            <a:off x="9509760" y="3529440"/>
            <a:ext cx="1371240" cy="23436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0" lang="en-US" sz="1300" spc="-1" strike="noStrike">
                <a:solidFill>
                  <a:srgbClr val="222222"/>
                </a:solidFill>
                <a:latin typeface="Courier New"/>
              </a:rPr>
              <a:t>stock</a:t>
            </a:r>
            <a:endParaRPr b="0" lang="en-US" sz="1300" spc="-1" strike="noStrike">
              <a:solidFill>
                <a:srgbClr val="000000"/>
              </a:solidFill>
              <a:latin typeface="Arial"/>
            </a:endParaRPr>
          </a:p>
        </p:txBody>
      </p:sp>
      <p:sp>
        <p:nvSpPr>
          <p:cNvPr id="130" name="TextBox 115"/>
          <p:cNvSpPr/>
          <p:nvPr/>
        </p:nvSpPr>
        <p:spPr>
          <a:xfrm>
            <a:off x="10698480" y="3529440"/>
            <a:ext cx="959760" cy="203760"/>
          </a:xfrm>
          <a:prstGeom prst="rect">
            <a:avLst/>
          </a:prstGeom>
          <a:noFill/>
          <a:ln w="0">
            <a:noFill/>
          </a:ln>
        </p:spPr>
        <p:style>
          <a:lnRef idx="0"/>
          <a:fillRef idx="0"/>
          <a:effectRef idx="0"/>
          <a:fontRef idx="minor"/>
        </p:style>
        <p:txBody>
          <a:bodyPr lIns="18360" rIns="18360" tIns="18360" bIns="18360" anchor="t">
            <a:spAutoFit/>
          </a:bodyPr>
          <a:p>
            <a:pPr algn="r">
              <a:lnSpc>
                <a:spcPct val="100000"/>
              </a:lnSpc>
            </a:pPr>
            <a:r>
              <a:rPr b="0" lang="en-US" sz="1100" spc="-1" strike="noStrike">
                <a:solidFill>
                  <a:srgbClr val="666666"/>
                </a:solidFill>
                <a:latin typeface="Courier New"/>
              </a:rPr>
              <a:t>INT</a:t>
            </a:r>
            <a:endParaRPr b="0" lang="en-US" sz="1100" spc="-1" strike="noStrike">
              <a:solidFill>
                <a:srgbClr val="000000"/>
              </a:solidFill>
              <a:latin typeface="Arial"/>
            </a:endParaRPr>
          </a:p>
        </p:txBody>
      </p:sp>
      <p:sp>
        <p:nvSpPr>
          <p:cNvPr id="131" name="Rectangle 116"/>
          <p:cNvSpPr/>
          <p:nvPr/>
        </p:nvSpPr>
        <p:spPr>
          <a:xfrm>
            <a:off x="4663440" y="3931920"/>
            <a:ext cx="2834280" cy="411120"/>
          </a:xfrm>
          <a:prstGeom prst="rect">
            <a:avLst/>
          </a:prstGeom>
          <a:solidFill>
            <a:srgbClr val="5a2db0"/>
          </a:solidFill>
          <a:ln>
            <a:solidFill>
              <a:srgbClr val="5a2db0"/>
            </a:solidFill>
          </a:ln>
        </p:spPr>
        <p:style>
          <a:lnRef idx="1">
            <a:schemeClr val="accent1"/>
          </a:lnRef>
          <a:fillRef idx="3">
            <a:schemeClr val="accent1"/>
          </a:fillRef>
          <a:effectRef idx="2">
            <a:schemeClr val="accent1"/>
          </a:effectRef>
          <a:fontRef idx="minor"/>
        </p:style>
        <p:txBody>
          <a:bodyPr lIns="90000" rIns="90000" tIns="36720" bIns="36720" anchor="ctr">
            <a:noAutofit/>
          </a:bodyPr>
          <a:p>
            <a:pPr algn="ctr">
              <a:lnSpc>
                <a:spcPct val="100000"/>
              </a:lnSpc>
            </a:pPr>
            <a:r>
              <a:rPr b="1" lang="en-US" sz="1600" spc="-1" strike="noStrike">
                <a:solidFill>
                  <a:srgbClr val="ffffff"/>
                </a:solidFill>
                <a:latin typeface="Courier New"/>
                <a:ea typeface="DejaVu Sans"/>
              </a:rPr>
              <a:t>order_items</a:t>
            </a:r>
            <a:endParaRPr b="0" lang="en-US" sz="1600" spc="-1" strike="noStrike">
              <a:solidFill>
                <a:srgbClr val="000000"/>
              </a:solidFill>
              <a:latin typeface="Arial"/>
            </a:endParaRPr>
          </a:p>
        </p:txBody>
      </p:sp>
      <p:sp>
        <p:nvSpPr>
          <p:cNvPr id="132" name="Rectangle 117"/>
          <p:cNvSpPr/>
          <p:nvPr/>
        </p:nvSpPr>
        <p:spPr>
          <a:xfrm>
            <a:off x="4663440" y="4343400"/>
            <a:ext cx="2834280" cy="1782720"/>
          </a:xfrm>
          <a:prstGeom prst="rect">
            <a:avLst/>
          </a:prstGeom>
          <a:solidFill>
            <a:srgbClr val="d8c9ee"/>
          </a:solidFill>
          <a:ln w="19050">
            <a:solidFill>
              <a:srgbClr val="5a2db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Arial"/>
              <a:ea typeface="DejaVu Sans"/>
            </a:endParaRPr>
          </a:p>
        </p:txBody>
      </p:sp>
      <p:sp>
        <p:nvSpPr>
          <p:cNvPr id="133" name="TextBox 118"/>
          <p:cNvSpPr/>
          <p:nvPr/>
        </p:nvSpPr>
        <p:spPr>
          <a:xfrm>
            <a:off x="4709160" y="4384440"/>
            <a:ext cx="502560" cy="18864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1" lang="en-US" sz="1000" spc="-1" strike="noStrike">
                <a:solidFill>
                  <a:srgbClr val="a31515"/>
                </a:solidFill>
                <a:latin typeface="Courier New"/>
              </a:rPr>
              <a:t>PK</a:t>
            </a:r>
            <a:endParaRPr b="0" lang="en-US" sz="1000" spc="-1" strike="noStrike">
              <a:solidFill>
                <a:srgbClr val="000000"/>
              </a:solidFill>
              <a:latin typeface="Arial"/>
            </a:endParaRPr>
          </a:p>
        </p:txBody>
      </p:sp>
      <p:sp>
        <p:nvSpPr>
          <p:cNvPr id="134" name="TextBox 119"/>
          <p:cNvSpPr/>
          <p:nvPr/>
        </p:nvSpPr>
        <p:spPr>
          <a:xfrm>
            <a:off x="5212080" y="4384440"/>
            <a:ext cx="1371240" cy="23436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0" lang="en-US" sz="1300" spc="-1" strike="noStrike">
                <a:solidFill>
                  <a:srgbClr val="222222"/>
                </a:solidFill>
                <a:latin typeface="Courier New"/>
              </a:rPr>
              <a:t>id</a:t>
            </a:r>
            <a:endParaRPr b="0" lang="en-US" sz="1300" spc="-1" strike="noStrike">
              <a:solidFill>
                <a:srgbClr val="000000"/>
              </a:solidFill>
              <a:latin typeface="Arial"/>
            </a:endParaRPr>
          </a:p>
        </p:txBody>
      </p:sp>
      <p:sp>
        <p:nvSpPr>
          <p:cNvPr id="135" name="TextBox 120"/>
          <p:cNvSpPr/>
          <p:nvPr/>
        </p:nvSpPr>
        <p:spPr>
          <a:xfrm>
            <a:off x="6400800" y="4384440"/>
            <a:ext cx="959760" cy="203760"/>
          </a:xfrm>
          <a:prstGeom prst="rect">
            <a:avLst/>
          </a:prstGeom>
          <a:noFill/>
          <a:ln w="0">
            <a:noFill/>
          </a:ln>
        </p:spPr>
        <p:style>
          <a:lnRef idx="0"/>
          <a:fillRef idx="0"/>
          <a:effectRef idx="0"/>
          <a:fontRef idx="minor"/>
        </p:style>
        <p:txBody>
          <a:bodyPr lIns="18360" rIns="18360" tIns="18360" bIns="18360" anchor="t">
            <a:spAutoFit/>
          </a:bodyPr>
          <a:p>
            <a:pPr algn="r">
              <a:lnSpc>
                <a:spcPct val="100000"/>
              </a:lnSpc>
            </a:pPr>
            <a:r>
              <a:rPr b="0" lang="en-US" sz="1100" spc="-1" strike="noStrike">
                <a:solidFill>
                  <a:srgbClr val="666666"/>
                </a:solidFill>
                <a:latin typeface="Courier New"/>
              </a:rPr>
              <a:t>INT PK</a:t>
            </a:r>
            <a:endParaRPr b="0" lang="en-US" sz="1100" spc="-1" strike="noStrike">
              <a:solidFill>
                <a:srgbClr val="000000"/>
              </a:solidFill>
              <a:latin typeface="Arial"/>
            </a:endParaRPr>
          </a:p>
        </p:txBody>
      </p:sp>
      <p:sp>
        <p:nvSpPr>
          <p:cNvPr id="136" name="TextBox 121"/>
          <p:cNvSpPr/>
          <p:nvPr/>
        </p:nvSpPr>
        <p:spPr>
          <a:xfrm>
            <a:off x="4709160" y="4741200"/>
            <a:ext cx="502560" cy="18864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1" lang="en-US" sz="1000" spc="-1" strike="noStrike">
                <a:solidFill>
                  <a:srgbClr val="1a4f8a"/>
                </a:solidFill>
                <a:latin typeface="Courier New"/>
              </a:rPr>
              <a:t>FK</a:t>
            </a:r>
            <a:endParaRPr b="0" lang="en-US" sz="1000" spc="-1" strike="noStrike">
              <a:solidFill>
                <a:srgbClr val="000000"/>
              </a:solidFill>
              <a:latin typeface="Arial"/>
            </a:endParaRPr>
          </a:p>
        </p:txBody>
      </p:sp>
      <p:sp>
        <p:nvSpPr>
          <p:cNvPr id="137" name="TextBox 122"/>
          <p:cNvSpPr/>
          <p:nvPr/>
        </p:nvSpPr>
        <p:spPr>
          <a:xfrm>
            <a:off x="5212080" y="4741200"/>
            <a:ext cx="1371240" cy="23436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0" lang="en-US" sz="1300" spc="-1" strike="noStrike">
                <a:solidFill>
                  <a:srgbClr val="222222"/>
                </a:solidFill>
                <a:latin typeface="Courier New"/>
              </a:rPr>
              <a:t>order_id</a:t>
            </a:r>
            <a:endParaRPr b="0" lang="en-US" sz="1300" spc="-1" strike="noStrike">
              <a:solidFill>
                <a:srgbClr val="000000"/>
              </a:solidFill>
              <a:latin typeface="Arial"/>
            </a:endParaRPr>
          </a:p>
        </p:txBody>
      </p:sp>
      <p:sp>
        <p:nvSpPr>
          <p:cNvPr id="138" name="TextBox 123"/>
          <p:cNvSpPr/>
          <p:nvPr/>
        </p:nvSpPr>
        <p:spPr>
          <a:xfrm>
            <a:off x="6400800" y="4741200"/>
            <a:ext cx="959760" cy="203760"/>
          </a:xfrm>
          <a:prstGeom prst="rect">
            <a:avLst/>
          </a:prstGeom>
          <a:noFill/>
          <a:ln w="0">
            <a:noFill/>
          </a:ln>
        </p:spPr>
        <p:style>
          <a:lnRef idx="0"/>
          <a:fillRef idx="0"/>
          <a:effectRef idx="0"/>
          <a:fontRef idx="minor"/>
        </p:style>
        <p:txBody>
          <a:bodyPr lIns="18360" rIns="18360" tIns="18360" bIns="18360" anchor="t">
            <a:spAutoFit/>
          </a:bodyPr>
          <a:p>
            <a:pPr algn="r">
              <a:lnSpc>
                <a:spcPct val="100000"/>
              </a:lnSpc>
            </a:pPr>
            <a:r>
              <a:rPr b="0" lang="en-US" sz="1100" spc="-1" strike="noStrike">
                <a:solidFill>
                  <a:srgbClr val="666666"/>
                </a:solidFill>
                <a:latin typeface="Courier New"/>
              </a:rPr>
              <a:t>INT FK</a:t>
            </a:r>
            <a:endParaRPr b="0" lang="en-US" sz="1100" spc="-1" strike="noStrike">
              <a:solidFill>
                <a:srgbClr val="000000"/>
              </a:solidFill>
              <a:latin typeface="Arial"/>
            </a:endParaRPr>
          </a:p>
        </p:txBody>
      </p:sp>
      <p:sp>
        <p:nvSpPr>
          <p:cNvPr id="139" name="TextBox 124"/>
          <p:cNvSpPr/>
          <p:nvPr/>
        </p:nvSpPr>
        <p:spPr>
          <a:xfrm>
            <a:off x="4709160" y="5097960"/>
            <a:ext cx="502560" cy="18864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1" lang="en-US" sz="1000" spc="-1" strike="noStrike">
                <a:solidFill>
                  <a:srgbClr val="1a4f8a"/>
                </a:solidFill>
                <a:latin typeface="Courier New"/>
              </a:rPr>
              <a:t>FK</a:t>
            </a:r>
            <a:endParaRPr b="0" lang="en-US" sz="1000" spc="-1" strike="noStrike">
              <a:solidFill>
                <a:srgbClr val="000000"/>
              </a:solidFill>
              <a:latin typeface="Arial"/>
            </a:endParaRPr>
          </a:p>
        </p:txBody>
      </p:sp>
      <p:sp>
        <p:nvSpPr>
          <p:cNvPr id="140" name="TextBox 125"/>
          <p:cNvSpPr/>
          <p:nvPr/>
        </p:nvSpPr>
        <p:spPr>
          <a:xfrm>
            <a:off x="5212080" y="5097960"/>
            <a:ext cx="1371240" cy="23436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0" lang="en-US" sz="1300" spc="-1" strike="noStrike">
                <a:solidFill>
                  <a:srgbClr val="222222"/>
                </a:solidFill>
                <a:latin typeface="Courier New"/>
              </a:rPr>
              <a:t>product_id</a:t>
            </a:r>
            <a:endParaRPr b="0" lang="en-US" sz="1300" spc="-1" strike="noStrike">
              <a:solidFill>
                <a:srgbClr val="000000"/>
              </a:solidFill>
              <a:latin typeface="Arial"/>
            </a:endParaRPr>
          </a:p>
        </p:txBody>
      </p:sp>
      <p:sp>
        <p:nvSpPr>
          <p:cNvPr id="141" name="TextBox 126"/>
          <p:cNvSpPr/>
          <p:nvPr/>
        </p:nvSpPr>
        <p:spPr>
          <a:xfrm>
            <a:off x="6400800" y="5097960"/>
            <a:ext cx="959760" cy="203760"/>
          </a:xfrm>
          <a:prstGeom prst="rect">
            <a:avLst/>
          </a:prstGeom>
          <a:noFill/>
          <a:ln w="0">
            <a:noFill/>
          </a:ln>
        </p:spPr>
        <p:style>
          <a:lnRef idx="0"/>
          <a:fillRef idx="0"/>
          <a:effectRef idx="0"/>
          <a:fontRef idx="minor"/>
        </p:style>
        <p:txBody>
          <a:bodyPr lIns="18360" rIns="18360" tIns="18360" bIns="18360" anchor="t">
            <a:spAutoFit/>
          </a:bodyPr>
          <a:p>
            <a:pPr algn="r">
              <a:lnSpc>
                <a:spcPct val="100000"/>
              </a:lnSpc>
            </a:pPr>
            <a:r>
              <a:rPr b="0" lang="en-US" sz="1100" spc="-1" strike="noStrike">
                <a:solidFill>
                  <a:srgbClr val="666666"/>
                </a:solidFill>
                <a:latin typeface="Courier New"/>
              </a:rPr>
              <a:t>INT FK</a:t>
            </a:r>
            <a:endParaRPr b="0" lang="en-US" sz="1100" spc="-1" strike="noStrike">
              <a:solidFill>
                <a:srgbClr val="000000"/>
              </a:solidFill>
              <a:latin typeface="Arial"/>
            </a:endParaRPr>
          </a:p>
        </p:txBody>
      </p:sp>
      <p:sp>
        <p:nvSpPr>
          <p:cNvPr id="142" name="TextBox 127"/>
          <p:cNvSpPr/>
          <p:nvPr/>
        </p:nvSpPr>
        <p:spPr>
          <a:xfrm>
            <a:off x="5212080" y="5454360"/>
            <a:ext cx="1371240" cy="23436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0" lang="en-US" sz="1300" spc="-1" strike="noStrike">
                <a:solidFill>
                  <a:srgbClr val="222222"/>
                </a:solidFill>
                <a:latin typeface="Courier New"/>
              </a:rPr>
              <a:t>qty</a:t>
            </a:r>
            <a:endParaRPr b="0" lang="en-US" sz="1300" spc="-1" strike="noStrike">
              <a:solidFill>
                <a:srgbClr val="000000"/>
              </a:solidFill>
              <a:latin typeface="Arial"/>
            </a:endParaRPr>
          </a:p>
        </p:txBody>
      </p:sp>
      <p:sp>
        <p:nvSpPr>
          <p:cNvPr id="143" name="TextBox 128"/>
          <p:cNvSpPr/>
          <p:nvPr/>
        </p:nvSpPr>
        <p:spPr>
          <a:xfrm>
            <a:off x="6400800" y="5454360"/>
            <a:ext cx="959760" cy="203760"/>
          </a:xfrm>
          <a:prstGeom prst="rect">
            <a:avLst/>
          </a:prstGeom>
          <a:noFill/>
          <a:ln w="0">
            <a:noFill/>
          </a:ln>
        </p:spPr>
        <p:style>
          <a:lnRef idx="0"/>
          <a:fillRef idx="0"/>
          <a:effectRef idx="0"/>
          <a:fontRef idx="minor"/>
        </p:style>
        <p:txBody>
          <a:bodyPr lIns="18360" rIns="18360" tIns="18360" bIns="18360" anchor="t">
            <a:spAutoFit/>
          </a:bodyPr>
          <a:p>
            <a:pPr algn="r">
              <a:lnSpc>
                <a:spcPct val="100000"/>
              </a:lnSpc>
            </a:pPr>
            <a:r>
              <a:rPr b="0" lang="en-US" sz="1100" spc="-1" strike="noStrike">
                <a:solidFill>
                  <a:srgbClr val="666666"/>
                </a:solidFill>
                <a:latin typeface="Courier New"/>
              </a:rPr>
              <a:t>INT</a:t>
            </a:r>
            <a:endParaRPr b="0" lang="en-US" sz="1100" spc="-1" strike="noStrike">
              <a:solidFill>
                <a:srgbClr val="000000"/>
              </a:solidFill>
              <a:latin typeface="Arial"/>
            </a:endParaRPr>
          </a:p>
        </p:txBody>
      </p:sp>
      <p:sp>
        <p:nvSpPr>
          <p:cNvPr id="144" name="TextBox 129"/>
          <p:cNvSpPr/>
          <p:nvPr/>
        </p:nvSpPr>
        <p:spPr>
          <a:xfrm>
            <a:off x="5212080" y="5811120"/>
            <a:ext cx="1371240" cy="23436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0" lang="en-US" sz="1300" spc="-1" strike="noStrike">
                <a:solidFill>
                  <a:srgbClr val="222222"/>
                </a:solidFill>
                <a:latin typeface="Courier New"/>
              </a:rPr>
              <a:t>unit_price</a:t>
            </a:r>
            <a:endParaRPr b="0" lang="en-US" sz="1300" spc="-1" strike="noStrike">
              <a:solidFill>
                <a:srgbClr val="000000"/>
              </a:solidFill>
              <a:latin typeface="Arial"/>
            </a:endParaRPr>
          </a:p>
        </p:txBody>
      </p:sp>
      <p:sp>
        <p:nvSpPr>
          <p:cNvPr id="145" name="TextBox 130"/>
          <p:cNvSpPr/>
          <p:nvPr/>
        </p:nvSpPr>
        <p:spPr>
          <a:xfrm>
            <a:off x="6400800" y="5811120"/>
            <a:ext cx="959760" cy="371160"/>
          </a:xfrm>
          <a:prstGeom prst="rect">
            <a:avLst/>
          </a:prstGeom>
          <a:noFill/>
          <a:ln w="0">
            <a:noFill/>
          </a:ln>
        </p:spPr>
        <p:style>
          <a:lnRef idx="0"/>
          <a:fillRef idx="0"/>
          <a:effectRef idx="0"/>
          <a:fontRef idx="minor"/>
        </p:style>
        <p:txBody>
          <a:bodyPr lIns="18360" rIns="18360" tIns="18360" bIns="18360" anchor="t">
            <a:spAutoFit/>
          </a:bodyPr>
          <a:p>
            <a:pPr algn="r">
              <a:lnSpc>
                <a:spcPct val="100000"/>
              </a:lnSpc>
            </a:pPr>
            <a:r>
              <a:rPr b="0" lang="en-US" sz="1100" spc="-1" strike="noStrike">
                <a:solidFill>
                  <a:srgbClr val="666666"/>
                </a:solidFill>
                <a:latin typeface="Courier New"/>
              </a:rPr>
              <a:t>DECIMAL(10,2)</a:t>
            </a:r>
            <a:endParaRPr b="0" lang="en-US" sz="1100" spc="-1" strike="noStrike">
              <a:solidFill>
                <a:srgbClr val="000000"/>
              </a:solidFill>
              <a:latin typeface="Arial"/>
            </a:endParaRPr>
          </a:p>
        </p:txBody>
      </p:sp>
      <p:cxnSp>
        <p:nvCxnSpPr>
          <p:cNvPr id="146" name="Connector 131"/>
          <p:cNvCxnSpPr/>
          <p:nvPr/>
        </p:nvCxnSpPr>
        <p:spPr>
          <a:xfrm flipV="1">
            <a:off x="3200400" y="2377080"/>
            <a:ext cx="1463400" cy="366480"/>
          </a:xfrm>
          <a:prstGeom prst="straightConnector1">
            <a:avLst/>
          </a:prstGeom>
          <a:ln w="31750">
            <a:solidFill>
              <a:srgbClr val="2a7a32"/>
            </a:solidFill>
            <a:tailEnd len="med" type="triangle" w="med"/>
          </a:ln>
        </p:spPr>
      </p:cxnSp>
      <p:sp>
        <p:nvSpPr>
          <p:cNvPr id="147" name="TextBox 132"/>
          <p:cNvSpPr/>
          <p:nvPr/>
        </p:nvSpPr>
        <p:spPr>
          <a:xfrm>
            <a:off x="3154680" y="2331720"/>
            <a:ext cx="1554120" cy="203760"/>
          </a:xfrm>
          <a:prstGeom prst="rect">
            <a:avLst/>
          </a:prstGeom>
          <a:noFill/>
          <a:ln w="0">
            <a:noFill/>
          </a:ln>
        </p:spPr>
        <p:style>
          <a:lnRef idx="0"/>
          <a:fillRef idx="0"/>
          <a:effectRef idx="0"/>
          <a:fontRef idx="minor"/>
        </p:style>
        <p:txBody>
          <a:bodyPr lIns="18360" rIns="18360" tIns="18360" bIns="18360" anchor="t">
            <a:spAutoFit/>
          </a:bodyPr>
          <a:p>
            <a:pPr algn="ctr">
              <a:lnSpc>
                <a:spcPct val="100000"/>
              </a:lnSpc>
            </a:pPr>
            <a:r>
              <a:rPr b="1" lang="en-US" sz="1100" spc="-1" strike="noStrike">
                <a:solidFill>
                  <a:srgbClr val="2a7a32"/>
                </a:solidFill>
                <a:latin typeface="Arial"/>
              </a:rPr>
              <a:t>N — 1  CASCADE</a:t>
            </a:r>
            <a:endParaRPr b="0" lang="en-US" sz="1100" spc="-1" strike="noStrike">
              <a:solidFill>
                <a:srgbClr val="000000"/>
              </a:solidFill>
              <a:latin typeface="Arial"/>
            </a:endParaRPr>
          </a:p>
        </p:txBody>
      </p:sp>
      <p:cxnSp>
        <p:nvCxnSpPr>
          <p:cNvPr id="148" name="Connector 133"/>
          <p:cNvCxnSpPr/>
          <p:nvPr/>
        </p:nvCxnSpPr>
        <p:spPr>
          <a:xfrm>
            <a:off x="6080400" y="3474720"/>
            <a:ext cx="360" cy="457560"/>
          </a:xfrm>
          <a:prstGeom prst="straightConnector1">
            <a:avLst/>
          </a:prstGeom>
          <a:ln w="31750">
            <a:solidFill>
              <a:srgbClr val="5a2db0"/>
            </a:solidFill>
            <a:tailEnd len="med" type="triangle" w="med"/>
          </a:ln>
        </p:spPr>
      </p:cxnSp>
      <p:sp>
        <p:nvSpPr>
          <p:cNvPr id="149" name="TextBox 134"/>
          <p:cNvSpPr/>
          <p:nvPr/>
        </p:nvSpPr>
        <p:spPr>
          <a:xfrm>
            <a:off x="6172200" y="3538800"/>
            <a:ext cx="1462680" cy="203760"/>
          </a:xfrm>
          <a:prstGeom prst="rect">
            <a:avLst/>
          </a:prstGeom>
          <a:noFill/>
          <a:ln w="0">
            <a:noFill/>
          </a:ln>
        </p:spPr>
        <p:style>
          <a:lnRef idx="0"/>
          <a:fillRef idx="0"/>
          <a:effectRef idx="0"/>
          <a:fontRef idx="minor"/>
        </p:style>
        <p:txBody>
          <a:bodyPr lIns="18360" rIns="18360" tIns="18360" bIns="18360" anchor="t">
            <a:spAutoFit/>
          </a:bodyPr>
          <a:p>
            <a:pPr>
              <a:lnSpc>
                <a:spcPct val="100000"/>
              </a:lnSpc>
            </a:pPr>
            <a:r>
              <a:rPr b="1" lang="en-US" sz="1100" spc="-1" strike="noStrike">
                <a:solidFill>
                  <a:srgbClr val="5a2db0"/>
                </a:solidFill>
                <a:latin typeface="Arial"/>
              </a:rPr>
              <a:t>1 — N  CASCADE</a:t>
            </a:r>
            <a:endParaRPr b="0" lang="en-US" sz="1100" spc="-1" strike="noStrike">
              <a:solidFill>
                <a:srgbClr val="000000"/>
              </a:solidFill>
              <a:latin typeface="Arial"/>
            </a:endParaRPr>
          </a:p>
        </p:txBody>
      </p:sp>
      <p:cxnSp>
        <p:nvCxnSpPr>
          <p:cNvPr id="150" name="Connector 135"/>
          <p:cNvCxnSpPr/>
          <p:nvPr/>
        </p:nvCxnSpPr>
        <p:spPr>
          <a:xfrm flipH="1">
            <a:off x="7497720" y="2765880"/>
            <a:ext cx="1463760" cy="2263680"/>
          </a:xfrm>
          <a:prstGeom prst="straightConnector1">
            <a:avLst/>
          </a:prstGeom>
          <a:ln w="31750">
            <a:solidFill>
              <a:srgbClr val="a36a0d"/>
            </a:solidFill>
            <a:tailEnd len="med" type="triangle" w="med"/>
          </a:ln>
        </p:spPr>
      </p:cxnSp>
      <p:sp>
        <p:nvSpPr>
          <p:cNvPr id="151" name="TextBox 136"/>
          <p:cNvSpPr/>
          <p:nvPr/>
        </p:nvSpPr>
        <p:spPr>
          <a:xfrm>
            <a:off x="7498080" y="3440520"/>
            <a:ext cx="1645560" cy="203760"/>
          </a:xfrm>
          <a:prstGeom prst="rect">
            <a:avLst/>
          </a:prstGeom>
          <a:noFill/>
          <a:ln w="0">
            <a:noFill/>
          </a:ln>
        </p:spPr>
        <p:style>
          <a:lnRef idx="0"/>
          <a:fillRef idx="0"/>
          <a:effectRef idx="0"/>
          <a:fontRef idx="minor"/>
        </p:style>
        <p:txBody>
          <a:bodyPr lIns="18360" rIns="18360" tIns="18360" bIns="18360" anchor="t">
            <a:spAutoFit/>
          </a:bodyPr>
          <a:p>
            <a:pPr algn="ctr">
              <a:lnSpc>
                <a:spcPct val="100000"/>
              </a:lnSpc>
            </a:pPr>
            <a:r>
              <a:rPr b="1" lang="en-US" sz="1100" spc="-1" strike="noStrike">
                <a:solidFill>
                  <a:srgbClr val="a36a0d"/>
                </a:solidFill>
                <a:latin typeface="Arial"/>
              </a:rPr>
              <a:t>N — 1  RESTRICT</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TextBox 1"/>
          <p:cNvSpPr/>
          <p:nvPr/>
        </p:nvSpPr>
        <p:spPr>
          <a:xfrm>
            <a:off x="457200" y="228600"/>
            <a:ext cx="11246400" cy="54864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3600" spc="-1" strike="noStrike">
                <a:solidFill>
                  <a:srgbClr val="2a7a32"/>
                </a:solidFill>
                <a:latin typeface="Calibri"/>
                <a:ea typeface="DejaVu Sans"/>
              </a:rPr>
              <a:t>Δυναμικές σελίδες (CRUD)</a:t>
            </a:r>
            <a:endParaRPr b="0" lang="en-US" sz="3600" spc="-1" strike="noStrike">
              <a:solidFill>
                <a:srgbClr val="000000"/>
              </a:solidFill>
              <a:latin typeface="Arial"/>
            </a:endParaRPr>
          </a:p>
        </p:txBody>
      </p:sp>
      <p:sp>
        <p:nvSpPr>
          <p:cNvPr id="153" name="Rectangle 2"/>
          <p:cNvSpPr/>
          <p:nvPr/>
        </p:nvSpPr>
        <p:spPr>
          <a:xfrm>
            <a:off x="457200" y="1005840"/>
            <a:ext cx="11246400" cy="19440"/>
          </a:xfrm>
          <a:prstGeom prst="rect">
            <a:avLst/>
          </a:prstGeom>
          <a:solidFill>
            <a:srgbClr val="2a7a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a:lnSpc>
                <a:spcPct val="100000"/>
              </a:lnSpc>
            </a:pPr>
            <a:endParaRPr b="0" lang="en-US" sz="1800" spc="-1" strike="noStrike">
              <a:solidFill>
                <a:schemeClr val="lt1"/>
              </a:solidFill>
              <a:latin typeface="Calibri"/>
              <a:ea typeface="DejaVu Sans"/>
            </a:endParaRPr>
          </a:p>
        </p:txBody>
      </p:sp>
      <p:sp>
        <p:nvSpPr>
          <p:cNvPr id="154" name="Rounded Rectangle 3"/>
          <p:cNvSpPr/>
          <p:nvPr/>
        </p:nvSpPr>
        <p:spPr>
          <a:xfrm>
            <a:off x="548640" y="1417320"/>
            <a:ext cx="3565440" cy="1462320"/>
          </a:xfrm>
          <a:prstGeom prst="roundRect">
            <a:avLst>
              <a:gd name="adj" fmla="val 16667"/>
            </a:avLst>
          </a:prstGeom>
          <a:solidFill>
            <a:srgbClr val="e8f3ea"/>
          </a:solidFill>
          <a:ln>
            <a:solidFill>
              <a:srgbClr val="2a7a3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90000" tIns="137160" bIns="45000" anchor="ctr">
            <a:noAutofit/>
          </a:bodyPr>
          <a:p>
            <a:pPr>
              <a:lnSpc>
                <a:spcPct val="100000"/>
              </a:lnSpc>
            </a:pPr>
            <a:r>
              <a:rPr b="1" lang="en-US" sz="1800" spc="-1" strike="noStrike">
                <a:solidFill>
                  <a:srgbClr val="2a7a32"/>
                </a:solidFill>
                <a:latin typeface="Consolas"/>
                <a:ea typeface="DejaVu Sans"/>
              </a:rPr>
              <a:t>clients.php</a:t>
            </a:r>
            <a:endParaRPr b="0" lang="en-US" sz="1800" spc="-1" strike="noStrike">
              <a:solidFill>
                <a:srgbClr val="000000"/>
              </a:solidFill>
              <a:latin typeface="Arial"/>
            </a:endParaRPr>
          </a:p>
          <a:p>
            <a:pPr>
              <a:lnSpc>
                <a:spcPct val="100000"/>
              </a:lnSpc>
            </a:pPr>
            <a:r>
              <a:rPr b="0" lang="en-US" sz="1400" spc="-1" strike="noStrike">
                <a:solidFill>
                  <a:srgbClr val="22272e"/>
                </a:solidFill>
                <a:latin typeface="Calibri"/>
                <a:ea typeface="DejaVu Sans"/>
              </a:rPr>
              <a:t>λίστα πελατών</a:t>
            </a:r>
            <a:endParaRPr b="0" lang="en-US" sz="1400" spc="-1" strike="noStrike">
              <a:solidFill>
                <a:srgbClr val="000000"/>
              </a:solidFill>
              <a:latin typeface="Arial"/>
            </a:endParaRPr>
          </a:p>
        </p:txBody>
      </p:sp>
      <p:sp>
        <p:nvSpPr>
          <p:cNvPr id="155" name="Rounded Rectangle 4"/>
          <p:cNvSpPr/>
          <p:nvPr/>
        </p:nvSpPr>
        <p:spPr>
          <a:xfrm>
            <a:off x="4389120" y="1417320"/>
            <a:ext cx="3565440" cy="1462320"/>
          </a:xfrm>
          <a:prstGeom prst="roundRect">
            <a:avLst>
              <a:gd name="adj" fmla="val 16667"/>
            </a:avLst>
          </a:prstGeom>
          <a:solidFill>
            <a:srgbClr val="e8f3ea"/>
          </a:solidFill>
          <a:ln>
            <a:solidFill>
              <a:srgbClr val="2a7a3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90000" tIns="137160" bIns="45000" anchor="ctr">
            <a:noAutofit/>
          </a:bodyPr>
          <a:p>
            <a:pPr>
              <a:lnSpc>
                <a:spcPct val="100000"/>
              </a:lnSpc>
            </a:pPr>
            <a:r>
              <a:rPr b="1" lang="en-US" sz="1800" spc="-1" strike="noStrike">
                <a:solidFill>
                  <a:srgbClr val="2a7a32"/>
                </a:solidFill>
                <a:latin typeface="Consolas"/>
                <a:ea typeface="DejaVu Sans"/>
              </a:rPr>
              <a:t>clients_edit.php</a:t>
            </a:r>
            <a:endParaRPr b="0" lang="en-US" sz="1800" spc="-1" strike="noStrike">
              <a:solidFill>
                <a:srgbClr val="000000"/>
              </a:solidFill>
              <a:latin typeface="Arial"/>
            </a:endParaRPr>
          </a:p>
          <a:p>
            <a:pPr>
              <a:lnSpc>
                <a:spcPct val="100000"/>
              </a:lnSpc>
            </a:pPr>
            <a:r>
              <a:rPr b="0" lang="en-US" sz="1400" spc="-1" strike="noStrike">
                <a:solidFill>
                  <a:srgbClr val="22272e"/>
                </a:solidFill>
                <a:latin typeface="Calibri"/>
                <a:ea typeface="DejaVu Sans"/>
              </a:rPr>
              <a:t>δημιουργία / επεξεργασία</a:t>
            </a:r>
            <a:endParaRPr b="0" lang="en-US" sz="1400" spc="-1" strike="noStrike">
              <a:solidFill>
                <a:srgbClr val="000000"/>
              </a:solidFill>
              <a:latin typeface="Arial"/>
            </a:endParaRPr>
          </a:p>
        </p:txBody>
      </p:sp>
      <p:sp>
        <p:nvSpPr>
          <p:cNvPr id="156" name="Rounded Rectangle 5"/>
          <p:cNvSpPr/>
          <p:nvPr/>
        </p:nvSpPr>
        <p:spPr>
          <a:xfrm>
            <a:off x="8229600" y="1417320"/>
            <a:ext cx="3565440" cy="1462320"/>
          </a:xfrm>
          <a:prstGeom prst="roundRect">
            <a:avLst>
              <a:gd name="adj" fmla="val 16667"/>
            </a:avLst>
          </a:prstGeom>
          <a:solidFill>
            <a:srgbClr val="e8f3ea"/>
          </a:solidFill>
          <a:ln>
            <a:solidFill>
              <a:srgbClr val="2a7a3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90000" tIns="137160" bIns="45000" anchor="ctr">
            <a:noAutofit/>
          </a:bodyPr>
          <a:p>
            <a:pPr>
              <a:lnSpc>
                <a:spcPct val="100000"/>
              </a:lnSpc>
            </a:pPr>
            <a:r>
              <a:rPr b="1" lang="en-US" sz="1800" spc="-1" strike="noStrike">
                <a:solidFill>
                  <a:srgbClr val="2a7a32"/>
                </a:solidFill>
                <a:latin typeface="Consolas"/>
                <a:ea typeface="DejaVu Sans"/>
              </a:rPr>
              <a:t>products.php</a:t>
            </a:r>
            <a:endParaRPr b="0" lang="en-US" sz="1800" spc="-1" strike="noStrike">
              <a:solidFill>
                <a:srgbClr val="000000"/>
              </a:solidFill>
              <a:latin typeface="Arial"/>
            </a:endParaRPr>
          </a:p>
          <a:p>
            <a:pPr>
              <a:lnSpc>
                <a:spcPct val="100000"/>
              </a:lnSpc>
            </a:pPr>
            <a:r>
              <a:rPr b="0" lang="en-US" sz="1400" spc="-1" strike="noStrike">
                <a:solidFill>
                  <a:srgbClr val="22272e"/>
                </a:solidFill>
                <a:latin typeface="Calibri"/>
                <a:ea typeface="DejaVu Sans"/>
              </a:rPr>
              <a:t>λίστα προϊόντων</a:t>
            </a:r>
            <a:endParaRPr b="0" lang="en-US" sz="1400" spc="-1" strike="noStrike">
              <a:solidFill>
                <a:srgbClr val="000000"/>
              </a:solidFill>
              <a:latin typeface="Arial"/>
            </a:endParaRPr>
          </a:p>
        </p:txBody>
      </p:sp>
      <p:sp>
        <p:nvSpPr>
          <p:cNvPr id="157" name="Rounded Rectangle 6"/>
          <p:cNvSpPr/>
          <p:nvPr/>
        </p:nvSpPr>
        <p:spPr>
          <a:xfrm>
            <a:off x="548640" y="3108960"/>
            <a:ext cx="3565440" cy="1462320"/>
          </a:xfrm>
          <a:prstGeom prst="roundRect">
            <a:avLst>
              <a:gd name="adj" fmla="val 16667"/>
            </a:avLst>
          </a:prstGeom>
          <a:solidFill>
            <a:srgbClr val="e8f3ea"/>
          </a:solidFill>
          <a:ln>
            <a:solidFill>
              <a:srgbClr val="2a7a3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90000" tIns="137160" bIns="45000" anchor="ctr">
            <a:noAutofit/>
          </a:bodyPr>
          <a:p>
            <a:pPr>
              <a:lnSpc>
                <a:spcPct val="100000"/>
              </a:lnSpc>
            </a:pPr>
            <a:r>
              <a:rPr b="1" lang="en-US" sz="1800" spc="-1" strike="noStrike">
                <a:solidFill>
                  <a:srgbClr val="2a7a32"/>
                </a:solidFill>
                <a:latin typeface="Consolas"/>
                <a:ea typeface="DejaVu Sans"/>
              </a:rPr>
              <a:t>products_edit.php</a:t>
            </a:r>
            <a:endParaRPr b="0" lang="en-US" sz="1800" spc="-1" strike="noStrike">
              <a:solidFill>
                <a:srgbClr val="000000"/>
              </a:solidFill>
              <a:latin typeface="Arial"/>
            </a:endParaRPr>
          </a:p>
          <a:p>
            <a:pPr>
              <a:lnSpc>
                <a:spcPct val="100000"/>
              </a:lnSpc>
            </a:pPr>
            <a:r>
              <a:rPr b="0" lang="en-US" sz="1400" spc="-1" strike="noStrike">
                <a:solidFill>
                  <a:srgbClr val="22272e"/>
                </a:solidFill>
                <a:latin typeface="Calibri"/>
                <a:ea typeface="DejaVu Sans"/>
              </a:rPr>
              <a:t>δημιουργία / επεξεργασία</a:t>
            </a:r>
            <a:endParaRPr b="0" lang="en-US" sz="1400" spc="-1" strike="noStrike">
              <a:solidFill>
                <a:srgbClr val="000000"/>
              </a:solidFill>
              <a:latin typeface="Arial"/>
            </a:endParaRPr>
          </a:p>
        </p:txBody>
      </p:sp>
      <p:sp>
        <p:nvSpPr>
          <p:cNvPr id="158" name="Rounded Rectangle 7"/>
          <p:cNvSpPr/>
          <p:nvPr/>
        </p:nvSpPr>
        <p:spPr>
          <a:xfrm>
            <a:off x="4389120" y="3108960"/>
            <a:ext cx="3565440" cy="1462320"/>
          </a:xfrm>
          <a:prstGeom prst="roundRect">
            <a:avLst>
              <a:gd name="adj" fmla="val 16667"/>
            </a:avLst>
          </a:prstGeom>
          <a:solidFill>
            <a:srgbClr val="e8f3ea"/>
          </a:solidFill>
          <a:ln>
            <a:solidFill>
              <a:srgbClr val="2a7a3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90000" tIns="137160" bIns="45000" anchor="ctr">
            <a:noAutofit/>
          </a:bodyPr>
          <a:p>
            <a:pPr>
              <a:lnSpc>
                <a:spcPct val="100000"/>
              </a:lnSpc>
            </a:pPr>
            <a:r>
              <a:rPr b="1" lang="en-US" sz="1800" spc="-1" strike="noStrike">
                <a:solidFill>
                  <a:srgbClr val="2a7a32"/>
                </a:solidFill>
                <a:latin typeface="Consolas"/>
                <a:ea typeface="DejaVu Sans"/>
              </a:rPr>
              <a:t>orders.php</a:t>
            </a:r>
            <a:endParaRPr b="0" lang="en-US" sz="1800" spc="-1" strike="noStrike">
              <a:solidFill>
                <a:srgbClr val="000000"/>
              </a:solidFill>
              <a:latin typeface="Arial"/>
            </a:endParaRPr>
          </a:p>
          <a:p>
            <a:pPr>
              <a:lnSpc>
                <a:spcPct val="100000"/>
              </a:lnSpc>
            </a:pPr>
            <a:r>
              <a:rPr b="0" lang="en-US" sz="1400" spc="-1" strike="noStrike">
                <a:solidFill>
                  <a:srgbClr val="22272e"/>
                </a:solidFill>
                <a:latin typeface="Calibri"/>
                <a:ea typeface="DejaVu Sans"/>
              </a:rPr>
              <a:t>λίστα παραγγελιών</a:t>
            </a:r>
            <a:endParaRPr b="0" lang="en-US" sz="1400" spc="-1" strike="noStrike">
              <a:solidFill>
                <a:srgbClr val="000000"/>
              </a:solidFill>
              <a:latin typeface="Arial"/>
            </a:endParaRPr>
          </a:p>
        </p:txBody>
      </p:sp>
      <p:sp>
        <p:nvSpPr>
          <p:cNvPr id="159" name="Rounded Rectangle 8"/>
          <p:cNvSpPr/>
          <p:nvPr/>
        </p:nvSpPr>
        <p:spPr>
          <a:xfrm>
            <a:off x="8229600" y="3108960"/>
            <a:ext cx="3565440" cy="1462320"/>
          </a:xfrm>
          <a:prstGeom prst="roundRect">
            <a:avLst>
              <a:gd name="adj" fmla="val 16667"/>
            </a:avLst>
          </a:prstGeom>
          <a:solidFill>
            <a:srgbClr val="e8f3ea"/>
          </a:solidFill>
          <a:ln>
            <a:solidFill>
              <a:srgbClr val="2a7a3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90000" tIns="137160" bIns="45000" anchor="ctr">
            <a:noAutofit/>
          </a:bodyPr>
          <a:p>
            <a:pPr>
              <a:lnSpc>
                <a:spcPct val="100000"/>
              </a:lnSpc>
            </a:pPr>
            <a:r>
              <a:rPr b="1" lang="en-US" sz="1800" spc="-1" strike="noStrike">
                <a:solidFill>
                  <a:srgbClr val="2a7a32"/>
                </a:solidFill>
                <a:latin typeface="Consolas"/>
                <a:ea typeface="DejaVu Sans"/>
              </a:rPr>
              <a:t>orders_view.php</a:t>
            </a:r>
            <a:endParaRPr b="0" lang="en-US" sz="1800" spc="-1" strike="noStrike">
              <a:solidFill>
                <a:srgbClr val="000000"/>
              </a:solidFill>
              <a:latin typeface="Arial"/>
            </a:endParaRPr>
          </a:p>
          <a:p>
            <a:pPr>
              <a:lnSpc>
                <a:spcPct val="100000"/>
              </a:lnSpc>
            </a:pPr>
            <a:r>
              <a:rPr b="0" lang="en-US" sz="1400" spc="-1" strike="noStrike">
                <a:solidFill>
                  <a:srgbClr val="22272e"/>
                </a:solidFill>
                <a:latin typeface="Calibri"/>
                <a:ea typeface="DejaVu Sans"/>
              </a:rPr>
              <a:t>λεπτομέρειες παραγγελίας</a:t>
            </a:r>
            <a:endParaRPr b="0" lang="en-US" sz="1400" spc="-1" strike="noStrike">
              <a:solidFill>
                <a:srgbClr val="000000"/>
              </a:solidFill>
              <a:latin typeface="Arial"/>
            </a:endParaRPr>
          </a:p>
        </p:txBody>
      </p:sp>
      <p:sp>
        <p:nvSpPr>
          <p:cNvPr id="160" name="TextBox 9"/>
          <p:cNvSpPr/>
          <p:nvPr/>
        </p:nvSpPr>
        <p:spPr>
          <a:xfrm>
            <a:off x="548640" y="5029200"/>
            <a:ext cx="11154960" cy="333000"/>
          </a:xfrm>
          <a:prstGeom prst="rect">
            <a:avLst/>
          </a:prstGeom>
          <a:noFill/>
          <a:ln w="0">
            <a:noFill/>
          </a:ln>
        </p:spPr>
        <p:style>
          <a:lnRef idx="0"/>
          <a:fillRef idx="0"/>
          <a:effectRef idx="0"/>
          <a:fontRef idx="minor"/>
        </p:style>
        <p:txBody>
          <a:bodyPr lIns="0" rIns="90000" tIns="45000" bIns="45000" anchor="t">
            <a:spAutoFit/>
          </a:bodyPr>
          <a:p>
            <a:pPr algn="ctr">
              <a:lnSpc>
                <a:spcPct val="100000"/>
              </a:lnSpc>
            </a:pPr>
            <a:r>
              <a:rPr b="1" lang="en-US" sz="1600" spc="-1" strike="noStrike">
                <a:solidFill>
                  <a:srgbClr val="22272e"/>
                </a:solidFill>
                <a:latin typeface="Calibri"/>
                <a:ea typeface="DejaVu Sans"/>
              </a:rPr>
              <a:t>+ index.php (dashboard) · 7 σελίδες σύνολο (≥4 απαίτηση εκφώνησης)</a:t>
            </a:r>
            <a:endParaRPr b="0" lang="en-US" sz="1600" spc="-1" strike="noStrike">
              <a:solidFill>
                <a:srgbClr val="000000"/>
              </a:solidFill>
              <a:latin typeface="Arial"/>
            </a:endParaRPr>
          </a:p>
        </p:txBody>
      </p:sp>
      <p:sp>
        <p:nvSpPr>
          <p:cNvPr id="161" name="TextBox 10"/>
          <p:cNvSpPr/>
          <p:nvPr/>
        </p:nvSpPr>
        <p:spPr>
          <a:xfrm>
            <a:off x="1097280" y="6446520"/>
            <a:ext cx="547920" cy="2570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100" spc="-1" strike="noStrike">
                <a:solidFill>
                  <a:srgbClr val="6a737d"/>
                </a:solidFill>
                <a:latin typeface="Calibri"/>
                <a:ea typeface="DejaVu Sans"/>
              </a:rPr>
              <a:t>6 / 13</a:t>
            </a:r>
            <a:endParaRPr b="0" lang="en-US" sz="1100" spc="-1" strike="noStrike">
              <a:solidFill>
                <a:srgbClr val="000000"/>
              </a:solidFill>
              <a:latin typeface="Arial"/>
            </a:endParaRPr>
          </a:p>
        </p:txBody>
      </p:sp>
      <p:sp>
        <p:nvSpPr>
          <p:cNvPr id="162" name="TextBox 11"/>
          <p:cNvSpPr/>
          <p:nvPr/>
        </p:nvSpPr>
        <p:spPr>
          <a:xfrm>
            <a:off x="8199720" y="6446520"/>
            <a:ext cx="2619000" cy="25704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1100" spc="-1" strike="noStrike">
                <a:solidFill>
                  <a:srgbClr val="6a737d"/>
                </a:solidFill>
                <a:latin typeface="Calibri"/>
                <a:ea typeface="DejaVu Sans"/>
              </a:rPr>
              <a:t>Διαμάντη ΑΜ 19389308 · 4 Ιουν 2026</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TextBox 1"/>
          <p:cNvSpPr/>
          <p:nvPr/>
        </p:nvSpPr>
        <p:spPr>
          <a:xfrm>
            <a:off x="457200" y="228600"/>
            <a:ext cx="11246400" cy="54864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3600" spc="-1" strike="noStrike">
                <a:solidFill>
                  <a:srgbClr val="a36a0d"/>
                </a:solidFill>
                <a:latin typeface="Calibri"/>
                <a:ea typeface="DejaVu Sans"/>
              </a:rPr>
              <a:t>Δικτυακή τοπολογία</a:t>
            </a:r>
            <a:endParaRPr b="0" lang="en-US" sz="3600" spc="-1" strike="noStrike">
              <a:solidFill>
                <a:srgbClr val="000000"/>
              </a:solidFill>
              <a:latin typeface="Arial"/>
            </a:endParaRPr>
          </a:p>
        </p:txBody>
      </p:sp>
      <p:sp>
        <p:nvSpPr>
          <p:cNvPr id="164" name="Rectangle 2"/>
          <p:cNvSpPr/>
          <p:nvPr/>
        </p:nvSpPr>
        <p:spPr>
          <a:xfrm>
            <a:off x="457200" y="1005840"/>
            <a:ext cx="11246400" cy="19440"/>
          </a:xfrm>
          <a:prstGeom prst="rect">
            <a:avLst/>
          </a:prstGeom>
          <a:solidFill>
            <a:srgbClr val="a36a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a:lnSpc>
                <a:spcPct val="100000"/>
              </a:lnSpc>
            </a:pPr>
            <a:endParaRPr b="0" lang="en-US" sz="1800" spc="-1" strike="noStrike">
              <a:solidFill>
                <a:schemeClr val="lt1"/>
              </a:solidFill>
              <a:latin typeface="Calibri"/>
              <a:ea typeface="DejaVu Sans"/>
            </a:endParaRPr>
          </a:p>
        </p:txBody>
      </p:sp>
      <p:sp>
        <p:nvSpPr>
          <p:cNvPr id="165" name="TextBox 4"/>
          <p:cNvSpPr/>
          <p:nvPr/>
        </p:nvSpPr>
        <p:spPr>
          <a:xfrm>
            <a:off x="731520" y="5760720"/>
            <a:ext cx="10697760" cy="363960"/>
          </a:xfrm>
          <a:prstGeom prst="rect">
            <a:avLst/>
          </a:prstGeom>
          <a:noFill/>
          <a:ln w="0">
            <a:noFill/>
          </a:ln>
        </p:spPr>
        <p:style>
          <a:lnRef idx="0"/>
          <a:fillRef idx="0"/>
          <a:effectRef idx="0"/>
          <a:fontRef idx="minor"/>
        </p:style>
        <p:txBody>
          <a:bodyPr lIns="0" rIns="90000" tIns="45000" bIns="45000" anchor="t">
            <a:spAutoFit/>
          </a:bodyPr>
          <a:p>
            <a:pPr algn="ctr">
              <a:lnSpc>
                <a:spcPct val="100000"/>
              </a:lnSpc>
            </a:pPr>
            <a:r>
              <a:rPr b="1" lang="en-US" sz="1800" spc="-1" strike="noStrike">
                <a:solidFill>
                  <a:srgbClr val="22272e"/>
                </a:solidFill>
                <a:latin typeface="Calibri"/>
                <a:ea typeface="DejaVu Sans"/>
              </a:rPr>
              <a:t>5 παραρτήματα · 5 WAN /30 links · 5 LAN /24 · OSPF area 0</a:t>
            </a:r>
            <a:endParaRPr b="0" lang="en-US" sz="1800" spc="-1" strike="noStrike">
              <a:solidFill>
                <a:srgbClr val="000000"/>
              </a:solidFill>
              <a:latin typeface="Arial"/>
            </a:endParaRPr>
          </a:p>
        </p:txBody>
      </p:sp>
      <p:sp>
        <p:nvSpPr>
          <p:cNvPr id="166" name="TextBox 5"/>
          <p:cNvSpPr/>
          <p:nvPr/>
        </p:nvSpPr>
        <p:spPr>
          <a:xfrm>
            <a:off x="1097280" y="6446520"/>
            <a:ext cx="547920" cy="2570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100" spc="-1" strike="noStrike">
                <a:solidFill>
                  <a:srgbClr val="6a737d"/>
                </a:solidFill>
                <a:latin typeface="Calibri"/>
                <a:ea typeface="DejaVu Sans"/>
              </a:rPr>
              <a:t>7 / 13</a:t>
            </a:r>
            <a:endParaRPr b="0" lang="en-US" sz="1100" spc="-1" strike="noStrike">
              <a:solidFill>
                <a:srgbClr val="000000"/>
              </a:solidFill>
              <a:latin typeface="Arial"/>
            </a:endParaRPr>
          </a:p>
        </p:txBody>
      </p:sp>
      <p:sp>
        <p:nvSpPr>
          <p:cNvPr id="167" name="TextBox 6"/>
          <p:cNvSpPr/>
          <p:nvPr/>
        </p:nvSpPr>
        <p:spPr>
          <a:xfrm>
            <a:off x="8199720" y="6446520"/>
            <a:ext cx="2619000" cy="25704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1100" spc="-1" strike="noStrike">
                <a:solidFill>
                  <a:srgbClr val="6a737d"/>
                </a:solidFill>
                <a:latin typeface="Calibri"/>
                <a:ea typeface="DejaVu Sans"/>
              </a:rPr>
              <a:t>Διαμάντη ΑΜ 19389308 · 4 Ιουν 2026</a:t>
            </a:r>
            <a:endParaRPr b="0" lang="en-US" sz="1100" spc="-1" strike="noStrike">
              <a:solidFill>
                <a:srgbClr val="000000"/>
              </a:solidFill>
              <a:latin typeface="Arial"/>
            </a:endParaRPr>
          </a:p>
        </p:txBody>
      </p:sp>
      <p:pic>
        <p:nvPicPr>
          <p:cNvPr id="168" name="Picture 92" descr="screenshot-pt-topology.png"/>
          <p:cNvPicPr/>
          <p:nvPr/>
        </p:nvPicPr>
        <p:blipFill>
          <a:blip r:embed="rId1"/>
          <a:stretch/>
        </p:blipFill>
        <p:spPr>
          <a:xfrm>
            <a:off x="838080" y="1097280"/>
            <a:ext cx="10515240" cy="668736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TextBox 1"/>
          <p:cNvSpPr/>
          <p:nvPr/>
        </p:nvSpPr>
        <p:spPr>
          <a:xfrm>
            <a:off x="457200" y="228600"/>
            <a:ext cx="11246400" cy="54864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3600" spc="-1" strike="noStrike">
                <a:solidFill>
                  <a:srgbClr val="a36a0d"/>
                </a:solidFill>
                <a:latin typeface="Calibri"/>
                <a:ea typeface="DejaVu Sans"/>
              </a:rPr>
              <a:t>Σχέδιο διευθυνσιοδότησης</a:t>
            </a:r>
            <a:endParaRPr b="0" lang="en-US" sz="3600" spc="-1" strike="noStrike">
              <a:solidFill>
                <a:srgbClr val="000000"/>
              </a:solidFill>
              <a:latin typeface="Arial"/>
            </a:endParaRPr>
          </a:p>
        </p:txBody>
      </p:sp>
      <p:sp>
        <p:nvSpPr>
          <p:cNvPr id="170" name="Rectangle 2"/>
          <p:cNvSpPr/>
          <p:nvPr/>
        </p:nvSpPr>
        <p:spPr>
          <a:xfrm>
            <a:off x="457200" y="1005840"/>
            <a:ext cx="11246400" cy="19440"/>
          </a:xfrm>
          <a:prstGeom prst="rect">
            <a:avLst/>
          </a:prstGeom>
          <a:solidFill>
            <a:srgbClr val="a36a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a:lnSpc>
                <a:spcPct val="100000"/>
              </a:lnSpc>
            </a:pPr>
            <a:endParaRPr b="0" lang="en-US" sz="1800" spc="-1" strike="noStrike">
              <a:solidFill>
                <a:schemeClr val="lt1"/>
              </a:solidFill>
              <a:latin typeface="Calibri"/>
              <a:ea typeface="DejaVu Sans"/>
            </a:endParaRPr>
          </a:p>
        </p:txBody>
      </p:sp>
      <p:sp>
        <p:nvSpPr>
          <p:cNvPr id="171" name="Rectangle 3"/>
          <p:cNvSpPr/>
          <p:nvPr/>
        </p:nvSpPr>
        <p:spPr>
          <a:xfrm>
            <a:off x="548640" y="1371600"/>
            <a:ext cx="5485680" cy="547920"/>
          </a:xfrm>
          <a:prstGeom prst="rect">
            <a:avLst/>
          </a:prstGeom>
          <a:solidFill>
            <a:srgbClr val="a36a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90000" tIns="45000" bIns="45000" anchor="ctr">
            <a:noAutofit/>
          </a:bodyPr>
          <a:p>
            <a:pPr algn="ctr">
              <a:lnSpc>
                <a:spcPct val="100000"/>
              </a:lnSpc>
            </a:pPr>
            <a:r>
              <a:rPr b="1" lang="en-US" sz="1800" spc="-1" strike="noStrike">
                <a:solidFill>
                  <a:srgbClr val="ffffff"/>
                </a:solidFill>
                <a:latin typeface="Calibri"/>
                <a:ea typeface="DejaVu Sans"/>
              </a:rPr>
              <a:t>LAN /24 ανά παράρτημα</a:t>
            </a:r>
            <a:endParaRPr b="0" lang="en-US" sz="1800" spc="-1" strike="noStrike">
              <a:solidFill>
                <a:srgbClr val="000000"/>
              </a:solidFill>
              <a:latin typeface="Arial"/>
            </a:endParaRPr>
          </a:p>
        </p:txBody>
      </p:sp>
      <p:sp>
        <p:nvSpPr>
          <p:cNvPr id="172" name="TextBox 4"/>
          <p:cNvSpPr/>
          <p:nvPr/>
        </p:nvSpPr>
        <p:spPr>
          <a:xfrm>
            <a:off x="640080" y="2057400"/>
            <a:ext cx="5485680" cy="186732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1800" spc="-1" strike="noStrike">
                <a:solidFill>
                  <a:srgbClr val="22272e"/>
                </a:solidFill>
                <a:latin typeface="Calibri"/>
                <a:ea typeface="DejaVu Sans"/>
              </a:rPr>
              <a:t>• </a:t>
            </a:r>
            <a:r>
              <a:rPr b="0" lang="en-US" sz="1800" spc="-1" strike="noStrike">
                <a:solidFill>
                  <a:srgbClr val="22272e"/>
                </a:solidFill>
                <a:latin typeface="Calibri"/>
                <a:ea typeface="DejaVu Sans"/>
              </a:rPr>
              <a:t>Θεσσαλονίκη — 200.1.80.0 / 24</a:t>
            </a:r>
            <a:endParaRPr b="0" lang="en-US" sz="1800" spc="-1" strike="noStrike">
              <a:solidFill>
                <a:srgbClr val="000000"/>
              </a:solidFill>
              <a:latin typeface="Arial"/>
            </a:endParaRPr>
          </a:p>
          <a:p>
            <a:pPr>
              <a:lnSpc>
                <a:spcPct val="100000"/>
              </a:lnSpc>
              <a:spcAft>
                <a:spcPts val="799"/>
              </a:spcAft>
            </a:pPr>
            <a:r>
              <a:rPr b="0" lang="en-US" sz="1800" spc="-1" strike="noStrike">
                <a:solidFill>
                  <a:srgbClr val="22272e"/>
                </a:solidFill>
                <a:latin typeface="Calibri"/>
                <a:ea typeface="DejaVu Sans"/>
              </a:rPr>
              <a:t>• </a:t>
            </a:r>
            <a:r>
              <a:rPr b="0" lang="en-US" sz="1800" spc="-1" strike="noStrike">
                <a:solidFill>
                  <a:srgbClr val="22272e"/>
                </a:solidFill>
                <a:latin typeface="Calibri"/>
                <a:ea typeface="DejaVu Sans"/>
              </a:rPr>
              <a:t>Ιωάννινα — 200.1.60.0 / 24</a:t>
            </a:r>
            <a:endParaRPr b="0" lang="en-US" sz="1800" spc="-1" strike="noStrike">
              <a:solidFill>
                <a:srgbClr val="000000"/>
              </a:solidFill>
              <a:latin typeface="Arial"/>
            </a:endParaRPr>
          </a:p>
          <a:p>
            <a:pPr>
              <a:lnSpc>
                <a:spcPct val="100000"/>
              </a:lnSpc>
              <a:spcAft>
                <a:spcPts val="799"/>
              </a:spcAft>
            </a:pPr>
            <a:r>
              <a:rPr b="0" lang="en-US" sz="1800" spc="-1" strike="noStrike">
                <a:solidFill>
                  <a:srgbClr val="22272e"/>
                </a:solidFill>
                <a:latin typeface="Calibri"/>
                <a:ea typeface="DejaVu Sans"/>
              </a:rPr>
              <a:t>• </a:t>
            </a:r>
            <a:r>
              <a:rPr b="0" lang="en-US" sz="1800" spc="-1" strike="noStrike">
                <a:solidFill>
                  <a:srgbClr val="22272e"/>
                </a:solidFill>
                <a:latin typeface="Calibri"/>
                <a:ea typeface="DejaVu Sans"/>
              </a:rPr>
              <a:t>Πάτρα — 200.1.40.0 / 24</a:t>
            </a:r>
            <a:endParaRPr b="0" lang="en-US" sz="1800" spc="-1" strike="noStrike">
              <a:solidFill>
                <a:srgbClr val="000000"/>
              </a:solidFill>
              <a:latin typeface="Arial"/>
            </a:endParaRPr>
          </a:p>
          <a:p>
            <a:pPr>
              <a:lnSpc>
                <a:spcPct val="100000"/>
              </a:lnSpc>
              <a:spcAft>
                <a:spcPts val="799"/>
              </a:spcAft>
            </a:pPr>
            <a:r>
              <a:rPr b="0" lang="en-US" sz="1800" spc="-1" strike="noStrike">
                <a:solidFill>
                  <a:srgbClr val="22272e"/>
                </a:solidFill>
                <a:latin typeface="Calibri"/>
                <a:ea typeface="DejaVu Sans"/>
              </a:rPr>
              <a:t>• </a:t>
            </a:r>
            <a:r>
              <a:rPr b="0" lang="en-US" sz="1800" spc="-1" strike="noStrike">
                <a:solidFill>
                  <a:srgbClr val="22272e"/>
                </a:solidFill>
                <a:latin typeface="Calibri"/>
                <a:ea typeface="DejaVu Sans"/>
              </a:rPr>
              <a:t>Αθήνα — 200.1.100.0 / 24</a:t>
            </a:r>
            <a:endParaRPr b="0" lang="en-US" sz="1800" spc="-1" strike="noStrike">
              <a:solidFill>
                <a:srgbClr val="000000"/>
              </a:solidFill>
              <a:latin typeface="Arial"/>
            </a:endParaRPr>
          </a:p>
          <a:p>
            <a:pPr>
              <a:lnSpc>
                <a:spcPct val="100000"/>
              </a:lnSpc>
              <a:spcAft>
                <a:spcPts val="799"/>
              </a:spcAft>
            </a:pPr>
            <a:r>
              <a:rPr b="0" lang="en-US" sz="1800" spc="-1" strike="noStrike">
                <a:solidFill>
                  <a:srgbClr val="22272e"/>
                </a:solidFill>
                <a:latin typeface="Calibri"/>
                <a:ea typeface="DejaVu Sans"/>
              </a:rPr>
              <a:t>• </a:t>
            </a:r>
            <a:r>
              <a:rPr b="0" lang="en-US" sz="1800" spc="-1" strike="noStrike">
                <a:solidFill>
                  <a:srgbClr val="22272e"/>
                </a:solidFill>
                <a:latin typeface="Calibri"/>
                <a:ea typeface="DejaVu Sans"/>
              </a:rPr>
              <a:t>Χανιά — 200.1.10.0 / 24</a:t>
            </a:r>
            <a:endParaRPr b="0" lang="en-US" sz="1800" spc="-1" strike="noStrike">
              <a:solidFill>
                <a:srgbClr val="000000"/>
              </a:solidFill>
              <a:latin typeface="Arial"/>
            </a:endParaRPr>
          </a:p>
        </p:txBody>
      </p:sp>
      <p:sp>
        <p:nvSpPr>
          <p:cNvPr id="173" name="Rectangle 5"/>
          <p:cNvSpPr/>
          <p:nvPr/>
        </p:nvSpPr>
        <p:spPr>
          <a:xfrm>
            <a:off x="6263640" y="1371600"/>
            <a:ext cx="5485680" cy="547920"/>
          </a:xfrm>
          <a:prstGeom prst="rect">
            <a:avLst/>
          </a:prstGeom>
          <a:solidFill>
            <a:srgbClr val="a36a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90000" tIns="45000" bIns="45000" anchor="ctr">
            <a:noAutofit/>
          </a:bodyPr>
          <a:p>
            <a:pPr algn="ctr">
              <a:lnSpc>
                <a:spcPct val="100000"/>
              </a:lnSpc>
            </a:pPr>
            <a:r>
              <a:rPr b="1" lang="en-US" sz="1800" spc="-1" strike="noStrike">
                <a:solidFill>
                  <a:srgbClr val="ffffff"/>
                </a:solidFill>
                <a:latin typeface="Calibri"/>
                <a:ea typeface="DejaVu Sans"/>
              </a:rPr>
              <a:t>WAN /30 ανά link</a:t>
            </a:r>
            <a:endParaRPr b="0" lang="en-US" sz="1800" spc="-1" strike="noStrike">
              <a:solidFill>
                <a:srgbClr val="000000"/>
              </a:solidFill>
              <a:latin typeface="Arial"/>
            </a:endParaRPr>
          </a:p>
        </p:txBody>
      </p:sp>
      <p:sp>
        <p:nvSpPr>
          <p:cNvPr id="174" name="TextBox 6"/>
          <p:cNvSpPr/>
          <p:nvPr/>
        </p:nvSpPr>
        <p:spPr>
          <a:xfrm>
            <a:off x="6355080" y="2057400"/>
            <a:ext cx="5485680" cy="186732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1800" spc="-1" strike="noStrike">
                <a:solidFill>
                  <a:srgbClr val="22272e"/>
                </a:solidFill>
                <a:latin typeface="Calibri"/>
                <a:ea typeface="DejaVu Sans"/>
              </a:rPr>
              <a:t>• </a:t>
            </a:r>
            <a:r>
              <a:rPr b="0" lang="en-US" sz="1800" spc="-1" strike="noStrike">
                <a:solidFill>
                  <a:srgbClr val="22272e"/>
                </a:solidFill>
                <a:latin typeface="Calibri"/>
                <a:ea typeface="DejaVu Sans"/>
              </a:rPr>
              <a:t>THE ↔ IOA — 200.1.70.0 / 30</a:t>
            </a:r>
            <a:endParaRPr b="0" lang="en-US" sz="1800" spc="-1" strike="noStrike">
              <a:solidFill>
                <a:srgbClr val="000000"/>
              </a:solidFill>
              <a:latin typeface="Arial"/>
            </a:endParaRPr>
          </a:p>
          <a:p>
            <a:pPr>
              <a:lnSpc>
                <a:spcPct val="100000"/>
              </a:lnSpc>
              <a:spcAft>
                <a:spcPts val="799"/>
              </a:spcAft>
            </a:pPr>
            <a:r>
              <a:rPr b="0" lang="en-US" sz="1800" spc="-1" strike="noStrike">
                <a:solidFill>
                  <a:srgbClr val="22272e"/>
                </a:solidFill>
                <a:latin typeface="Calibri"/>
                <a:ea typeface="DejaVu Sans"/>
              </a:rPr>
              <a:t>• </a:t>
            </a:r>
            <a:r>
              <a:rPr b="0" lang="en-US" sz="1800" spc="-1" strike="noStrike">
                <a:solidFill>
                  <a:srgbClr val="22272e"/>
                </a:solidFill>
                <a:latin typeface="Calibri"/>
                <a:ea typeface="DejaVu Sans"/>
              </a:rPr>
              <a:t>IOA ↔ PAT — 200.1.50.0 / 30</a:t>
            </a:r>
            <a:endParaRPr b="0" lang="en-US" sz="1800" spc="-1" strike="noStrike">
              <a:solidFill>
                <a:srgbClr val="000000"/>
              </a:solidFill>
              <a:latin typeface="Arial"/>
            </a:endParaRPr>
          </a:p>
          <a:p>
            <a:pPr>
              <a:lnSpc>
                <a:spcPct val="100000"/>
              </a:lnSpc>
              <a:spcAft>
                <a:spcPts val="799"/>
              </a:spcAft>
            </a:pPr>
            <a:r>
              <a:rPr b="0" lang="en-US" sz="1800" spc="-1" strike="noStrike">
                <a:solidFill>
                  <a:srgbClr val="22272e"/>
                </a:solidFill>
                <a:latin typeface="Calibri"/>
                <a:ea typeface="DejaVu Sans"/>
              </a:rPr>
              <a:t>• </a:t>
            </a:r>
            <a:r>
              <a:rPr b="0" lang="en-US" sz="1800" spc="-1" strike="noStrike">
                <a:solidFill>
                  <a:srgbClr val="22272e"/>
                </a:solidFill>
                <a:latin typeface="Calibri"/>
                <a:ea typeface="DejaVu Sans"/>
              </a:rPr>
              <a:t>THE ↔ ATH — 200.1.90.0 / 30</a:t>
            </a:r>
            <a:endParaRPr b="0" lang="en-US" sz="1800" spc="-1" strike="noStrike">
              <a:solidFill>
                <a:srgbClr val="000000"/>
              </a:solidFill>
              <a:latin typeface="Arial"/>
            </a:endParaRPr>
          </a:p>
          <a:p>
            <a:pPr>
              <a:lnSpc>
                <a:spcPct val="100000"/>
              </a:lnSpc>
              <a:spcAft>
                <a:spcPts val="799"/>
              </a:spcAft>
            </a:pPr>
            <a:r>
              <a:rPr b="0" lang="en-US" sz="1800" spc="-1" strike="noStrike">
                <a:solidFill>
                  <a:srgbClr val="22272e"/>
                </a:solidFill>
                <a:latin typeface="Calibri"/>
                <a:ea typeface="DejaVu Sans"/>
              </a:rPr>
              <a:t>• </a:t>
            </a:r>
            <a:r>
              <a:rPr b="0" lang="en-US" sz="1800" spc="-1" strike="noStrike">
                <a:solidFill>
                  <a:srgbClr val="22272e"/>
                </a:solidFill>
                <a:latin typeface="Calibri"/>
                <a:ea typeface="DejaVu Sans"/>
              </a:rPr>
              <a:t>ATH ↔ CHA — 200.1.20.0 / 30</a:t>
            </a:r>
            <a:endParaRPr b="0" lang="en-US" sz="1800" spc="-1" strike="noStrike">
              <a:solidFill>
                <a:srgbClr val="000000"/>
              </a:solidFill>
              <a:latin typeface="Arial"/>
            </a:endParaRPr>
          </a:p>
          <a:p>
            <a:pPr>
              <a:lnSpc>
                <a:spcPct val="100000"/>
              </a:lnSpc>
              <a:spcAft>
                <a:spcPts val="799"/>
              </a:spcAft>
            </a:pPr>
            <a:r>
              <a:rPr b="0" lang="en-US" sz="1800" spc="-1" strike="noStrike">
                <a:solidFill>
                  <a:srgbClr val="22272e"/>
                </a:solidFill>
                <a:latin typeface="Calibri"/>
                <a:ea typeface="DejaVu Sans"/>
              </a:rPr>
              <a:t>• </a:t>
            </a:r>
            <a:r>
              <a:rPr b="0" lang="en-US" sz="1800" spc="-1" strike="noStrike">
                <a:solidFill>
                  <a:srgbClr val="22272e"/>
                </a:solidFill>
                <a:latin typeface="Calibri"/>
                <a:ea typeface="DejaVu Sans"/>
              </a:rPr>
              <a:t>PAT ↔ CHA — 200.1.30.0 / 30</a:t>
            </a:r>
            <a:endParaRPr b="0" lang="en-US" sz="1800" spc="-1" strike="noStrike">
              <a:solidFill>
                <a:srgbClr val="000000"/>
              </a:solidFill>
              <a:latin typeface="Arial"/>
            </a:endParaRPr>
          </a:p>
        </p:txBody>
      </p:sp>
      <p:sp>
        <p:nvSpPr>
          <p:cNvPr id="175" name="TextBox 7"/>
          <p:cNvSpPr/>
          <p:nvPr/>
        </p:nvSpPr>
        <p:spPr>
          <a:xfrm>
            <a:off x="1097280" y="6446520"/>
            <a:ext cx="547920" cy="2570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100" spc="-1" strike="noStrike">
                <a:solidFill>
                  <a:srgbClr val="6a737d"/>
                </a:solidFill>
                <a:latin typeface="Calibri"/>
                <a:ea typeface="DejaVu Sans"/>
              </a:rPr>
              <a:t>8 / 13</a:t>
            </a:r>
            <a:endParaRPr b="0" lang="en-US" sz="1100" spc="-1" strike="noStrike">
              <a:solidFill>
                <a:srgbClr val="000000"/>
              </a:solidFill>
              <a:latin typeface="Arial"/>
            </a:endParaRPr>
          </a:p>
        </p:txBody>
      </p:sp>
      <p:sp>
        <p:nvSpPr>
          <p:cNvPr id="176" name="TextBox 8"/>
          <p:cNvSpPr/>
          <p:nvPr/>
        </p:nvSpPr>
        <p:spPr>
          <a:xfrm>
            <a:off x="8199720" y="6446520"/>
            <a:ext cx="2619000" cy="25704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1100" spc="-1" strike="noStrike">
                <a:solidFill>
                  <a:srgbClr val="6a737d"/>
                </a:solidFill>
                <a:latin typeface="Calibri"/>
                <a:ea typeface="DejaVu Sans"/>
              </a:rPr>
              <a:t>Διαμάντη ΑΜ 19389308 · 4 Ιουν 2026</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TextBox 1"/>
          <p:cNvSpPr/>
          <p:nvPr/>
        </p:nvSpPr>
        <p:spPr>
          <a:xfrm>
            <a:off x="457200" y="228600"/>
            <a:ext cx="11246400" cy="54864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3600" spc="-1" strike="noStrike">
                <a:solidFill>
                  <a:srgbClr val="a36a0d"/>
                </a:solidFill>
                <a:latin typeface="Calibri"/>
                <a:ea typeface="DejaVu Sans"/>
              </a:rPr>
              <a:t>VLANs (3 ανά παράρτημα)</a:t>
            </a:r>
            <a:endParaRPr b="0" lang="en-US" sz="3600" spc="-1" strike="noStrike">
              <a:solidFill>
                <a:srgbClr val="000000"/>
              </a:solidFill>
              <a:latin typeface="Arial"/>
            </a:endParaRPr>
          </a:p>
        </p:txBody>
      </p:sp>
      <p:sp>
        <p:nvSpPr>
          <p:cNvPr id="178" name="Rectangle 2"/>
          <p:cNvSpPr/>
          <p:nvPr/>
        </p:nvSpPr>
        <p:spPr>
          <a:xfrm>
            <a:off x="457200" y="1005840"/>
            <a:ext cx="11246400" cy="19440"/>
          </a:xfrm>
          <a:prstGeom prst="rect">
            <a:avLst/>
          </a:prstGeom>
          <a:solidFill>
            <a:srgbClr val="a36a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a:lnSpc>
                <a:spcPct val="100000"/>
              </a:lnSpc>
            </a:pPr>
            <a:endParaRPr b="0" lang="en-US" sz="1800" spc="-1" strike="noStrike">
              <a:solidFill>
                <a:schemeClr val="lt1"/>
              </a:solidFill>
              <a:latin typeface="Calibri"/>
              <a:ea typeface="DejaVu Sans"/>
            </a:endParaRPr>
          </a:p>
        </p:txBody>
      </p:sp>
      <p:sp>
        <p:nvSpPr>
          <p:cNvPr id="179" name="TextBox 4"/>
          <p:cNvSpPr/>
          <p:nvPr/>
        </p:nvSpPr>
        <p:spPr>
          <a:xfrm>
            <a:off x="731520" y="5760720"/>
            <a:ext cx="10697760" cy="333000"/>
          </a:xfrm>
          <a:prstGeom prst="rect">
            <a:avLst/>
          </a:prstGeom>
          <a:noFill/>
          <a:ln w="0">
            <a:noFill/>
          </a:ln>
        </p:spPr>
        <p:style>
          <a:lnRef idx="0"/>
          <a:fillRef idx="0"/>
          <a:effectRef idx="0"/>
          <a:fontRef idx="minor"/>
        </p:style>
        <p:txBody>
          <a:bodyPr lIns="0" rIns="90000" tIns="45000" bIns="45000" anchor="t">
            <a:spAutoFit/>
          </a:bodyPr>
          <a:p>
            <a:pPr algn="ctr">
              <a:lnSpc>
                <a:spcPct val="100000"/>
              </a:lnSpc>
            </a:pPr>
            <a:r>
              <a:rPr b="1" lang="en-US" sz="1600" spc="-1" strike="noStrike">
                <a:solidFill>
                  <a:srgbClr val="22272e"/>
                </a:solidFill>
                <a:latin typeface="Calibri"/>
                <a:ea typeface="DejaVu Sans"/>
              </a:rPr>
              <a:t>VLAN 10 Λογιστήριο · VLAN 20 Διεύθυνση · VLAN 30 SW Developers · /26 ανά VLAN (62 hosts)</a:t>
            </a:r>
            <a:endParaRPr b="0" lang="en-US" sz="1600" spc="-1" strike="noStrike">
              <a:solidFill>
                <a:srgbClr val="000000"/>
              </a:solidFill>
              <a:latin typeface="Arial"/>
            </a:endParaRPr>
          </a:p>
        </p:txBody>
      </p:sp>
      <p:sp>
        <p:nvSpPr>
          <p:cNvPr id="180" name="TextBox 5"/>
          <p:cNvSpPr/>
          <p:nvPr/>
        </p:nvSpPr>
        <p:spPr>
          <a:xfrm>
            <a:off x="1097280" y="6446520"/>
            <a:ext cx="547920" cy="2570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100" spc="-1" strike="noStrike">
                <a:solidFill>
                  <a:srgbClr val="6a737d"/>
                </a:solidFill>
                <a:latin typeface="Calibri"/>
                <a:ea typeface="DejaVu Sans"/>
              </a:rPr>
              <a:t>9 / 13</a:t>
            </a:r>
            <a:endParaRPr b="0" lang="en-US" sz="1100" spc="-1" strike="noStrike">
              <a:solidFill>
                <a:srgbClr val="000000"/>
              </a:solidFill>
              <a:latin typeface="Arial"/>
            </a:endParaRPr>
          </a:p>
        </p:txBody>
      </p:sp>
      <p:sp>
        <p:nvSpPr>
          <p:cNvPr id="181" name="TextBox 6"/>
          <p:cNvSpPr/>
          <p:nvPr/>
        </p:nvSpPr>
        <p:spPr>
          <a:xfrm>
            <a:off x="8199720" y="6446520"/>
            <a:ext cx="2619000" cy="25704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1100" spc="-1" strike="noStrike">
                <a:solidFill>
                  <a:srgbClr val="6a737d"/>
                </a:solidFill>
                <a:latin typeface="Calibri"/>
                <a:ea typeface="DejaVu Sans"/>
              </a:rPr>
              <a:t>Διαμάντη ΑΜ 19389308 · 4 Ιουν 2026</a:t>
            </a:r>
            <a:endParaRPr b="0" lang="en-US" sz="1100" spc="-1" strike="noStrike">
              <a:solidFill>
                <a:srgbClr val="000000"/>
              </a:solidFill>
              <a:latin typeface="Arial"/>
            </a:endParaRPr>
          </a:p>
        </p:txBody>
      </p:sp>
      <p:sp>
        <p:nvSpPr>
          <p:cNvPr id="182" name="Rounded Rectangle 106"/>
          <p:cNvSpPr/>
          <p:nvPr/>
        </p:nvSpPr>
        <p:spPr>
          <a:xfrm>
            <a:off x="914400" y="1234440"/>
            <a:ext cx="10359720" cy="731160"/>
          </a:xfrm>
          <a:prstGeom prst="roundRect">
            <a:avLst>
              <a:gd name="adj" fmla="val 20000"/>
            </a:avLst>
          </a:prstGeom>
          <a:solidFill>
            <a:srgbClr val="e8f0f8"/>
          </a:solidFill>
          <a:ln w="31750">
            <a:solidFill>
              <a:srgbClr val="1a4f8a"/>
            </a:solidFill>
          </a:ln>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1800" spc="-1" strike="noStrike">
                <a:solidFill>
                  <a:srgbClr val="1a4f8a"/>
                </a:solidFill>
                <a:latin typeface="Arial"/>
                <a:ea typeface="DejaVu Sans"/>
              </a:rPr>
              <a:t>200.1.80.0/24  —  254 χρησιμοποιήσιμοι hosts (.1–.254)</a:t>
            </a:r>
            <a:endParaRPr b="0" lang="en-US" sz="1800" spc="-1" strike="noStrike">
              <a:solidFill>
                <a:srgbClr val="000000"/>
              </a:solidFill>
              <a:latin typeface="Arial"/>
            </a:endParaRPr>
          </a:p>
        </p:txBody>
      </p:sp>
      <p:sp>
        <p:nvSpPr>
          <p:cNvPr id="183" name="Rounded Rectangle 107"/>
          <p:cNvSpPr/>
          <p:nvPr/>
        </p:nvSpPr>
        <p:spPr>
          <a:xfrm>
            <a:off x="1011240" y="2423160"/>
            <a:ext cx="2468520" cy="1782720"/>
          </a:xfrm>
          <a:prstGeom prst="roundRect">
            <a:avLst>
              <a:gd name="adj" fmla="val 12000"/>
            </a:avLst>
          </a:prstGeom>
          <a:solidFill>
            <a:srgbClr val="cfe7d1"/>
          </a:solidFill>
          <a:ln w="31750">
            <a:solidFill>
              <a:srgbClr val="2a7a32"/>
            </a:solidFill>
          </a:ln>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1400" spc="-1" strike="noStrike">
                <a:solidFill>
                  <a:srgbClr val="2a7a32"/>
                </a:solidFill>
                <a:latin typeface="Arial"/>
                <a:ea typeface="DejaVu Sans"/>
              </a:rPr>
              <a:t>VLAN 10  ·  Λογιστήριο</a:t>
            </a:r>
            <a:endParaRPr b="0" lang="en-US" sz="1400" spc="-1" strike="noStrike">
              <a:solidFill>
                <a:srgbClr val="000000"/>
              </a:solidFill>
              <a:latin typeface="Arial"/>
            </a:endParaRPr>
          </a:p>
          <a:p>
            <a:pPr algn="ctr">
              <a:lnSpc>
                <a:spcPct val="100000"/>
              </a:lnSpc>
            </a:pPr>
            <a:r>
              <a:rPr b="0" lang="en-US" sz="1300" spc="-1" strike="noStrike">
                <a:solidFill>
                  <a:srgbClr val="222222"/>
                </a:solidFill>
                <a:latin typeface="Arial"/>
                <a:ea typeface="DejaVu Sans"/>
              </a:rPr>
              <a:t>200.1.80.0/26</a:t>
            </a:r>
            <a:endParaRPr b="0" lang="en-US" sz="1300" spc="-1" strike="noStrike">
              <a:solidFill>
                <a:srgbClr val="000000"/>
              </a:solidFill>
              <a:latin typeface="Arial"/>
            </a:endParaRPr>
          </a:p>
          <a:p>
            <a:pPr algn="ctr">
              <a:lnSpc>
                <a:spcPct val="100000"/>
              </a:lnSpc>
            </a:pPr>
            <a:r>
              <a:rPr b="0" lang="en-US" sz="1200" spc="-1" strike="noStrike">
                <a:solidFill>
                  <a:srgbClr val="555555"/>
                </a:solidFill>
                <a:latin typeface="Arial"/>
                <a:ea typeface="DejaVu Sans"/>
              </a:rPr>
              <a:t>.1 – .62</a:t>
            </a:r>
            <a:endParaRPr b="0" lang="en-US" sz="1200" spc="-1" strike="noStrike">
              <a:solidFill>
                <a:srgbClr val="000000"/>
              </a:solidFill>
              <a:latin typeface="Arial"/>
            </a:endParaRPr>
          </a:p>
          <a:p>
            <a:pPr algn="ctr">
              <a:lnSpc>
                <a:spcPct val="100000"/>
              </a:lnSpc>
            </a:pPr>
            <a:r>
              <a:rPr b="0" lang="en-US" sz="1100" spc="-1" strike="noStrike">
                <a:solidFill>
                  <a:srgbClr val="555555"/>
                </a:solidFill>
                <a:latin typeface="Arial"/>
                <a:ea typeface="DejaVu Sans"/>
              </a:rPr>
              <a:t>62 hosts</a:t>
            </a:r>
            <a:endParaRPr b="0" lang="en-US" sz="1100" spc="-1" strike="noStrike">
              <a:solidFill>
                <a:srgbClr val="000000"/>
              </a:solidFill>
              <a:latin typeface="Arial"/>
            </a:endParaRPr>
          </a:p>
        </p:txBody>
      </p:sp>
      <p:cxnSp>
        <p:nvCxnSpPr>
          <p:cNvPr id="184" name="Connector 108"/>
          <p:cNvCxnSpPr/>
          <p:nvPr/>
        </p:nvCxnSpPr>
        <p:spPr>
          <a:xfrm>
            <a:off x="2245680" y="1965960"/>
            <a:ext cx="360" cy="457560"/>
          </a:xfrm>
          <a:prstGeom prst="straightConnector1">
            <a:avLst/>
          </a:prstGeom>
          <a:ln w="25400">
            <a:solidFill>
              <a:srgbClr val="2a7a32"/>
            </a:solidFill>
            <a:tailEnd len="med" type="triangle" w="med"/>
          </a:ln>
        </p:spPr>
      </p:cxnSp>
      <p:sp>
        <p:nvSpPr>
          <p:cNvPr id="185" name="Rounded Rectangle 109"/>
          <p:cNvSpPr/>
          <p:nvPr/>
        </p:nvSpPr>
        <p:spPr>
          <a:xfrm>
            <a:off x="3576960" y="2423160"/>
            <a:ext cx="2468520" cy="1782720"/>
          </a:xfrm>
          <a:prstGeom prst="roundRect">
            <a:avLst>
              <a:gd name="adj" fmla="val 12000"/>
            </a:avLst>
          </a:prstGeom>
          <a:solidFill>
            <a:srgbClr val="f9e0a8"/>
          </a:solidFill>
          <a:ln w="31750">
            <a:solidFill>
              <a:srgbClr val="a36a0d"/>
            </a:solidFill>
          </a:ln>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1400" spc="-1" strike="noStrike">
                <a:solidFill>
                  <a:srgbClr val="a36a0d"/>
                </a:solidFill>
                <a:latin typeface="Arial"/>
                <a:ea typeface="DejaVu Sans"/>
              </a:rPr>
              <a:t>VLAN 20  ·  Διεύθυνση</a:t>
            </a:r>
            <a:endParaRPr b="0" lang="en-US" sz="1400" spc="-1" strike="noStrike">
              <a:solidFill>
                <a:srgbClr val="000000"/>
              </a:solidFill>
              <a:latin typeface="Arial"/>
            </a:endParaRPr>
          </a:p>
          <a:p>
            <a:pPr algn="ctr">
              <a:lnSpc>
                <a:spcPct val="100000"/>
              </a:lnSpc>
            </a:pPr>
            <a:r>
              <a:rPr b="0" lang="en-US" sz="1300" spc="-1" strike="noStrike">
                <a:solidFill>
                  <a:srgbClr val="222222"/>
                </a:solidFill>
                <a:latin typeface="Arial"/>
                <a:ea typeface="DejaVu Sans"/>
              </a:rPr>
              <a:t>200.1.80.64/26</a:t>
            </a:r>
            <a:endParaRPr b="0" lang="en-US" sz="1300" spc="-1" strike="noStrike">
              <a:solidFill>
                <a:srgbClr val="000000"/>
              </a:solidFill>
              <a:latin typeface="Arial"/>
            </a:endParaRPr>
          </a:p>
          <a:p>
            <a:pPr algn="ctr">
              <a:lnSpc>
                <a:spcPct val="100000"/>
              </a:lnSpc>
            </a:pPr>
            <a:r>
              <a:rPr b="0" lang="en-US" sz="1200" spc="-1" strike="noStrike">
                <a:solidFill>
                  <a:srgbClr val="555555"/>
                </a:solidFill>
                <a:latin typeface="Arial"/>
                <a:ea typeface="DejaVu Sans"/>
              </a:rPr>
              <a:t>.65 – .126</a:t>
            </a:r>
            <a:endParaRPr b="0" lang="en-US" sz="1200" spc="-1" strike="noStrike">
              <a:solidFill>
                <a:srgbClr val="000000"/>
              </a:solidFill>
              <a:latin typeface="Arial"/>
            </a:endParaRPr>
          </a:p>
          <a:p>
            <a:pPr algn="ctr">
              <a:lnSpc>
                <a:spcPct val="100000"/>
              </a:lnSpc>
            </a:pPr>
            <a:r>
              <a:rPr b="0" lang="en-US" sz="1100" spc="-1" strike="noStrike">
                <a:solidFill>
                  <a:srgbClr val="555555"/>
                </a:solidFill>
                <a:latin typeface="Arial"/>
                <a:ea typeface="DejaVu Sans"/>
              </a:rPr>
              <a:t>62 hosts</a:t>
            </a:r>
            <a:endParaRPr b="0" lang="en-US" sz="1100" spc="-1" strike="noStrike">
              <a:solidFill>
                <a:srgbClr val="000000"/>
              </a:solidFill>
              <a:latin typeface="Arial"/>
            </a:endParaRPr>
          </a:p>
        </p:txBody>
      </p:sp>
      <p:cxnSp>
        <p:nvCxnSpPr>
          <p:cNvPr id="186" name="Connector 110"/>
          <p:cNvCxnSpPr/>
          <p:nvPr/>
        </p:nvCxnSpPr>
        <p:spPr>
          <a:xfrm>
            <a:off x="4811400" y="1965960"/>
            <a:ext cx="360" cy="457560"/>
          </a:xfrm>
          <a:prstGeom prst="straightConnector1">
            <a:avLst/>
          </a:prstGeom>
          <a:ln w="25400">
            <a:solidFill>
              <a:srgbClr val="a36a0d"/>
            </a:solidFill>
            <a:tailEnd len="med" type="triangle" w="med"/>
          </a:ln>
        </p:spPr>
      </p:cxnSp>
      <p:sp>
        <p:nvSpPr>
          <p:cNvPr id="187" name="Rounded Rectangle 111"/>
          <p:cNvSpPr/>
          <p:nvPr/>
        </p:nvSpPr>
        <p:spPr>
          <a:xfrm>
            <a:off x="6143040" y="2423160"/>
            <a:ext cx="2468520" cy="1782720"/>
          </a:xfrm>
          <a:prstGeom prst="roundRect">
            <a:avLst>
              <a:gd name="adj" fmla="val 12000"/>
            </a:avLst>
          </a:prstGeom>
          <a:solidFill>
            <a:srgbClr val="d8c9ee"/>
          </a:solidFill>
          <a:ln w="31750">
            <a:solidFill>
              <a:srgbClr val="5a2db0"/>
            </a:solidFill>
          </a:ln>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1400" spc="-1" strike="noStrike">
                <a:solidFill>
                  <a:srgbClr val="5a2db0"/>
                </a:solidFill>
                <a:latin typeface="Arial"/>
                <a:ea typeface="DejaVu Sans"/>
              </a:rPr>
              <a:t>VLAN 30  ·  SW Developers</a:t>
            </a:r>
            <a:endParaRPr b="0" lang="en-US" sz="1400" spc="-1" strike="noStrike">
              <a:solidFill>
                <a:srgbClr val="000000"/>
              </a:solidFill>
              <a:latin typeface="Arial"/>
            </a:endParaRPr>
          </a:p>
          <a:p>
            <a:pPr algn="ctr">
              <a:lnSpc>
                <a:spcPct val="100000"/>
              </a:lnSpc>
            </a:pPr>
            <a:r>
              <a:rPr b="0" lang="en-US" sz="1300" spc="-1" strike="noStrike">
                <a:solidFill>
                  <a:srgbClr val="222222"/>
                </a:solidFill>
                <a:latin typeface="Arial"/>
                <a:ea typeface="DejaVu Sans"/>
              </a:rPr>
              <a:t>200.1.80.128/26</a:t>
            </a:r>
            <a:endParaRPr b="0" lang="en-US" sz="1300" spc="-1" strike="noStrike">
              <a:solidFill>
                <a:srgbClr val="000000"/>
              </a:solidFill>
              <a:latin typeface="Arial"/>
            </a:endParaRPr>
          </a:p>
          <a:p>
            <a:pPr algn="ctr">
              <a:lnSpc>
                <a:spcPct val="100000"/>
              </a:lnSpc>
            </a:pPr>
            <a:r>
              <a:rPr b="0" lang="en-US" sz="1200" spc="-1" strike="noStrike">
                <a:solidFill>
                  <a:srgbClr val="555555"/>
                </a:solidFill>
                <a:latin typeface="Arial"/>
                <a:ea typeface="DejaVu Sans"/>
              </a:rPr>
              <a:t>.129 – .190</a:t>
            </a:r>
            <a:endParaRPr b="0" lang="en-US" sz="1200" spc="-1" strike="noStrike">
              <a:solidFill>
                <a:srgbClr val="000000"/>
              </a:solidFill>
              <a:latin typeface="Arial"/>
            </a:endParaRPr>
          </a:p>
          <a:p>
            <a:pPr algn="ctr">
              <a:lnSpc>
                <a:spcPct val="100000"/>
              </a:lnSpc>
            </a:pPr>
            <a:r>
              <a:rPr b="0" lang="en-US" sz="1100" spc="-1" strike="noStrike">
                <a:solidFill>
                  <a:srgbClr val="555555"/>
                </a:solidFill>
                <a:latin typeface="Arial"/>
                <a:ea typeface="DejaVu Sans"/>
              </a:rPr>
              <a:t>62 hosts</a:t>
            </a:r>
            <a:endParaRPr b="0" lang="en-US" sz="1100" spc="-1" strike="noStrike">
              <a:solidFill>
                <a:srgbClr val="000000"/>
              </a:solidFill>
              <a:latin typeface="Arial"/>
            </a:endParaRPr>
          </a:p>
        </p:txBody>
      </p:sp>
      <p:cxnSp>
        <p:nvCxnSpPr>
          <p:cNvPr id="188" name="Connector 112"/>
          <p:cNvCxnSpPr/>
          <p:nvPr/>
        </p:nvCxnSpPr>
        <p:spPr>
          <a:xfrm>
            <a:off x="7377120" y="1965960"/>
            <a:ext cx="360" cy="457560"/>
          </a:xfrm>
          <a:prstGeom prst="straightConnector1">
            <a:avLst/>
          </a:prstGeom>
          <a:ln w="25400">
            <a:solidFill>
              <a:srgbClr val="5a2db0"/>
            </a:solidFill>
            <a:tailEnd len="med" type="triangle" w="med"/>
          </a:ln>
        </p:spPr>
      </p:cxnSp>
      <p:sp>
        <p:nvSpPr>
          <p:cNvPr id="189" name="Rounded Rectangle 113"/>
          <p:cNvSpPr/>
          <p:nvPr/>
        </p:nvSpPr>
        <p:spPr>
          <a:xfrm>
            <a:off x="8708760" y="2423160"/>
            <a:ext cx="2468520" cy="1782720"/>
          </a:xfrm>
          <a:prstGeom prst="roundRect">
            <a:avLst>
              <a:gd name="adj" fmla="val 12000"/>
            </a:avLst>
          </a:prstGeom>
          <a:solidFill>
            <a:srgbClr val="eeeeee"/>
          </a:solidFill>
          <a:ln w="31750">
            <a:solidFill>
              <a:srgbClr val="777777"/>
            </a:solidFill>
          </a:ln>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1400" spc="-1" strike="noStrike">
                <a:solidFill>
                  <a:srgbClr val="777777"/>
                </a:solidFill>
                <a:latin typeface="Arial"/>
                <a:ea typeface="DejaVu Sans"/>
              </a:rPr>
              <a:t>εφεδρικό  ·  (future use)</a:t>
            </a:r>
            <a:endParaRPr b="0" lang="en-US" sz="1400" spc="-1" strike="noStrike">
              <a:solidFill>
                <a:srgbClr val="000000"/>
              </a:solidFill>
              <a:latin typeface="Arial"/>
            </a:endParaRPr>
          </a:p>
          <a:p>
            <a:pPr algn="ctr">
              <a:lnSpc>
                <a:spcPct val="100000"/>
              </a:lnSpc>
            </a:pPr>
            <a:r>
              <a:rPr b="0" lang="en-US" sz="1300" spc="-1" strike="noStrike">
                <a:solidFill>
                  <a:srgbClr val="222222"/>
                </a:solidFill>
                <a:latin typeface="Arial"/>
                <a:ea typeface="DejaVu Sans"/>
              </a:rPr>
              <a:t>200.1.80.192/26</a:t>
            </a:r>
            <a:endParaRPr b="0" lang="en-US" sz="1300" spc="-1" strike="noStrike">
              <a:solidFill>
                <a:srgbClr val="000000"/>
              </a:solidFill>
              <a:latin typeface="Arial"/>
            </a:endParaRPr>
          </a:p>
          <a:p>
            <a:pPr algn="ctr">
              <a:lnSpc>
                <a:spcPct val="100000"/>
              </a:lnSpc>
            </a:pPr>
            <a:r>
              <a:rPr b="0" lang="en-US" sz="1200" spc="-1" strike="noStrike">
                <a:solidFill>
                  <a:srgbClr val="555555"/>
                </a:solidFill>
                <a:latin typeface="Arial"/>
                <a:ea typeface="DejaVu Sans"/>
              </a:rPr>
              <a:t>.193 – .254</a:t>
            </a:r>
            <a:endParaRPr b="0" lang="en-US" sz="1200" spc="-1" strike="noStrike">
              <a:solidFill>
                <a:srgbClr val="000000"/>
              </a:solidFill>
              <a:latin typeface="Arial"/>
            </a:endParaRPr>
          </a:p>
          <a:p>
            <a:pPr algn="ctr">
              <a:lnSpc>
                <a:spcPct val="100000"/>
              </a:lnSpc>
            </a:pPr>
            <a:r>
              <a:rPr b="0" lang="en-US" sz="1100" spc="-1" strike="noStrike">
                <a:solidFill>
                  <a:srgbClr val="555555"/>
                </a:solidFill>
                <a:latin typeface="Arial"/>
                <a:ea typeface="DejaVu Sans"/>
              </a:rPr>
              <a:t>—</a:t>
            </a:r>
            <a:endParaRPr b="0" lang="en-US" sz="1100" spc="-1" strike="noStrike">
              <a:solidFill>
                <a:srgbClr val="000000"/>
              </a:solidFill>
              <a:latin typeface="Arial"/>
            </a:endParaRPr>
          </a:p>
        </p:txBody>
      </p:sp>
      <p:cxnSp>
        <p:nvCxnSpPr>
          <p:cNvPr id="190" name="Connector 114"/>
          <p:cNvCxnSpPr/>
          <p:nvPr/>
        </p:nvCxnSpPr>
        <p:spPr>
          <a:xfrm>
            <a:off x="9942840" y="1965960"/>
            <a:ext cx="360" cy="457560"/>
          </a:xfrm>
          <a:prstGeom prst="straightConnector1">
            <a:avLst/>
          </a:prstGeom>
          <a:ln w="25400">
            <a:solidFill>
              <a:srgbClr val="777777"/>
            </a:solidFill>
            <a:tailEnd len="med" type="triangle" w="med"/>
          </a:ln>
        </p:spPr>
      </p:cxnSp>
      <p:sp>
        <p:nvSpPr>
          <p:cNvPr id="191" name="Rounded Rectangle 115"/>
          <p:cNvSpPr/>
          <p:nvPr/>
        </p:nvSpPr>
        <p:spPr>
          <a:xfrm>
            <a:off x="914400" y="4434840"/>
            <a:ext cx="10359720" cy="1005480"/>
          </a:xfrm>
          <a:prstGeom prst="roundRect">
            <a:avLst>
              <a:gd name="adj" fmla="val 12000"/>
            </a:avLst>
          </a:prstGeom>
          <a:solidFill>
            <a:srgbClr val="f4f6fa"/>
          </a:solidFill>
          <a:ln w="19050">
            <a:solidFill>
              <a:srgbClr val="888888"/>
            </a:solidFill>
          </a:ln>
        </p:spPr>
        <p:style>
          <a:lnRef idx="1">
            <a:schemeClr val="accent1"/>
          </a:lnRef>
          <a:fillRef idx="3">
            <a:schemeClr val="accent1"/>
          </a:fillRef>
          <a:effectRef idx="2">
            <a:schemeClr val="accent1"/>
          </a:effectRef>
          <a:fontRef idx="minor"/>
        </p:style>
        <p:txBody>
          <a:bodyPr lIns="45720" rIns="45720" tIns="27360" bIns="27360" anchor="ctr">
            <a:noAutofit/>
          </a:bodyPr>
          <a:p>
            <a:pPr algn="ctr">
              <a:lnSpc>
                <a:spcPct val="100000"/>
              </a:lnSpc>
            </a:pPr>
            <a:r>
              <a:rPr b="1" lang="en-US" sz="1400" spc="-1" strike="noStrike">
                <a:solidFill>
                  <a:srgbClr val="1a4f8a"/>
                </a:solidFill>
                <a:latin typeface="Arial"/>
                <a:ea typeface="DejaVu Sans"/>
              </a:rPr>
              <a:t>Το ίδιο μοτίβο /26 εφαρμόζεται και στα 5 παραρτήματα</a:t>
            </a:r>
            <a:endParaRPr b="0" lang="en-US" sz="1400" spc="-1" strike="noStrike">
              <a:solidFill>
                <a:srgbClr val="000000"/>
              </a:solidFill>
              <a:latin typeface="Arial"/>
            </a:endParaRPr>
          </a:p>
          <a:p>
            <a:pPr algn="ctr">
              <a:lnSpc>
                <a:spcPct val="100000"/>
              </a:lnSpc>
            </a:pPr>
            <a:r>
              <a:rPr b="0" lang="en-US" sz="1200" spc="-1" strike="noStrike">
                <a:solidFill>
                  <a:srgbClr val="333333"/>
                </a:solidFill>
                <a:latin typeface="Arial"/>
                <a:ea typeface="DejaVu Sans"/>
              </a:rPr>
              <a:t>Χανιά 200.1.10.0/24 · Πάτρα 200.1.40.0/24 · Ιωάννινα 200.1.60.0/24 · Θεσ/νίκη 200.1.80.0/24 · Αθήνα 200.1.100.0/24</a:t>
            </a:r>
            <a:endParaRPr b="0" lang="en-US" sz="1200" spc="-1" strike="noStrike">
              <a:solidFill>
                <a:srgbClr val="000000"/>
              </a:solidFill>
              <a:latin typeface="Arial"/>
            </a:endParaRPr>
          </a:p>
          <a:p>
            <a:pPr algn="ctr">
              <a:lnSpc>
                <a:spcPct val="100000"/>
              </a:lnSpc>
            </a:pPr>
            <a:r>
              <a:rPr b="0" lang="en-US" sz="1200" spc="-1" strike="noStrike">
                <a:solidFill>
                  <a:srgbClr val="5a2db0"/>
                </a:solidFill>
                <a:latin typeface="Arial"/>
                <a:ea typeface="DejaVu Sans"/>
              </a:rPr>
              <a:t>Συνολικά διαθέσιμοι hosts ανά παράρτημα: 3 × 62 = 186 (το 4ο /26 παραμένει εφεδρικό)</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TextBox 1"/>
          <p:cNvSpPr/>
          <p:nvPr/>
        </p:nvSpPr>
        <p:spPr>
          <a:xfrm>
            <a:off x="457200" y="228600"/>
            <a:ext cx="11246400" cy="54864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3600" spc="-1" strike="noStrike">
                <a:solidFill>
                  <a:srgbClr val="a36a0d"/>
                </a:solidFill>
                <a:latin typeface="Calibri"/>
                <a:ea typeface="DejaVu Sans"/>
              </a:rPr>
              <a:t>OSPF δυναμική δρομολόγηση</a:t>
            </a:r>
            <a:endParaRPr b="0" lang="en-US" sz="3600" spc="-1" strike="noStrike">
              <a:solidFill>
                <a:srgbClr val="000000"/>
              </a:solidFill>
              <a:latin typeface="Arial"/>
            </a:endParaRPr>
          </a:p>
        </p:txBody>
      </p:sp>
      <p:sp>
        <p:nvSpPr>
          <p:cNvPr id="193" name="Rectangle 2"/>
          <p:cNvSpPr/>
          <p:nvPr/>
        </p:nvSpPr>
        <p:spPr>
          <a:xfrm>
            <a:off x="457200" y="1005840"/>
            <a:ext cx="11246400" cy="19440"/>
          </a:xfrm>
          <a:prstGeom prst="rect">
            <a:avLst/>
          </a:prstGeom>
          <a:solidFill>
            <a:srgbClr val="a36a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a:lnSpc>
                <a:spcPct val="100000"/>
              </a:lnSpc>
            </a:pPr>
            <a:endParaRPr b="0" lang="en-US" sz="1800" spc="-1" strike="noStrike">
              <a:solidFill>
                <a:schemeClr val="lt1"/>
              </a:solidFill>
              <a:latin typeface="Calibri"/>
              <a:ea typeface="DejaVu Sans"/>
            </a:endParaRPr>
          </a:p>
        </p:txBody>
      </p:sp>
      <p:sp>
        <p:nvSpPr>
          <p:cNvPr id="194" name="TextBox 3"/>
          <p:cNvSpPr/>
          <p:nvPr/>
        </p:nvSpPr>
        <p:spPr>
          <a:xfrm>
            <a:off x="731520" y="1463040"/>
            <a:ext cx="7771680" cy="21416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1800" spc="-1" strike="noStrike">
                <a:solidFill>
                  <a:srgbClr val="22272e"/>
                </a:solidFill>
                <a:latin typeface="Calibri"/>
                <a:ea typeface="DejaVu Sans"/>
              </a:rPr>
              <a:t>• </a:t>
            </a:r>
            <a:r>
              <a:rPr b="1" lang="en-US" sz="1800" spc="-1" strike="noStrike">
                <a:solidFill>
                  <a:srgbClr val="22272e"/>
                </a:solidFill>
                <a:latin typeface="Calibri"/>
                <a:ea typeface="DejaVu Sans"/>
              </a:rPr>
              <a:t>Open standard (RFC 2328)</a:t>
            </a:r>
            <a:r>
              <a:rPr b="0" lang="en-US" sz="1800" spc="-1" strike="noStrike">
                <a:solidFill>
                  <a:srgbClr val="22272e"/>
                </a:solidFill>
                <a:latin typeface="Calibri"/>
                <a:ea typeface="DejaVu Sans"/>
              </a:rPr>
              <a:t> — link-state, αλγόριθμος Dijkstra</a:t>
            </a:r>
            <a:endParaRPr b="0" lang="en-US" sz="1800" spc="-1" strike="noStrike">
              <a:solidFill>
                <a:srgbClr val="000000"/>
              </a:solidFill>
              <a:latin typeface="Arial"/>
            </a:endParaRPr>
          </a:p>
          <a:p>
            <a:pPr>
              <a:lnSpc>
                <a:spcPct val="100000"/>
              </a:lnSpc>
              <a:spcAft>
                <a:spcPts val="799"/>
              </a:spcAft>
            </a:pPr>
            <a:r>
              <a:rPr b="0" lang="en-US" sz="1800" spc="-1" strike="noStrike">
                <a:solidFill>
                  <a:srgbClr val="22272e"/>
                </a:solidFill>
                <a:latin typeface="Calibri"/>
                <a:ea typeface="DejaVu Sans"/>
              </a:rPr>
              <a:t>• </a:t>
            </a:r>
            <a:r>
              <a:rPr b="1" lang="en-US" sz="1800" spc="-1" strike="noStrike">
                <a:solidFill>
                  <a:srgbClr val="22272e"/>
                </a:solidFill>
                <a:latin typeface="Calibri"/>
                <a:ea typeface="DejaVu Sans"/>
              </a:rPr>
              <a:t>Single-area Area 0</a:t>
            </a:r>
            <a:r>
              <a:rPr b="0" lang="en-US" sz="1800" spc="-1" strike="noStrike">
                <a:solidFill>
                  <a:srgbClr val="22272e"/>
                </a:solidFill>
                <a:latin typeface="Calibri"/>
                <a:ea typeface="DejaVu Sans"/>
              </a:rPr>
              <a:t> — απλούστερο για 5 routers</a:t>
            </a:r>
            <a:endParaRPr b="0" lang="en-US" sz="1800" spc="-1" strike="noStrike">
              <a:solidFill>
                <a:srgbClr val="000000"/>
              </a:solidFill>
              <a:latin typeface="Arial"/>
            </a:endParaRPr>
          </a:p>
          <a:p>
            <a:pPr>
              <a:lnSpc>
                <a:spcPct val="100000"/>
              </a:lnSpc>
              <a:spcAft>
                <a:spcPts val="799"/>
              </a:spcAft>
            </a:pPr>
            <a:r>
              <a:rPr b="0" lang="en-US" sz="1800" spc="-1" strike="noStrike">
                <a:solidFill>
                  <a:srgbClr val="22272e"/>
                </a:solidFill>
                <a:latin typeface="Calibri"/>
                <a:ea typeface="DejaVu Sans"/>
              </a:rPr>
              <a:t>• </a:t>
            </a:r>
            <a:r>
              <a:rPr b="1" lang="en-US" sz="1800" spc="-1" strike="noStrike">
                <a:solidFill>
                  <a:srgbClr val="22272e"/>
                </a:solidFill>
                <a:latin typeface="Calibri"/>
                <a:ea typeface="DejaVu Sans"/>
              </a:rPr>
              <a:t>RIP</a:t>
            </a:r>
            <a:r>
              <a:rPr b="0" lang="en-US" sz="1800" spc="-1" strike="noStrike">
                <a:solidFill>
                  <a:srgbClr val="22272e"/>
                </a:solidFill>
                <a:latin typeface="Calibri"/>
                <a:ea typeface="DejaVu Sans"/>
              </a:rPr>
              <a:t> — αργό, distance-vector, όριο 15 hops (απορρίφθηκε)</a:t>
            </a:r>
            <a:endParaRPr b="0" lang="en-US" sz="1800" spc="-1" strike="noStrike">
              <a:solidFill>
                <a:srgbClr val="000000"/>
              </a:solidFill>
              <a:latin typeface="Arial"/>
            </a:endParaRPr>
          </a:p>
          <a:p>
            <a:pPr>
              <a:lnSpc>
                <a:spcPct val="100000"/>
              </a:lnSpc>
              <a:spcAft>
                <a:spcPts val="799"/>
              </a:spcAft>
            </a:pPr>
            <a:r>
              <a:rPr b="0" lang="en-US" sz="1800" spc="-1" strike="noStrike">
                <a:solidFill>
                  <a:srgbClr val="22272e"/>
                </a:solidFill>
                <a:latin typeface="Calibri"/>
                <a:ea typeface="DejaVu Sans"/>
              </a:rPr>
              <a:t>• </a:t>
            </a:r>
            <a:r>
              <a:rPr b="1" lang="en-US" sz="1800" spc="-1" strike="noStrike">
                <a:solidFill>
                  <a:srgbClr val="22272e"/>
                </a:solidFill>
                <a:latin typeface="Calibri"/>
                <a:ea typeface="DejaVu Sans"/>
              </a:rPr>
              <a:t>EIGRP</a:t>
            </a:r>
            <a:r>
              <a:rPr b="0" lang="en-US" sz="1800" spc="-1" strike="noStrike">
                <a:solidFill>
                  <a:srgbClr val="22272e"/>
                </a:solidFill>
                <a:latin typeface="Calibri"/>
                <a:ea typeface="DejaVu Sans"/>
              </a:rPr>
              <a:t> — Cisco-only proprietary (απορρίφθηκε για συμβατότητα)</a:t>
            </a:r>
            <a:endParaRPr b="0" lang="en-US" sz="1800" spc="-1" strike="noStrike">
              <a:solidFill>
                <a:srgbClr val="000000"/>
              </a:solidFill>
              <a:latin typeface="Arial"/>
            </a:endParaRPr>
          </a:p>
          <a:p>
            <a:pPr>
              <a:lnSpc>
                <a:spcPct val="100000"/>
              </a:lnSpc>
              <a:spcAft>
                <a:spcPts val="799"/>
              </a:spcAft>
            </a:pPr>
            <a:r>
              <a:rPr b="0" lang="en-US" sz="1800" spc="-1" strike="noStrike">
                <a:solidFill>
                  <a:srgbClr val="22272e"/>
                </a:solidFill>
                <a:latin typeface="Calibri"/>
                <a:ea typeface="DejaVu Sans"/>
              </a:rPr>
              <a:t>• </a:t>
            </a:r>
            <a:r>
              <a:rPr b="1" lang="en-US" sz="1800" spc="-1" strike="noStrike">
                <a:solidFill>
                  <a:srgbClr val="22272e"/>
                </a:solidFill>
                <a:latin typeface="Calibri"/>
                <a:ea typeface="DejaVu Sans"/>
              </a:rPr>
              <a:t>Σύγκλιση σε δευτερόλεπτα</a:t>
            </a:r>
            <a:r>
              <a:rPr b="0" lang="en-US" sz="1800" spc="-1" strike="noStrike">
                <a:solidFill>
                  <a:srgbClr val="22272e"/>
                </a:solidFill>
                <a:latin typeface="Calibri"/>
                <a:ea typeface="DejaVu Sans"/>
              </a:rPr>
              <a:t> — αυτόματη επανυπολογισμός σε αλλαγή link</a:t>
            </a:r>
            <a:endParaRPr b="0" lang="en-US" sz="1800" spc="-1" strike="noStrike">
              <a:solidFill>
                <a:srgbClr val="000000"/>
              </a:solidFill>
              <a:latin typeface="Arial"/>
            </a:endParaRPr>
          </a:p>
        </p:txBody>
      </p:sp>
      <p:sp>
        <p:nvSpPr>
          <p:cNvPr id="195" name="TextBox 5"/>
          <p:cNvSpPr/>
          <p:nvPr/>
        </p:nvSpPr>
        <p:spPr>
          <a:xfrm>
            <a:off x="1056600" y="6446520"/>
            <a:ext cx="628920" cy="2570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100" spc="-1" strike="noStrike">
                <a:solidFill>
                  <a:srgbClr val="6a737d"/>
                </a:solidFill>
                <a:latin typeface="Calibri"/>
                <a:ea typeface="DejaVu Sans"/>
              </a:rPr>
              <a:t>10 / 13</a:t>
            </a:r>
            <a:endParaRPr b="0" lang="en-US" sz="1100" spc="-1" strike="noStrike">
              <a:solidFill>
                <a:srgbClr val="000000"/>
              </a:solidFill>
              <a:latin typeface="Arial"/>
            </a:endParaRPr>
          </a:p>
        </p:txBody>
      </p:sp>
      <p:sp>
        <p:nvSpPr>
          <p:cNvPr id="196" name="TextBox 6"/>
          <p:cNvSpPr/>
          <p:nvPr/>
        </p:nvSpPr>
        <p:spPr>
          <a:xfrm>
            <a:off x="8199720" y="6446520"/>
            <a:ext cx="2619000" cy="25704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1100" spc="-1" strike="noStrike">
                <a:solidFill>
                  <a:srgbClr val="6a737d"/>
                </a:solidFill>
                <a:latin typeface="Calibri"/>
                <a:ea typeface="DejaVu Sans"/>
              </a:rPr>
              <a:t>Διαμάντη ΑΜ 19389308 · 4 Ιουν 2026</a:t>
            </a:r>
            <a:endParaRPr b="0" lang="en-US" sz="1100" spc="-1" strike="noStrike">
              <a:solidFill>
                <a:srgbClr val="000000"/>
              </a:solidFill>
              <a:latin typeface="Arial"/>
            </a:endParaRPr>
          </a:p>
        </p:txBody>
      </p:sp>
      <p:pic>
        <p:nvPicPr>
          <p:cNvPr id="197" name="Picture 112" descr="screenshot-ospf-route.png"/>
          <p:cNvPicPr/>
          <p:nvPr/>
        </p:nvPicPr>
        <p:blipFill>
          <a:blip r:embed="rId1"/>
          <a:stretch/>
        </p:blipFill>
        <p:spPr>
          <a:xfrm>
            <a:off x="8595360" y="1417320"/>
            <a:ext cx="3337200" cy="214560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TextBox 1"/>
          <p:cNvSpPr/>
          <p:nvPr/>
        </p:nvSpPr>
        <p:spPr>
          <a:xfrm>
            <a:off x="457200" y="228600"/>
            <a:ext cx="11246400" cy="54864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3600" spc="-1" strike="noStrike">
                <a:solidFill>
                  <a:srgbClr val="a36a0d"/>
                </a:solidFill>
                <a:latin typeface="Calibri"/>
                <a:ea typeface="DejaVu Sans"/>
              </a:rPr>
              <a:t>Inter-VLAN routing + ACLs</a:t>
            </a:r>
            <a:endParaRPr b="0" lang="en-US" sz="3600" spc="-1" strike="noStrike">
              <a:solidFill>
                <a:srgbClr val="000000"/>
              </a:solidFill>
              <a:latin typeface="Arial"/>
            </a:endParaRPr>
          </a:p>
        </p:txBody>
      </p:sp>
      <p:sp>
        <p:nvSpPr>
          <p:cNvPr id="199" name="Rectangle 2"/>
          <p:cNvSpPr/>
          <p:nvPr/>
        </p:nvSpPr>
        <p:spPr>
          <a:xfrm>
            <a:off x="457200" y="1005840"/>
            <a:ext cx="11246400" cy="19440"/>
          </a:xfrm>
          <a:prstGeom prst="rect">
            <a:avLst/>
          </a:prstGeom>
          <a:solidFill>
            <a:srgbClr val="a36a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a:lnSpc>
                <a:spcPct val="100000"/>
              </a:lnSpc>
            </a:pPr>
            <a:endParaRPr b="0" lang="en-US" sz="1800" spc="-1" strike="noStrike">
              <a:solidFill>
                <a:schemeClr val="lt1"/>
              </a:solidFill>
              <a:latin typeface="Calibri"/>
              <a:ea typeface="DejaVu Sans"/>
            </a:endParaRPr>
          </a:p>
        </p:txBody>
      </p:sp>
      <p:sp>
        <p:nvSpPr>
          <p:cNvPr id="200" name="TextBox 3"/>
          <p:cNvSpPr/>
          <p:nvPr/>
        </p:nvSpPr>
        <p:spPr>
          <a:xfrm>
            <a:off x="548640" y="1463040"/>
            <a:ext cx="5485680" cy="13899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1800" spc="-1" strike="noStrike">
                <a:solidFill>
                  <a:srgbClr val="22272e"/>
                </a:solidFill>
                <a:latin typeface="Calibri"/>
                <a:ea typeface="DejaVu Sans"/>
              </a:rPr>
              <a:t>• </a:t>
            </a:r>
            <a:r>
              <a:rPr b="1" lang="en-US" sz="1800" spc="-1" strike="noStrike">
                <a:solidFill>
                  <a:srgbClr val="22272e"/>
                </a:solidFill>
                <a:latin typeface="Calibri"/>
                <a:ea typeface="DejaVu Sans"/>
              </a:rPr>
              <a:t>Router-on-a-stick</a:t>
            </a:r>
            <a:r>
              <a:rPr b="0" lang="en-US" sz="1800" spc="-1" strike="noStrike">
                <a:solidFill>
                  <a:srgbClr val="22272e"/>
                </a:solidFill>
                <a:latin typeface="Calibri"/>
                <a:ea typeface="DejaVu Sans"/>
              </a:rPr>
              <a:t> — μία φυσική θύρα Gi0/0</a:t>
            </a:r>
            <a:endParaRPr b="0" lang="en-US" sz="1800" spc="-1" strike="noStrike">
              <a:solidFill>
                <a:srgbClr val="000000"/>
              </a:solidFill>
              <a:latin typeface="Arial"/>
            </a:endParaRPr>
          </a:p>
          <a:p>
            <a:pPr>
              <a:lnSpc>
                <a:spcPct val="100000"/>
              </a:lnSpc>
              <a:spcAft>
                <a:spcPts val="799"/>
              </a:spcAft>
            </a:pPr>
            <a:r>
              <a:rPr b="0" lang="en-US" sz="1800" spc="-1" strike="noStrike">
                <a:solidFill>
                  <a:srgbClr val="22272e"/>
                </a:solidFill>
                <a:latin typeface="Calibri"/>
                <a:ea typeface="DejaVu Sans"/>
              </a:rPr>
              <a:t>• </a:t>
            </a:r>
            <a:r>
              <a:rPr b="1" lang="en-US" sz="1800" spc="-1" strike="noStrike">
                <a:solidFill>
                  <a:srgbClr val="22272e"/>
                </a:solidFill>
                <a:latin typeface="Calibri"/>
                <a:ea typeface="DejaVu Sans"/>
              </a:rPr>
              <a:t>Subinterfaces</a:t>
            </a:r>
            <a:r>
              <a:rPr b="0" lang="en-US" sz="1800" spc="-1" strike="noStrike">
                <a:solidFill>
                  <a:srgbClr val="22272e"/>
                </a:solidFill>
                <a:latin typeface="Calibri"/>
                <a:ea typeface="DejaVu Sans"/>
              </a:rPr>
              <a:t> — Gi0/0.10, .20, .30</a:t>
            </a:r>
            <a:endParaRPr b="0" lang="en-US" sz="1800" spc="-1" strike="noStrike">
              <a:solidFill>
                <a:srgbClr val="000000"/>
              </a:solidFill>
              <a:latin typeface="Arial"/>
            </a:endParaRPr>
          </a:p>
          <a:p>
            <a:pPr>
              <a:lnSpc>
                <a:spcPct val="100000"/>
              </a:lnSpc>
              <a:spcAft>
                <a:spcPts val="799"/>
              </a:spcAft>
            </a:pPr>
            <a:r>
              <a:rPr b="0" lang="en-US" sz="1800" spc="-1" strike="noStrike">
                <a:solidFill>
                  <a:srgbClr val="22272e"/>
                </a:solidFill>
                <a:latin typeface="Calibri"/>
                <a:ea typeface="DejaVu Sans"/>
              </a:rPr>
              <a:t>• </a:t>
            </a:r>
            <a:r>
              <a:rPr b="1" lang="en-US" sz="1800" spc="-1" strike="noStrike">
                <a:solidFill>
                  <a:srgbClr val="22272e"/>
                </a:solidFill>
                <a:latin typeface="Calibri"/>
                <a:ea typeface="DejaVu Sans"/>
              </a:rPr>
              <a:t>802.1Q tagging</a:t>
            </a:r>
            <a:r>
              <a:rPr b="0" lang="en-US" sz="1800" spc="-1" strike="noStrike">
                <a:solidFill>
                  <a:srgbClr val="22272e"/>
                </a:solidFill>
                <a:latin typeface="Calibri"/>
                <a:ea typeface="DejaVu Sans"/>
              </a:rPr>
              <a:t> — διαφορετικό VLAN ID ανά subinterface</a:t>
            </a:r>
            <a:endParaRPr b="0" lang="en-US" sz="1800" spc="-1" strike="noStrike">
              <a:solidFill>
                <a:srgbClr val="000000"/>
              </a:solidFill>
              <a:latin typeface="Arial"/>
            </a:endParaRPr>
          </a:p>
        </p:txBody>
      </p:sp>
      <p:sp>
        <p:nvSpPr>
          <p:cNvPr id="201" name="TextBox 4"/>
          <p:cNvSpPr/>
          <p:nvPr/>
        </p:nvSpPr>
        <p:spPr>
          <a:xfrm>
            <a:off x="6263640" y="1463040"/>
            <a:ext cx="5485680" cy="161100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1600" spc="-1" strike="noStrike">
                <a:solidFill>
                  <a:srgbClr val="22272e"/>
                </a:solidFill>
                <a:latin typeface="Calibri"/>
                <a:ea typeface="DejaVu Sans"/>
              </a:rPr>
              <a:t>• </a:t>
            </a:r>
            <a:r>
              <a:rPr b="1" lang="en-US" sz="1600" spc="-1" strike="noStrike">
                <a:solidFill>
                  <a:srgbClr val="22272e"/>
                </a:solidFill>
                <a:latin typeface="Calibri"/>
                <a:ea typeface="DejaVu Sans"/>
              </a:rPr>
              <a:t>ACL 110 στον R-ATH</a:t>
            </a:r>
            <a:r>
              <a:rPr b="0" lang="en-US" sz="1600" spc="-1" strike="noStrike">
                <a:solidFill>
                  <a:srgbClr val="22272e"/>
                </a:solidFill>
                <a:latin typeface="Calibri"/>
                <a:ea typeface="DejaVu Sans"/>
              </a:rPr>
              <a:t> — extended numbered ACL</a:t>
            </a:r>
            <a:endParaRPr b="0" lang="en-US" sz="1600" spc="-1" strike="noStrike">
              <a:solidFill>
                <a:srgbClr val="000000"/>
              </a:solidFill>
              <a:latin typeface="Arial"/>
            </a:endParaRPr>
          </a:p>
          <a:p>
            <a:pPr>
              <a:lnSpc>
                <a:spcPct val="100000"/>
              </a:lnSpc>
              <a:spcAft>
                <a:spcPts val="799"/>
              </a:spcAft>
            </a:pPr>
            <a:r>
              <a:rPr b="0" lang="en-US" sz="1600" spc="-1" strike="noStrike">
                <a:solidFill>
                  <a:srgbClr val="22272e"/>
                </a:solidFill>
                <a:latin typeface="Calibri"/>
                <a:ea typeface="DejaVu Sans"/>
              </a:rPr>
              <a:t>• </a:t>
            </a:r>
            <a:r>
              <a:rPr b="1" lang="en-US" sz="1600" spc="-1" strike="noStrike">
                <a:solidFill>
                  <a:srgbClr val="22272e"/>
                </a:solidFill>
                <a:latin typeface="Calibri"/>
                <a:ea typeface="DejaVu Sans"/>
              </a:rPr>
              <a:t>deny ip 200.1.100.0 0.0.0.63</a:t>
            </a:r>
            <a:r>
              <a:rPr b="0" lang="en-US" sz="1600" spc="-1" strike="noStrike">
                <a:solidFill>
                  <a:srgbClr val="22272e"/>
                </a:solidFill>
                <a:latin typeface="Calibri"/>
                <a:ea typeface="DejaVu Sans"/>
              </a:rPr>
              <a:t> 200.1.100.128 0.0.0.63</a:t>
            </a:r>
            <a:endParaRPr b="0" lang="en-US" sz="1600" spc="-1" strike="noStrike">
              <a:solidFill>
                <a:srgbClr val="000000"/>
              </a:solidFill>
              <a:latin typeface="Arial"/>
            </a:endParaRPr>
          </a:p>
          <a:p>
            <a:pPr>
              <a:lnSpc>
                <a:spcPct val="100000"/>
              </a:lnSpc>
              <a:spcAft>
                <a:spcPts val="799"/>
              </a:spcAft>
            </a:pPr>
            <a:r>
              <a:rPr b="0" lang="en-US" sz="1600" spc="-1" strike="noStrike">
                <a:solidFill>
                  <a:srgbClr val="22272e"/>
                </a:solidFill>
                <a:latin typeface="Calibri"/>
                <a:ea typeface="DejaVu Sans"/>
              </a:rPr>
              <a:t>• </a:t>
            </a:r>
            <a:r>
              <a:rPr b="1" lang="en-US" sz="1600" spc="-1" strike="noStrike">
                <a:solidFill>
                  <a:srgbClr val="22272e"/>
                </a:solidFill>
                <a:latin typeface="Calibri"/>
                <a:ea typeface="DejaVu Sans"/>
              </a:rPr>
              <a:t>Στόχος:</a:t>
            </a:r>
            <a:r>
              <a:rPr b="0" lang="en-US" sz="1600" spc="-1" strike="noStrike">
                <a:solidFill>
                  <a:srgbClr val="22272e"/>
                </a:solidFill>
                <a:latin typeface="Calibri"/>
                <a:ea typeface="DejaVu Sans"/>
              </a:rPr>
              <a:t> ο SW Developers (VLAN 30) → ΟΧΙ στο Λογιστήριο (VLAN 10)</a:t>
            </a:r>
            <a:endParaRPr b="0" lang="en-US" sz="1600" spc="-1" strike="noStrike">
              <a:solidFill>
                <a:srgbClr val="000000"/>
              </a:solidFill>
              <a:latin typeface="Arial"/>
            </a:endParaRPr>
          </a:p>
          <a:p>
            <a:pPr>
              <a:lnSpc>
                <a:spcPct val="100000"/>
              </a:lnSpc>
              <a:spcAft>
                <a:spcPts val="799"/>
              </a:spcAft>
            </a:pPr>
            <a:r>
              <a:rPr b="0" lang="en-US" sz="1600" spc="-1" strike="noStrike">
                <a:solidFill>
                  <a:srgbClr val="22272e"/>
                </a:solidFill>
                <a:latin typeface="Calibri"/>
                <a:ea typeface="DejaVu Sans"/>
              </a:rPr>
              <a:t>• </a:t>
            </a:r>
            <a:r>
              <a:rPr b="1" lang="en-US" sz="1600" spc="-1" strike="noStrike">
                <a:solidFill>
                  <a:srgbClr val="22272e"/>
                </a:solidFill>
                <a:latin typeface="Calibri"/>
                <a:ea typeface="DejaVu Sans"/>
              </a:rPr>
              <a:t>permit ip any any</a:t>
            </a:r>
            <a:r>
              <a:rPr b="0" lang="en-US" sz="1600" spc="-1" strike="noStrike">
                <a:solidFill>
                  <a:srgbClr val="22272e"/>
                </a:solidFill>
                <a:latin typeface="Calibri"/>
                <a:ea typeface="DejaVu Sans"/>
              </a:rPr>
              <a:t> — υπόλοιπη κίνηση επιτρέπεται</a:t>
            </a:r>
            <a:endParaRPr b="0" lang="en-US" sz="1600" spc="-1" strike="noStrike">
              <a:solidFill>
                <a:srgbClr val="000000"/>
              </a:solidFill>
              <a:latin typeface="Arial"/>
            </a:endParaRPr>
          </a:p>
        </p:txBody>
      </p:sp>
      <p:sp>
        <p:nvSpPr>
          <p:cNvPr id="202" name="TextBox 6"/>
          <p:cNvSpPr/>
          <p:nvPr/>
        </p:nvSpPr>
        <p:spPr>
          <a:xfrm>
            <a:off x="1056600" y="6446520"/>
            <a:ext cx="628920" cy="2570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100" spc="-1" strike="noStrike">
                <a:solidFill>
                  <a:srgbClr val="6a737d"/>
                </a:solidFill>
                <a:latin typeface="Calibri"/>
                <a:ea typeface="DejaVu Sans"/>
              </a:rPr>
              <a:t>11 / 13</a:t>
            </a:r>
            <a:endParaRPr b="0" lang="en-US" sz="1100" spc="-1" strike="noStrike">
              <a:solidFill>
                <a:srgbClr val="000000"/>
              </a:solidFill>
              <a:latin typeface="Arial"/>
            </a:endParaRPr>
          </a:p>
        </p:txBody>
      </p:sp>
      <p:sp>
        <p:nvSpPr>
          <p:cNvPr id="203" name="TextBox 7"/>
          <p:cNvSpPr/>
          <p:nvPr/>
        </p:nvSpPr>
        <p:spPr>
          <a:xfrm>
            <a:off x="8199720" y="6446520"/>
            <a:ext cx="2619000" cy="25704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1100" spc="-1" strike="noStrike">
                <a:solidFill>
                  <a:srgbClr val="6a737d"/>
                </a:solidFill>
                <a:latin typeface="Calibri"/>
                <a:ea typeface="DejaVu Sans"/>
              </a:rPr>
              <a:t>Διαμάντη ΑΜ 19389308 · 4 Ιουν 2026</a:t>
            </a:r>
            <a:endParaRPr b="0" lang="en-US" sz="1100" spc="-1" strike="noStrike">
              <a:solidFill>
                <a:srgbClr val="000000"/>
              </a:solidFill>
              <a:latin typeface="Arial"/>
            </a:endParaRPr>
          </a:p>
        </p:txBody>
      </p:sp>
      <p:pic>
        <p:nvPicPr>
          <p:cNvPr id="204" name="Picture 119" descr="screenshot-ping-success.png"/>
          <p:cNvPicPr/>
          <p:nvPr/>
        </p:nvPicPr>
        <p:blipFill>
          <a:blip r:embed="rId1"/>
          <a:stretch/>
        </p:blipFill>
        <p:spPr>
          <a:xfrm>
            <a:off x="914400" y="3291840"/>
            <a:ext cx="10359720" cy="702396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TextBox 1"/>
          <p:cNvSpPr/>
          <p:nvPr/>
        </p:nvSpPr>
        <p:spPr>
          <a:xfrm>
            <a:off x="457200" y="228600"/>
            <a:ext cx="11246400" cy="54864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3600" spc="-1" strike="noStrike">
                <a:solidFill>
                  <a:srgbClr val="1a4f8a"/>
                </a:solidFill>
                <a:latin typeface="Calibri"/>
                <a:ea typeface="DejaVu Sans"/>
              </a:rPr>
              <a:t>Απαντήσεις θεωρητικών ερωτημάτων</a:t>
            </a:r>
            <a:endParaRPr b="0" lang="en-US" sz="3600" spc="-1" strike="noStrike">
              <a:solidFill>
                <a:srgbClr val="000000"/>
              </a:solidFill>
              <a:latin typeface="Arial"/>
            </a:endParaRPr>
          </a:p>
        </p:txBody>
      </p:sp>
      <p:sp>
        <p:nvSpPr>
          <p:cNvPr id="206" name="Rectangle 2"/>
          <p:cNvSpPr/>
          <p:nvPr/>
        </p:nvSpPr>
        <p:spPr>
          <a:xfrm>
            <a:off x="457200" y="1005840"/>
            <a:ext cx="11246400" cy="19440"/>
          </a:xfrm>
          <a:prstGeom prst="rect">
            <a:avLst/>
          </a:prstGeom>
          <a:solidFill>
            <a:srgbClr val="1a4f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a:lnSpc>
                <a:spcPct val="100000"/>
              </a:lnSpc>
            </a:pPr>
            <a:endParaRPr b="0" lang="en-US" sz="1800" spc="-1" strike="noStrike">
              <a:solidFill>
                <a:schemeClr val="lt1"/>
              </a:solidFill>
              <a:latin typeface="Calibri"/>
              <a:ea typeface="DejaVu Sans"/>
            </a:endParaRPr>
          </a:p>
        </p:txBody>
      </p:sp>
      <p:sp>
        <p:nvSpPr>
          <p:cNvPr id="207" name="Rounded Rectangle 3"/>
          <p:cNvSpPr/>
          <p:nvPr/>
        </p:nvSpPr>
        <p:spPr>
          <a:xfrm>
            <a:off x="380880" y="1463040"/>
            <a:ext cx="3656880" cy="4388400"/>
          </a:xfrm>
          <a:prstGeom prst="roundRect">
            <a:avLst>
              <a:gd name="adj" fmla="val 16667"/>
            </a:avLst>
          </a:prstGeom>
          <a:solidFill>
            <a:srgbClr val="1a4f8a"/>
          </a:solidFill>
          <a:ln>
            <a:solidFill>
              <a:srgbClr val="1a4f8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t">
            <a:noAutofit/>
          </a:bodyPr>
          <a:p>
            <a:pPr>
              <a:lnSpc>
                <a:spcPct val="100000"/>
              </a:lnSpc>
            </a:pPr>
            <a:r>
              <a:rPr b="1" lang="en-US" sz="1900" spc="-1" strike="noStrike">
                <a:solidFill>
                  <a:srgbClr val="ffffff"/>
                </a:solidFill>
                <a:latin typeface="Calibri"/>
                <a:ea typeface="DejaVu Sans"/>
              </a:rPr>
              <a:t>(α) Υποδίκτυα</a:t>
            </a:r>
            <a:endParaRPr b="0" lang="en-US" sz="1900" spc="-1" strike="noStrike">
              <a:solidFill>
                <a:srgbClr val="000000"/>
              </a:solidFill>
              <a:latin typeface="Arial"/>
            </a:endParaRPr>
          </a:p>
          <a:p>
            <a:pPr>
              <a:lnSpc>
                <a:spcPct val="100000"/>
              </a:lnSpc>
            </a:pPr>
            <a:r>
              <a:rPr b="0" lang="en-US" sz="1500" spc="-1" strike="noStrike">
                <a:solidFill>
                  <a:srgbClr val="ffffff"/>
                </a:solidFill>
                <a:latin typeface="Calibri"/>
                <a:ea typeface="DejaVu Sans"/>
              </a:rPr>
              <a:t>10 υποδίκτυα πριν το VLANing</a:t>
            </a:r>
            <a:endParaRPr b="0" lang="en-US" sz="1500" spc="-1" strike="noStrike">
              <a:solidFill>
                <a:srgbClr val="000000"/>
              </a:solidFill>
              <a:latin typeface="Arial"/>
            </a:endParaRPr>
          </a:p>
          <a:p>
            <a:pPr>
              <a:lnSpc>
                <a:spcPct val="100000"/>
              </a:lnSpc>
            </a:pPr>
            <a:r>
              <a:rPr b="0" lang="en-US" sz="1500" spc="-1" strike="noStrike">
                <a:solidFill>
                  <a:srgbClr val="ffffff"/>
                </a:solidFill>
                <a:latin typeface="Calibri"/>
                <a:ea typeface="DejaVu Sans"/>
              </a:rPr>
              <a:t>20 υποδίκτυα μετά το VLANing (3 LAN VLAN ανά παράρτημα + 5 WAN /30).</a:t>
            </a:r>
            <a:endParaRPr b="0" lang="en-US" sz="1500" spc="-1" strike="noStrike">
              <a:solidFill>
                <a:srgbClr val="000000"/>
              </a:solidFill>
              <a:latin typeface="Arial"/>
            </a:endParaRPr>
          </a:p>
        </p:txBody>
      </p:sp>
      <p:sp>
        <p:nvSpPr>
          <p:cNvPr id="208" name="Rounded Rectangle 4"/>
          <p:cNvSpPr/>
          <p:nvPr/>
        </p:nvSpPr>
        <p:spPr>
          <a:xfrm>
            <a:off x="4267080" y="1463040"/>
            <a:ext cx="3656880" cy="4388400"/>
          </a:xfrm>
          <a:prstGeom prst="roundRect">
            <a:avLst>
              <a:gd name="adj" fmla="val 16667"/>
            </a:avLst>
          </a:prstGeom>
          <a:solidFill>
            <a:srgbClr val="2a7a32"/>
          </a:solidFill>
          <a:ln>
            <a:solidFill>
              <a:srgbClr val="2a7a3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t">
            <a:noAutofit/>
          </a:bodyPr>
          <a:p>
            <a:pPr>
              <a:lnSpc>
                <a:spcPct val="100000"/>
              </a:lnSpc>
            </a:pPr>
            <a:r>
              <a:rPr b="1" lang="en-US" sz="1900" spc="-1" strike="noStrike">
                <a:solidFill>
                  <a:srgbClr val="ffffff"/>
                </a:solidFill>
                <a:latin typeface="Calibri"/>
                <a:ea typeface="DejaVu Sans"/>
              </a:rPr>
              <a:t>(β) Πλήθος Hosts</a:t>
            </a:r>
            <a:endParaRPr b="0" lang="en-US" sz="1900" spc="-1" strike="noStrike">
              <a:solidFill>
                <a:srgbClr val="000000"/>
              </a:solidFill>
              <a:latin typeface="Arial"/>
            </a:endParaRPr>
          </a:p>
          <a:p>
            <a:pPr>
              <a:lnSpc>
                <a:spcPct val="100000"/>
              </a:lnSpc>
            </a:pPr>
            <a:r>
              <a:rPr b="0" lang="en-US" sz="1500" spc="-1" strike="noStrike">
                <a:solidFill>
                  <a:srgbClr val="ffffff"/>
                </a:solidFill>
                <a:latin typeface="Calibri"/>
                <a:ea typeface="DejaVu Sans"/>
              </a:rPr>
              <a:t>/24 → 254 hosts</a:t>
            </a:r>
            <a:endParaRPr b="0" lang="en-US" sz="1500" spc="-1" strike="noStrike">
              <a:solidFill>
                <a:srgbClr val="000000"/>
              </a:solidFill>
              <a:latin typeface="Arial"/>
            </a:endParaRPr>
          </a:p>
          <a:p>
            <a:pPr>
              <a:lnSpc>
                <a:spcPct val="100000"/>
              </a:lnSpc>
            </a:pPr>
            <a:r>
              <a:rPr b="0" lang="en-US" sz="1500" spc="-1" strike="noStrike">
                <a:solidFill>
                  <a:srgbClr val="ffffff"/>
                </a:solidFill>
                <a:latin typeface="Calibri"/>
                <a:ea typeface="DejaVu Sans"/>
              </a:rPr>
              <a:t>/26 ανά VLAN → 62 hosts × 3 = 186 hosts ωφέλιμοι ανά παράρτημα.</a:t>
            </a:r>
            <a:endParaRPr b="0" lang="en-US" sz="1500" spc="-1" strike="noStrike">
              <a:solidFill>
                <a:srgbClr val="000000"/>
              </a:solidFill>
              <a:latin typeface="Arial"/>
            </a:endParaRPr>
          </a:p>
        </p:txBody>
      </p:sp>
      <p:sp>
        <p:nvSpPr>
          <p:cNvPr id="209" name="Rounded Rectangle 5"/>
          <p:cNvSpPr/>
          <p:nvPr/>
        </p:nvSpPr>
        <p:spPr>
          <a:xfrm>
            <a:off x="8153280" y="1463040"/>
            <a:ext cx="3656880" cy="4388400"/>
          </a:xfrm>
          <a:prstGeom prst="roundRect">
            <a:avLst>
              <a:gd name="adj" fmla="val 16667"/>
            </a:avLst>
          </a:prstGeom>
          <a:solidFill>
            <a:srgbClr val="5a2db0"/>
          </a:solidFill>
          <a:ln>
            <a:solidFill>
              <a:srgbClr val="5a2db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t">
            <a:noAutofit/>
          </a:bodyPr>
          <a:p>
            <a:pPr>
              <a:lnSpc>
                <a:spcPct val="100000"/>
              </a:lnSpc>
            </a:pPr>
            <a:r>
              <a:rPr b="1" lang="en-US" sz="1900" spc="-1" strike="noStrike">
                <a:solidFill>
                  <a:srgbClr val="ffffff"/>
                </a:solidFill>
                <a:latin typeface="Calibri"/>
                <a:ea typeface="DejaVu Sans"/>
              </a:rPr>
              <a:t>(γ) Θεσσαλονίκη</a:t>
            </a:r>
            <a:endParaRPr b="0" lang="en-US" sz="1900" spc="-1" strike="noStrike">
              <a:solidFill>
                <a:srgbClr val="000000"/>
              </a:solidFill>
              <a:latin typeface="Arial"/>
            </a:endParaRPr>
          </a:p>
          <a:p>
            <a:pPr>
              <a:lnSpc>
                <a:spcPct val="100000"/>
              </a:lnSpc>
            </a:pPr>
            <a:r>
              <a:rPr b="0" lang="en-US" sz="1500" spc="-1" strike="noStrike">
                <a:solidFill>
                  <a:srgbClr val="ffffff"/>
                </a:solidFill>
                <a:latin typeface="Calibri"/>
                <a:ea typeface="DejaVu Sans"/>
              </a:rPr>
              <a:t>Δίκτυο: 200.1.80.0</a:t>
            </a:r>
            <a:endParaRPr b="0" lang="en-US" sz="1500" spc="-1" strike="noStrike">
              <a:solidFill>
                <a:srgbClr val="000000"/>
              </a:solidFill>
              <a:latin typeface="Arial"/>
            </a:endParaRPr>
          </a:p>
          <a:p>
            <a:pPr>
              <a:lnSpc>
                <a:spcPct val="100000"/>
              </a:lnSpc>
            </a:pPr>
            <a:r>
              <a:rPr b="0" lang="en-US" sz="1500" spc="-1" strike="noStrike">
                <a:solidFill>
                  <a:srgbClr val="ffffff"/>
                </a:solidFill>
                <a:latin typeface="Calibri"/>
                <a:ea typeface="DejaVu Sans"/>
              </a:rPr>
              <a:t>Broadcast: 200.1.80.255</a:t>
            </a:r>
            <a:endParaRPr b="0" lang="en-US" sz="1500" spc="-1" strike="noStrike">
              <a:solidFill>
                <a:srgbClr val="000000"/>
              </a:solidFill>
              <a:latin typeface="Arial"/>
            </a:endParaRPr>
          </a:p>
          <a:p>
            <a:pPr>
              <a:lnSpc>
                <a:spcPct val="100000"/>
              </a:lnSpc>
            </a:pPr>
            <a:r>
              <a:rPr b="0" lang="en-US" sz="1500" spc="-1" strike="noStrike">
                <a:solidFill>
                  <a:srgbClr val="ffffff"/>
                </a:solidFill>
                <a:latin typeface="Calibri"/>
                <a:ea typeface="DejaVu Sans"/>
              </a:rPr>
              <a:t>Εύρος hosts: .1 – .254 (μάσκα /24)</a:t>
            </a:r>
            <a:endParaRPr b="0" lang="en-US" sz="1500" spc="-1" strike="noStrike">
              <a:solidFill>
                <a:srgbClr val="000000"/>
              </a:solidFill>
              <a:latin typeface="Arial"/>
            </a:endParaRPr>
          </a:p>
        </p:txBody>
      </p:sp>
      <p:sp>
        <p:nvSpPr>
          <p:cNvPr id="210" name="TextBox 6"/>
          <p:cNvSpPr/>
          <p:nvPr/>
        </p:nvSpPr>
        <p:spPr>
          <a:xfrm>
            <a:off x="1056600" y="6446520"/>
            <a:ext cx="628920" cy="2570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100" spc="-1" strike="noStrike">
                <a:solidFill>
                  <a:srgbClr val="6a737d"/>
                </a:solidFill>
                <a:latin typeface="Calibri"/>
                <a:ea typeface="DejaVu Sans"/>
              </a:rPr>
              <a:t>12 / 13</a:t>
            </a:r>
            <a:endParaRPr b="0" lang="en-US" sz="1100" spc="-1" strike="noStrike">
              <a:solidFill>
                <a:srgbClr val="000000"/>
              </a:solidFill>
              <a:latin typeface="Arial"/>
            </a:endParaRPr>
          </a:p>
        </p:txBody>
      </p:sp>
      <p:sp>
        <p:nvSpPr>
          <p:cNvPr id="211" name="TextBox 7"/>
          <p:cNvSpPr/>
          <p:nvPr/>
        </p:nvSpPr>
        <p:spPr>
          <a:xfrm>
            <a:off x="8199720" y="6446520"/>
            <a:ext cx="2619000" cy="25704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1100" spc="-1" strike="noStrike">
                <a:solidFill>
                  <a:srgbClr val="6a737d"/>
                </a:solidFill>
                <a:latin typeface="Calibri"/>
                <a:ea typeface="DejaVu Sans"/>
              </a:rPr>
              <a:t>Διαμάντη ΑΜ 19389308 · 4 Ιουν 2026</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TextBox 1"/>
          <p:cNvSpPr/>
          <p:nvPr/>
        </p:nvSpPr>
        <p:spPr>
          <a:xfrm>
            <a:off x="457200" y="228600"/>
            <a:ext cx="11246400" cy="54864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3600" spc="-1" strike="noStrike">
                <a:solidFill>
                  <a:srgbClr val="1a4f8a"/>
                </a:solidFill>
                <a:latin typeface="Calibri"/>
                <a:ea typeface="DejaVu Sans"/>
              </a:rPr>
              <a:t>Ευχαριστώ — Ερωτήσεις</a:t>
            </a:r>
            <a:endParaRPr b="0" lang="en-US" sz="3600" spc="-1" strike="noStrike">
              <a:solidFill>
                <a:srgbClr val="000000"/>
              </a:solidFill>
              <a:latin typeface="Arial"/>
            </a:endParaRPr>
          </a:p>
        </p:txBody>
      </p:sp>
      <p:sp>
        <p:nvSpPr>
          <p:cNvPr id="213" name="Rectangle 2"/>
          <p:cNvSpPr/>
          <p:nvPr/>
        </p:nvSpPr>
        <p:spPr>
          <a:xfrm>
            <a:off x="457200" y="1005840"/>
            <a:ext cx="11246400" cy="19440"/>
          </a:xfrm>
          <a:prstGeom prst="rect">
            <a:avLst/>
          </a:prstGeom>
          <a:solidFill>
            <a:srgbClr val="1a4f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a:lnSpc>
                <a:spcPct val="100000"/>
              </a:lnSpc>
            </a:pPr>
            <a:endParaRPr b="0" lang="en-US" sz="1800" spc="-1" strike="noStrike">
              <a:solidFill>
                <a:schemeClr val="lt1"/>
              </a:solidFill>
              <a:latin typeface="Calibri"/>
              <a:ea typeface="DejaVu Sans"/>
            </a:endParaRPr>
          </a:p>
        </p:txBody>
      </p:sp>
      <p:sp>
        <p:nvSpPr>
          <p:cNvPr id="214" name="TextBox 3"/>
          <p:cNvSpPr/>
          <p:nvPr/>
        </p:nvSpPr>
        <p:spPr>
          <a:xfrm>
            <a:off x="731520" y="1554480"/>
            <a:ext cx="10697760" cy="455400"/>
          </a:xfrm>
          <a:prstGeom prst="rect">
            <a:avLst/>
          </a:prstGeom>
          <a:noFill/>
          <a:ln w="0">
            <a:noFill/>
          </a:ln>
        </p:spPr>
        <p:style>
          <a:lnRef idx="0"/>
          <a:fillRef idx="0"/>
          <a:effectRef idx="0"/>
          <a:fontRef idx="minor"/>
        </p:style>
        <p:txBody>
          <a:bodyPr lIns="0" rIns="90000" tIns="45000" bIns="45000" anchor="t">
            <a:spAutoFit/>
          </a:bodyPr>
          <a:p>
            <a:pPr>
              <a:lnSpc>
                <a:spcPct val="100000"/>
              </a:lnSpc>
            </a:pPr>
            <a:r>
              <a:rPr b="1" lang="en-US" sz="2400" spc="-1" strike="noStrike">
                <a:solidFill>
                  <a:srgbClr val="22272e"/>
                </a:solidFill>
                <a:latin typeface="Calibri"/>
                <a:ea typeface="DejaVu Sans"/>
              </a:rPr>
              <a:t>Σύνοψη παραδοτέων</a:t>
            </a:r>
            <a:endParaRPr b="0" lang="en-US" sz="2400" spc="-1" strike="noStrike">
              <a:solidFill>
                <a:srgbClr val="000000"/>
              </a:solidFill>
              <a:latin typeface="Arial"/>
            </a:endParaRPr>
          </a:p>
        </p:txBody>
      </p:sp>
      <p:sp>
        <p:nvSpPr>
          <p:cNvPr id="215" name="TextBox 4"/>
          <p:cNvSpPr/>
          <p:nvPr/>
        </p:nvSpPr>
        <p:spPr>
          <a:xfrm>
            <a:off x="731520" y="2286000"/>
            <a:ext cx="10697760" cy="12074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000" spc="-1" strike="noStrike">
                <a:solidFill>
                  <a:srgbClr val="22272e"/>
                </a:solidFill>
                <a:latin typeface="Calibri"/>
                <a:ea typeface="DejaVu Sans"/>
              </a:rPr>
              <a:t>• </a:t>
            </a:r>
            <a:r>
              <a:rPr b="1" lang="en-US" sz="2000" spc="-1" strike="noStrike">
                <a:solidFill>
                  <a:srgbClr val="22272e"/>
                </a:solidFill>
                <a:latin typeface="Calibri"/>
                <a:ea typeface="DejaVu Sans"/>
              </a:rPr>
              <a:t>Web App</a:t>
            </a:r>
            <a:r>
              <a:rPr b="0" lang="en-US" sz="2000" spc="-1" strike="noStrike">
                <a:solidFill>
                  <a:srgbClr val="22272e"/>
                </a:solidFill>
                <a:latin typeface="Calibri"/>
                <a:ea typeface="DejaVu Sans"/>
              </a:rPr>
              <a:t> — PHP/MariaDB, 7 σελίδες CRUD, PDO, prepared statements</a:t>
            </a:r>
            <a:endParaRPr b="0" lang="en-US" sz="2000" spc="-1" strike="noStrike">
              <a:solidFill>
                <a:srgbClr val="000000"/>
              </a:solidFill>
              <a:latin typeface="Arial"/>
            </a:endParaRPr>
          </a:p>
          <a:p>
            <a:pPr>
              <a:lnSpc>
                <a:spcPct val="100000"/>
              </a:lnSpc>
              <a:spcAft>
                <a:spcPts val="799"/>
              </a:spcAft>
            </a:pPr>
            <a:r>
              <a:rPr b="0" lang="en-US" sz="2000" spc="-1" strike="noStrike">
                <a:solidFill>
                  <a:srgbClr val="22272e"/>
                </a:solidFill>
                <a:latin typeface="Calibri"/>
                <a:ea typeface="DejaVu Sans"/>
              </a:rPr>
              <a:t>• </a:t>
            </a:r>
            <a:r>
              <a:rPr b="1" lang="en-US" sz="2000" spc="-1" strike="noStrike">
                <a:solidFill>
                  <a:srgbClr val="22272e"/>
                </a:solidFill>
                <a:latin typeface="Calibri"/>
                <a:ea typeface="DejaVu Sans"/>
              </a:rPr>
              <a:t>Δίκτυο</a:t>
            </a:r>
            <a:r>
              <a:rPr b="0" lang="en-US" sz="2000" spc="-1" strike="noStrike">
                <a:solidFill>
                  <a:srgbClr val="22272e"/>
                </a:solidFill>
                <a:latin typeface="Calibri"/>
                <a:ea typeface="DejaVu Sans"/>
              </a:rPr>
              <a:t> — 5 παραρτήματα, OSPF area 0, 3 VLAN ανά site, router-on-a-stick</a:t>
            </a:r>
            <a:endParaRPr b="0" lang="en-US" sz="2000" spc="-1" strike="noStrike">
              <a:solidFill>
                <a:srgbClr val="000000"/>
              </a:solidFill>
              <a:latin typeface="Arial"/>
            </a:endParaRPr>
          </a:p>
          <a:p>
            <a:pPr>
              <a:lnSpc>
                <a:spcPct val="100000"/>
              </a:lnSpc>
              <a:spcAft>
                <a:spcPts val="799"/>
              </a:spcAft>
            </a:pPr>
            <a:r>
              <a:rPr b="0" lang="en-US" sz="2000" spc="-1" strike="noStrike">
                <a:solidFill>
                  <a:srgbClr val="22272e"/>
                </a:solidFill>
                <a:latin typeface="Calibri"/>
                <a:ea typeface="DejaVu Sans"/>
              </a:rPr>
              <a:t>• </a:t>
            </a:r>
            <a:r>
              <a:rPr b="1" lang="en-US" sz="2000" spc="-1" strike="noStrike">
                <a:solidFill>
                  <a:srgbClr val="22272e"/>
                </a:solidFill>
                <a:latin typeface="Calibri"/>
                <a:ea typeface="DejaVu Sans"/>
              </a:rPr>
              <a:t>Ασφάλεια</a:t>
            </a:r>
            <a:r>
              <a:rPr b="0" lang="en-US" sz="2000" spc="-1" strike="noStrike">
                <a:solidFill>
                  <a:srgbClr val="22272e"/>
                </a:solidFill>
                <a:latin typeface="Calibri"/>
                <a:ea typeface="DejaVu Sans"/>
              </a:rPr>
              <a:t> — extended ACL για inter-departmental traffic control</a:t>
            </a:r>
            <a:endParaRPr b="0" lang="en-US" sz="2000" spc="-1" strike="noStrike">
              <a:solidFill>
                <a:srgbClr val="000000"/>
              </a:solidFill>
              <a:latin typeface="Arial"/>
            </a:endParaRPr>
          </a:p>
        </p:txBody>
      </p:sp>
      <p:sp>
        <p:nvSpPr>
          <p:cNvPr id="216" name="Rounded Rectangle 5"/>
          <p:cNvSpPr/>
          <p:nvPr/>
        </p:nvSpPr>
        <p:spPr>
          <a:xfrm>
            <a:off x="1828800" y="4754880"/>
            <a:ext cx="8503200" cy="1096560"/>
          </a:xfrm>
          <a:prstGeom prst="roundRect">
            <a:avLst>
              <a:gd name="adj" fmla="val 16667"/>
            </a:avLst>
          </a:prstGeom>
          <a:solidFill>
            <a:srgbClr val="e8eef6"/>
          </a:solidFill>
          <a:ln>
            <a:solidFill>
              <a:srgbClr val="1a4f8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800" spc="-1" strike="noStrike">
                <a:solidFill>
                  <a:srgbClr val="22272e"/>
                </a:solidFill>
                <a:latin typeface="Calibri"/>
                <a:ea typeface="DejaVu Sans"/>
              </a:rPr>
              <a:t>Αποθετήριο κώδικα: https://github.com/idpe19389308/papi-net</a:t>
            </a:r>
            <a:endParaRPr b="0" lang="en-US" sz="1800" spc="-1" strike="noStrike">
              <a:solidFill>
                <a:srgbClr val="000000"/>
              </a:solidFill>
              <a:latin typeface="Arial"/>
            </a:endParaRPr>
          </a:p>
        </p:txBody>
      </p:sp>
      <p:sp>
        <p:nvSpPr>
          <p:cNvPr id="217" name="TextBox 6"/>
          <p:cNvSpPr/>
          <p:nvPr/>
        </p:nvSpPr>
        <p:spPr>
          <a:xfrm>
            <a:off x="731520" y="5989320"/>
            <a:ext cx="10697760" cy="272160"/>
          </a:xfrm>
          <a:prstGeom prst="rect">
            <a:avLst/>
          </a:prstGeom>
          <a:noFill/>
          <a:ln w="0">
            <a:noFill/>
          </a:ln>
        </p:spPr>
        <p:style>
          <a:lnRef idx="0"/>
          <a:fillRef idx="0"/>
          <a:effectRef idx="0"/>
          <a:fontRef idx="minor"/>
        </p:style>
        <p:txBody>
          <a:bodyPr lIns="0" rIns="90000" tIns="45000" bIns="45000" anchor="t">
            <a:spAutoFit/>
          </a:bodyPr>
          <a:p>
            <a:pPr algn="ctr">
              <a:lnSpc>
                <a:spcPct val="100000"/>
              </a:lnSpc>
            </a:pPr>
            <a:r>
              <a:rPr b="0" lang="en-US" sz="1200" spc="-1" strike="noStrike">
                <a:solidFill>
                  <a:srgbClr val="6a737d"/>
                </a:solidFill>
                <a:latin typeface="Calibri"/>
                <a:ea typeface="DejaVu Sans"/>
              </a:rPr>
              <a:t>[Προαιρετικό: QR code στο αποθετήριο]</a:t>
            </a:r>
            <a:endParaRPr b="0" lang="en-US" sz="1200" spc="-1" strike="noStrike">
              <a:solidFill>
                <a:srgbClr val="000000"/>
              </a:solidFill>
              <a:latin typeface="Arial"/>
            </a:endParaRPr>
          </a:p>
        </p:txBody>
      </p:sp>
      <p:sp>
        <p:nvSpPr>
          <p:cNvPr id="218" name="TextBox 7"/>
          <p:cNvSpPr/>
          <p:nvPr/>
        </p:nvSpPr>
        <p:spPr>
          <a:xfrm>
            <a:off x="1056600" y="6446520"/>
            <a:ext cx="628920" cy="2570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100" spc="-1" strike="noStrike">
                <a:solidFill>
                  <a:srgbClr val="6a737d"/>
                </a:solidFill>
                <a:latin typeface="Calibri"/>
                <a:ea typeface="DejaVu Sans"/>
              </a:rPr>
              <a:t>13 / 13</a:t>
            </a:r>
            <a:endParaRPr b="0" lang="en-US" sz="1100" spc="-1" strike="noStrike">
              <a:solidFill>
                <a:srgbClr val="000000"/>
              </a:solidFill>
              <a:latin typeface="Arial"/>
            </a:endParaRPr>
          </a:p>
        </p:txBody>
      </p:sp>
      <p:sp>
        <p:nvSpPr>
          <p:cNvPr id="219" name="TextBox 8"/>
          <p:cNvSpPr/>
          <p:nvPr/>
        </p:nvSpPr>
        <p:spPr>
          <a:xfrm>
            <a:off x="8199720" y="6446520"/>
            <a:ext cx="2619000" cy="25704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1100" spc="-1" strike="noStrike">
                <a:solidFill>
                  <a:srgbClr val="6a737d"/>
                </a:solidFill>
                <a:latin typeface="Calibri"/>
                <a:ea typeface="DejaVu Sans"/>
              </a:rPr>
              <a:t>Διαμάντη ΑΜ 19389308 · 4 Ιουν 2026</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LibreOffice/7.4.7.2$Linux_X86_64 LibreOffice_project/40$Build-2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2026-05-24T10:39:44Z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